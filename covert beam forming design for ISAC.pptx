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2"/>
  </p:notesMasterIdLst>
  <p:sldIdLst>
    <p:sldId id="256" r:id="rId2"/>
    <p:sldId id="1615" r:id="rId3"/>
    <p:sldId id="1536" r:id="rId4"/>
    <p:sldId id="1537" r:id="rId5"/>
    <p:sldId id="1538" r:id="rId6"/>
    <p:sldId id="1539" r:id="rId7"/>
    <p:sldId id="1540" r:id="rId8"/>
    <p:sldId id="1541" r:id="rId9"/>
    <p:sldId id="1542" r:id="rId10"/>
    <p:sldId id="1543" r:id="rId11"/>
    <p:sldId id="1544" r:id="rId12"/>
    <p:sldId id="1545" r:id="rId13"/>
    <p:sldId id="1546" r:id="rId14"/>
    <p:sldId id="1547" r:id="rId15"/>
    <p:sldId id="1548" r:id="rId16"/>
    <p:sldId id="1549" r:id="rId17"/>
    <p:sldId id="1550" r:id="rId18"/>
    <p:sldId id="1551" r:id="rId19"/>
    <p:sldId id="1552" r:id="rId20"/>
    <p:sldId id="1553" r:id="rId21"/>
    <p:sldId id="1554" r:id="rId22"/>
    <p:sldId id="1555" r:id="rId23"/>
    <p:sldId id="1556" r:id="rId24"/>
    <p:sldId id="1557" r:id="rId25"/>
    <p:sldId id="1558" r:id="rId26"/>
    <p:sldId id="1559" r:id="rId27"/>
    <p:sldId id="1560" r:id="rId28"/>
    <p:sldId id="1561" r:id="rId29"/>
    <p:sldId id="1562" r:id="rId30"/>
    <p:sldId id="1563" r:id="rId31"/>
    <p:sldId id="1564" r:id="rId32"/>
    <p:sldId id="1565" r:id="rId33"/>
    <p:sldId id="1566" r:id="rId34"/>
    <p:sldId id="1567" r:id="rId35"/>
    <p:sldId id="1568" r:id="rId36"/>
    <p:sldId id="1569" r:id="rId37"/>
    <p:sldId id="1570" r:id="rId38"/>
    <p:sldId id="1571" r:id="rId39"/>
    <p:sldId id="1572" r:id="rId40"/>
    <p:sldId id="1573" r:id="rId41"/>
    <p:sldId id="1574" r:id="rId42"/>
    <p:sldId id="1575" r:id="rId43"/>
    <p:sldId id="1576" r:id="rId44"/>
    <p:sldId id="1577" r:id="rId45"/>
    <p:sldId id="1578" r:id="rId46"/>
    <p:sldId id="1579" r:id="rId47"/>
    <p:sldId id="1580" r:id="rId48"/>
    <p:sldId id="1581" r:id="rId49"/>
    <p:sldId id="1582" r:id="rId50"/>
    <p:sldId id="1583" r:id="rId51"/>
    <p:sldId id="1584" r:id="rId52"/>
    <p:sldId id="1585" r:id="rId53"/>
    <p:sldId id="1586" r:id="rId54"/>
    <p:sldId id="1587" r:id="rId55"/>
    <p:sldId id="1588" r:id="rId56"/>
    <p:sldId id="1589" r:id="rId57"/>
    <p:sldId id="1590" r:id="rId58"/>
    <p:sldId id="1591" r:id="rId59"/>
    <p:sldId id="1592" r:id="rId60"/>
    <p:sldId id="1593" r:id="rId61"/>
    <p:sldId id="1594" r:id="rId62"/>
    <p:sldId id="1595" r:id="rId63"/>
    <p:sldId id="1596" r:id="rId64"/>
    <p:sldId id="1597" r:id="rId65"/>
    <p:sldId id="1598" r:id="rId66"/>
    <p:sldId id="1599" r:id="rId67"/>
    <p:sldId id="1600" r:id="rId68"/>
    <p:sldId id="1601" r:id="rId69"/>
    <p:sldId id="1602" r:id="rId70"/>
    <p:sldId id="1603" r:id="rId71"/>
    <p:sldId id="1605" r:id="rId72"/>
    <p:sldId id="1606" r:id="rId73"/>
    <p:sldId id="1607" r:id="rId74"/>
    <p:sldId id="1604" r:id="rId75"/>
    <p:sldId id="1608" r:id="rId76"/>
    <p:sldId id="1609" r:id="rId77"/>
    <p:sldId id="1610" r:id="rId78"/>
    <p:sldId id="1611" r:id="rId79"/>
    <p:sldId id="1612" r:id="rId80"/>
    <p:sldId id="1613" r:id="rId81"/>
    <p:sldId id="1614" r:id="rId82"/>
    <p:sldId id="1616" r:id="rId83"/>
    <p:sldId id="1617" r:id="rId84"/>
    <p:sldId id="1618" r:id="rId85"/>
    <p:sldId id="1619" r:id="rId86"/>
    <p:sldId id="1620" r:id="rId87"/>
    <p:sldId id="1621" r:id="rId88"/>
    <p:sldId id="1622" r:id="rId89"/>
    <p:sldId id="1623" r:id="rId90"/>
    <p:sldId id="1624" r:id="rId91"/>
  </p:sldIdLst>
  <p:sldSz cx="12192000" cy="6858000"/>
  <p:notesSz cx="6858000" cy="9144000"/>
  <p:defaultTextStyle>
    <a:defPPr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193C43-86CB-4E59-B1EB-ADE4B892B60F}" v="3" dt="2026-03-09T01:02:53.5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microsoft.com/office/2016/11/relationships/changesInfo" Target="changesInfos/changesInfo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presProps" Target="presProps.xml"/><Relationship Id="rId9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HAK MD GULAM" userId="3629686c-1963-4ad0-9d90-f64896f145bd" providerId="ADAL" clId="{C1066301-46E8-4A63-ABD9-64A0D5EA0B02}"/>
    <pc:docChg chg="custSel modSld">
      <pc:chgData name="ISHAK MD GULAM" userId="3629686c-1963-4ad0-9d90-f64896f145bd" providerId="ADAL" clId="{C1066301-46E8-4A63-ABD9-64A0D5EA0B02}" dt="2026-03-09T01:06:44.258" v="194" actId="20577"/>
      <pc:docMkLst>
        <pc:docMk/>
      </pc:docMkLst>
      <pc:sldChg chg="modSp mod">
        <pc:chgData name="ISHAK MD GULAM" userId="3629686c-1963-4ad0-9d90-f64896f145bd" providerId="ADAL" clId="{C1066301-46E8-4A63-ABD9-64A0D5EA0B02}" dt="2026-03-09T01:06:44.258" v="194" actId="20577"/>
        <pc:sldMkLst>
          <pc:docMk/>
          <pc:sldMk cId="1157537709" sldId="1420"/>
        </pc:sldMkLst>
        <pc:spChg chg="mod">
          <ac:chgData name="ISHAK MD GULAM" userId="3629686c-1963-4ad0-9d90-f64896f145bd" providerId="ADAL" clId="{C1066301-46E8-4A63-ABD9-64A0D5EA0B02}" dt="2026-03-09T01:03:37.255" v="185" actId="27636"/>
          <ac:spMkLst>
            <pc:docMk/>
            <pc:sldMk cId="1157537709" sldId="1420"/>
            <ac:spMk id="2" creationId="{773E81F8-418E-46B0-BF79-A9E5C85CC220}"/>
          </ac:spMkLst>
        </pc:spChg>
        <pc:spChg chg="mod">
          <ac:chgData name="ISHAK MD GULAM" userId="3629686c-1963-4ad0-9d90-f64896f145bd" providerId="ADAL" clId="{C1066301-46E8-4A63-ABD9-64A0D5EA0B02}" dt="2026-03-09T01:06:44.258" v="194" actId="20577"/>
          <ac:spMkLst>
            <pc:docMk/>
            <pc:sldMk cId="1157537709" sldId="1420"/>
            <ac:spMk id="3" creationId="{9B30F031-E57C-4418-8811-D07BEE7C11F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7A80AD-75C0-4139-8349-D7A56AAE3422}" type="datetimeFigureOut">
              <a:rPr lang="ko-KR" altLang="en-US" smtClean="0"/>
              <a:t>2026-07-26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B06930-2FBF-4BDF-BB7A-ED0F3C0B85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6361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B06930-2FBF-4BDF-BB7A-ED0F3C0B8516}" type="slidenum">
              <a:rPr lang="ko-KR" altLang="en-US" smtClean="0"/>
              <a:t>76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2311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2BAEBA-F25F-4473-80C2-25CDA93B211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400"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5EA62A-FC14-43A6-9DFC-64DD0EA5E66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73821"/>
            <a:ext cx="9144000" cy="1655762"/>
          </a:xfrm>
        </p:spPr>
        <p:txBody>
          <a:bodyPr>
            <a:no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Master Subtitle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4FBF63-6BE2-44A2-9B92-27824B375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3EF48-9CCD-4EE9-BB40-4739D0DAE972}" type="datetime1">
              <a:rPr lang="ko-KR" altLang="en-US" smtClean="0"/>
              <a:t>2026-07-26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98BBDE-AC92-4490-AADC-B4FE998E9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7C4298-2A89-4F0A-B1C0-77A882953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68C916F-6552-480F-893B-32796E62A980}"/>
              </a:ext>
            </a:extLst>
          </p:cNvPr>
          <p:cNvSpPr/>
          <p:nvPr userDrawn="1"/>
        </p:nvSpPr>
        <p:spPr>
          <a:xfrm>
            <a:off x="838200" y="3599357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452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21520A-C81E-4CF1-AECD-A61D6660DB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8E0C27-FA2C-4144-B7E7-505744E575AD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9FB215-C15F-4E74-86DC-78FAD0147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4ADD3-F434-478C-876A-1D3933DF4707}" type="datetime1">
              <a:rPr lang="ko-KR" altLang="en-US" smtClean="0"/>
              <a:t>2026-07-26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1EAFA9-F342-4D37-B503-8DFA950A3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22012F-5023-43D1-B1CF-BFE3A8931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05CEF90-2A69-4F23-93AB-B8D6AADF74CD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9896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A8F93D-390F-465E-B0D5-72A75C2739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470026"/>
            <a:ext cx="10515600" cy="2852737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501743D-6833-4A7C-B35A-0BDDB635A98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Master Subtitle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2845C-3C54-4151-820C-12503D6F2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F26BB-6A75-410D-A6B0-8FD34915C10D}" type="datetime1">
              <a:rPr lang="ko-KR" altLang="en-US" smtClean="0"/>
              <a:t>2026-07-26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55650C-CE10-43E1-AA00-22EE20BAA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FE2F95-697E-490C-9C4D-A59E0F915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21879A5-E33B-484A-B193-FE66531AACAC}"/>
              </a:ext>
            </a:extLst>
          </p:cNvPr>
          <p:cNvSpPr/>
          <p:nvPr userDrawn="1"/>
        </p:nvSpPr>
        <p:spPr>
          <a:xfrm>
            <a:off x="838200" y="4413578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864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17D261-400F-43CD-95C8-FE0DF8044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346026-ED45-448B-8D67-475453B7B90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649691"/>
            <a:ext cx="5104598" cy="452727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C86C6A5-08D8-440E-B258-B881C64EC21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649691"/>
            <a:ext cx="5181600" cy="452727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9FDB51-62F3-4D1B-B8F7-D40284A70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4CDF8-1723-475A-8393-34F016E9B184}" type="datetime1">
              <a:rPr lang="ko-KR" altLang="en-US" smtClean="0"/>
              <a:t>2026-07-26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8744B04-D686-4DE2-BDDC-A3B4F371D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FBE183-4474-4131-AEA4-9ADE4020A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3208725-7285-4D04-9690-A0DD84547197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246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EBF73A-35E0-4388-AE26-587E20896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9F70A1-A021-4782-95A0-99F4C3203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00FFB53-257A-4315-A28C-9FE12D4C99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FA17D5D-46C0-4878-B7E2-BD08FCD075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0C2F3F9-8CCB-4F5B-85A6-D7470170DC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047C80F-A4FC-4C78-89AB-B072C5C0E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CCD4A-1F8C-4D3E-BDD6-84C4090AF0D6}" type="datetime1">
              <a:rPr lang="ko-KR" altLang="en-US" smtClean="0"/>
              <a:t>2026-07-26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AD4C5CE-D7DE-4C43-8F9E-7EA5847ED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81C2CFA-CB2F-4476-8491-FBDAB29C3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163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1B9CC5-A2AF-47C1-8376-B695DF820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5A6AA3E-6C10-4BA8-AF8D-ECF436F9C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73545-46C1-49FB-A041-5415163523D0}" type="datetime1">
              <a:rPr lang="ko-KR" altLang="en-US" smtClean="0"/>
              <a:t>2026-07-26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DE3192-439D-4BEF-8848-4DF7C36D1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305EAAA-CE1A-4578-A8FD-BDB3D530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9670823-6C59-4996-843F-A4B8E1292D69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3513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A01BA-2C19-4BC8-9D08-60CC0DEE3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DBC6A4-6274-4803-89FF-1DA18D4FE7AA}" type="datetime1">
              <a:rPr lang="ko-KR" altLang="en-US" smtClean="0"/>
              <a:t>2026-07-26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C921DE2-A0F7-482E-898F-C86B8C830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96F57A-5DCA-4541-B19A-1752D1A3E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119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304372-0C6C-4F44-86AB-8DDAF142F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E88709-254A-4ED6-9188-74666615F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5872FF-AC9A-49BF-AC6E-F9EA1A4066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7015C5-8E89-4986-AA3C-42A3F8FB6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A353D-6971-4305-AB04-6AEE4DD0E048}" type="datetime1">
              <a:rPr lang="ko-KR" altLang="en-US" smtClean="0"/>
              <a:t>2026-07-26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82C019-EAA8-4CD6-BD5A-68BA98421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776716-556D-4628-94B1-7BC9A3454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5152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0E144E-AA68-4DFD-9736-416AF8EEE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3C731A3-5F0D-4649-AF33-2F2F12D18B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0070ED-93CE-4C5B-9A13-47766D18C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3C3E617-2B4B-4C49-B34C-F13496F5B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75523-461B-44DB-AD97-7C06B206BE7B}" type="datetime1">
              <a:rPr lang="ko-KR" altLang="en-US" smtClean="0"/>
              <a:t>2026-07-26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88F62D-BB02-4585-B0DB-6C572478F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DA3767-C6FA-46EE-B82E-E441B3360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9942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5A2004-1E3B-4055-8772-F325E519E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9AC7F-90CD-432E-AFBA-09A312E261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CBBB0-BA78-4216-B318-AF5F69D9D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45620A-9A66-47B0-9218-43F171A33458}" type="datetime1">
              <a:rPr lang="ko-KR" altLang="en-US" smtClean="0"/>
              <a:t>2026-07-26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AE3B40-907A-49D6-9FA8-D643E4B4A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8417526-857D-45AD-9891-D1359E79B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1E34BDA-8046-4B35-A748-33A5A9C8C415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4787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9286F9E-ABB1-47D9-BCD5-5FE077BEA2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74F122D-472C-4176-9045-BF5B3ED412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F40FC9-5A0B-483C-BEC0-6349DDDF1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586D9-B5F3-454A-8918-B4C99ED5AEDE}" type="datetime1">
              <a:rPr lang="ko-KR" altLang="en-US" smtClean="0"/>
              <a:t>2026-07-26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FF7ACB-A377-4E38-BF13-4CE4A72C6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E2AD96-62E9-4856-8C7D-4FC6FA78D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334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30155A6-5E23-4681-A0F6-D6378107C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3357F3-390C-49AE-BB15-6F8F57DC0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649691"/>
            <a:ext cx="10515600" cy="45272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9027F-305A-4270-8200-1B8B6B4B76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38399" y="6356350"/>
            <a:ext cx="13331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fld id="{9D1D2423-15C0-4D7C-B759-40ACCC100800}" type="datetime1">
              <a:rPr lang="ko-KR" altLang="en-US" smtClean="0"/>
              <a:t>2026-07-26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1B4A95-7775-4330-B809-DA1B22478E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F4CA50-4832-40EE-82BE-A431AAD806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13331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fld id="{A439D109-9F59-4B0B-8E20-D6D3A384B1F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FEB3B3E-F3B6-4A77-8CE1-CA270A7A296F}"/>
              </a:ext>
            </a:extLst>
          </p:cNvPr>
          <p:cNvSpPr/>
          <p:nvPr userDrawn="1"/>
        </p:nvSpPr>
        <p:spPr>
          <a:xfrm>
            <a:off x="0" y="0"/>
            <a:ext cx="12192000" cy="235670"/>
          </a:xfrm>
          <a:prstGeom prst="rect">
            <a:avLst/>
          </a:prstGeom>
          <a:gradFill>
            <a:gsLst>
              <a:gs pos="63000">
                <a:schemeClr val="tx1"/>
              </a:gs>
              <a:gs pos="0">
                <a:schemeClr val="tx1"/>
              </a:gs>
              <a:gs pos="8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64D56D-F798-41D4-B204-99B8E8DEAB5A}"/>
              </a:ext>
            </a:extLst>
          </p:cNvPr>
          <p:cNvSpPr txBox="1"/>
          <p:nvPr userDrawn="1"/>
        </p:nvSpPr>
        <p:spPr>
          <a:xfrm>
            <a:off x="8501826" y="6550223"/>
            <a:ext cx="3690174" cy="307777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ognitive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ommunications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ystems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aboratory</a:t>
            </a:r>
            <a:endParaRPr lang="en-US" altLang="ko-KR" sz="1400" b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501637D-BAF8-43B2-A298-C5B3DAB223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077" b="34980"/>
          <a:stretch/>
        </p:blipFill>
        <p:spPr>
          <a:xfrm>
            <a:off x="9886511" y="17253"/>
            <a:ext cx="527404" cy="52627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0D9003C-FC42-4D68-ADBA-ADDEC8861A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t="68955" b="6534"/>
          <a:stretch/>
        </p:blipFill>
        <p:spPr>
          <a:xfrm>
            <a:off x="10413915" y="17253"/>
            <a:ext cx="1760832" cy="52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947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3E81F8-418E-46B0-BF79-A9E5C85CC2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169878"/>
            <a:ext cx="10501993" cy="1418326"/>
          </a:xfrm>
        </p:spPr>
        <p:txBody>
          <a:bodyPr>
            <a:normAutofit fontScale="90000"/>
          </a:bodyPr>
          <a:lstStyle/>
          <a:p>
            <a:r>
              <a:rPr b="0" dirty="0">
                <a:solidFill>
                  <a:srgbClr val="0070C0"/>
                </a:solidFill>
              </a:rPr>
              <a:t>Covert Beamforming Design for Integrated Radar Sensing and Communication Systems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30F031-E57C-4418-8811-D07BEE7C11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04435"/>
            <a:ext cx="10501993" cy="2079773"/>
          </a:xfrm>
        </p:spPr>
        <p:txBody>
          <a:bodyPr vert="horz" lIns="91440" tIns="45720" rIns="91440" bIns="45720" anchor="t">
            <a:noAutofit/>
          </a:bodyPr>
          <a:lstStyle/>
          <a:p>
            <a:r>
              <a:rPr dirty="0">
                <a:solidFill>
                  <a:srgbClr val="7030A0"/>
                </a:solidFill>
              </a:rPr>
              <a:t>Paper presentation based on IEEE Transactions on Wireless Communications, Vol. 22, No. 1, January 2023</a:t>
            </a:r>
          </a:p>
          <a:p>
            <a:r>
              <a:rPr dirty="0">
                <a:solidFill>
                  <a:srgbClr val="7030A0"/>
                </a:solidFill>
              </a:rPr>
              <a:t>Authors: Shuai Ma, </a:t>
            </a:r>
            <a:r>
              <a:rPr dirty="0" err="1">
                <a:solidFill>
                  <a:srgbClr val="7030A0"/>
                </a:solidFill>
              </a:rPr>
              <a:t>Haihong</a:t>
            </a:r>
            <a:r>
              <a:rPr dirty="0">
                <a:solidFill>
                  <a:srgbClr val="7030A0"/>
                </a:solidFill>
              </a:rPr>
              <a:t> Sheng, </a:t>
            </a:r>
            <a:r>
              <a:rPr dirty="0" err="1">
                <a:solidFill>
                  <a:srgbClr val="7030A0"/>
                </a:solidFill>
              </a:rPr>
              <a:t>Ruixin</a:t>
            </a:r>
            <a:r>
              <a:rPr dirty="0">
                <a:solidFill>
                  <a:srgbClr val="7030A0"/>
                </a:solidFill>
              </a:rPr>
              <a:t> Yang, Hang Li, </a:t>
            </a:r>
            <a:r>
              <a:rPr dirty="0" err="1">
                <a:solidFill>
                  <a:srgbClr val="7030A0"/>
                </a:solidFill>
              </a:rPr>
              <a:t>Youlong</a:t>
            </a:r>
            <a:r>
              <a:rPr dirty="0">
                <a:solidFill>
                  <a:srgbClr val="7030A0"/>
                </a:solidFill>
              </a:rPr>
              <a:t> Wu, Chao Shen, </a:t>
            </a:r>
            <a:r>
              <a:rPr dirty="0" err="1">
                <a:solidFill>
                  <a:srgbClr val="7030A0"/>
                </a:solidFill>
              </a:rPr>
              <a:t>Naofal</a:t>
            </a:r>
            <a:r>
              <a:rPr dirty="0">
                <a:solidFill>
                  <a:srgbClr val="7030A0"/>
                </a:solidFill>
              </a:rPr>
              <a:t> Al-Dhahir, and </a:t>
            </a:r>
            <a:r>
              <a:rPr dirty="0" err="1">
                <a:solidFill>
                  <a:srgbClr val="7030A0"/>
                </a:solidFill>
              </a:rPr>
              <a:t>Shiyin</a:t>
            </a:r>
            <a:r>
              <a:rPr dirty="0">
                <a:solidFill>
                  <a:srgbClr val="7030A0"/>
                </a:solidFill>
              </a:rPr>
              <a:t> Li</a:t>
            </a:r>
          </a:p>
          <a:p>
            <a:r>
              <a:rPr dirty="0">
                <a:solidFill>
                  <a:srgbClr val="0000FF"/>
                </a:solidFill>
              </a:rPr>
              <a:t>Date of publication: 17 August 2022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3469BC-9EBF-44CC-97A2-356DEFF55B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439D109-9F59-4B0B-8E20-D6D3A384B1F1}" type="slidenum">
              <a:rPr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3289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2D2C8-9F69-44BC-1785-0BDB54275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C4F203-81BE-4571-773F-3EA0125448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Abstract</a:t>
            </a:r>
          </a:p>
          <a:p>
            <a:pPr>
              <a:lnSpc>
                <a:spcPct val="150000"/>
              </a:lnSpc>
            </a:pPr>
            <a:r>
              <a:rPr lang="en-US" dirty="0"/>
              <a:t>Introduction</a:t>
            </a:r>
          </a:p>
          <a:p>
            <a:pPr>
              <a:lnSpc>
                <a:spcPct val="150000"/>
              </a:lnSpc>
            </a:pPr>
            <a:r>
              <a:rPr lang="en-US" dirty="0"/>
              <a:t>System Model and Problem Formulation</a:t>
            </a:r>
          </a:p>
          <a:p>
            <a:pPr>
              <a:lnSpc>
                <a:spcPct val="150000"/>
              </a:lnSpc>
            </a:pPr>
            <a:r>
              <a:rPr lang="en-US" dirty="0"/>
              <a:t>Beamforming Design Based on Perfect WCSI</a:t>
            </a:r>
          </a:p>
          <a:p>
            <a:pPr>
              <a:lnSpc>
                <a:spcPct val="150000"/>
              </a:lnSpc>
            </a:pPr>
            <a:r>
              <a:rPr lang="en-US" dirty="0"/>
              <a:t>Beamforming Design Based on Imperfect WCSI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9BFF52-C9DB-264C-68C2-23242307C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9968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F8128-7DDF-1DFA-54B3-B6A059DBA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2BECB-37B8-5DEC-BE43-CAFF3BC257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Motivation and System Idea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Covert Beamforming for IRSC Systems</a:t>
            </a:r>
          </a:p>
          <a:p>
            <a:pPr lvl="2"/>
            <a:r>
              <a:rPr lang="en-US" dirty="0"/>
              <a:t>The radar transmits probing waveforms for target sensing. </a:t>
            </a:r>
          </a:p>
          <a:p>
            <a:pPr lvl="2"/>
            <a:r>
              <a:rPr lang="en-US" dirty="0"/>
              <a:t>At the same time, it covertly sends information to legitimate users. </a:t>
            </a:r>
          </a:p>
          <a:p>
            <a:pPr lvl="2"/>
            <a:r>
              <a:rPr lang="en-US" dirty="0"/>
              <a:t>The communication signal is hidden under the radar probing waveform. </a:t>
            </a:r>
          </a:p>
          <a:p>
            <a:pPr lvl="2"/>
            <a:r>
              <a:rPr lang="en-US" dirty="0"/>
              <a:t>The eavesdropper tries to detect whether covert communication exists. </a:t>
            </a:r>
          </a:p>
          <a:p>
            <a:pPr lvl="2"/>
            <a:r>
              <a:rPr lang="en-US" dirty="0"/>
              <a:t>Objective:</a:t>
            </a:r>
          </a:p>
          <a:p>
            <a:pPr lvl="3"/>
            <a:r>
              <a:rPr lang="en-US" dirty="0"/>
              <a:t>Jointly design: </a:t>
            </a:r>
          </a:p>
          <a:p>
            <a:pPr lvl="4"/>
            <a:r>
              <a:rPr lang="en-US" dirty="0"/>
              <a:t>Radar detection beamformer </a:t>
            </a:r>
          </a:p>
          <a:p>
            <a:pPr lvl="4"/>
            <a:r>
              <a:rPr lang="en-US" dirty="0"/>
              <a:t>Communication beamformer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FBE308-0E37-7150-888A-D8ED6A542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142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7D047-C61F-0899-A662-5A6B67D5C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7F63AD-BA24-31ED-1AD9-6EB5E8FC33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Motivation and System Idea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Covert Beamforming for IRSC Systems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Main Goal</a:t>
            </a:r>
            <a:r>
              <a:rPr lang="en-US" dirty="0"/>
              <a:t>:</a:t>
            </a:r>
          </a:p>
          <a:p>
            <a:pPr lvl="3"/>
            <a:r>
              <a:rPr lang="en-US" dirty="0"/>
              <a:t>Improve radar sensing and communication performance while satisfying covertness. 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Optimization Targets:</a:t>
            </a:r>
          </a:p>
          <a:p>
            <a:pPr lvl="3"/>
            <a:r>
              <a:rPr lang="en-US" dirty="0"/>
              <a:t>Maximize radar detection mutual information, or </a:t>
            </a:r>
          </a:p>
          <a:p>
            <a:pPr lvl="3"/>
            <a:r>
              <a:rPr lang="en-US" dirty="0"/>
              <a:t>Maximize communication rate 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Constraints:</a:t>
            </a:r>
          </a:p>
          <a:p>
            <a:pPr lvl="3"/>
            <a:r>
              <a:rPr lang="en-US" dirty="0"/>
              <a:t>Covert constraint at the eavesdropper </a:t>
            </a:r>
          </a:p>
          <a:p>
            <a:pPr lvl="3"/>
            <a:r>
              <a:rPr lang="en-US" dirty="0"/>
              <a:t>Communication rate requirement </a:t>
            </a:r>
          </a:p>
          <a:p>
            <a:pPr lvl="3"/>
            <a:r>
              <a:rPr lang="en-US" dirty="0"/>
              <a:t>Radar detection MI requirement </a:t>
            </a:r>
          </a:p>
          <a:p>
            <a:pPr lvl="3"/>
            <a:r>
              <a:rPr lang="en-US" dirty="0"/>
              <a:t>Total transmit power constraint </a:t>
            </a:r>
          </a:p>
          <a:p>
            <a:pPr lvl="2"/>
            <a:endParaRPr lang="en-US" dirty="0"/>
          </a:p>
          <a:p>
            <a:pPr lvl="2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223E45-A4CF-A37E-B58C-41C00C0EC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0189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17D5A-8006-46CD-CD37-F4F705EC6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3DEF8B-94BB-E251-CDBF-76C6C4D8E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Proposed Methods and Contributions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Beamforming Design under Perfect and Imperfect CSI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Perfect Eavesdropper CSI:</a:t>
            </a:r>
          </a:p>
          <a:p>
            <a:pPr lvl="3"/>
            <a:r>
              <a:rPr lang="en-US" dirty="0"/>
              <a:t>The covert beamforming problems are transformed into convex subproblems. </a:t>
            </a:r>
          </a:p>
          <a:p>
            <a:pPr lvl="3"/>
            <a:r>
              <a:rPr lang="en-US" dirty="0"/>
              <a:t>Semidefinite relaxation is used. </a:t>
            </a:r>
          </a:p>
          <a:p>
            <a:pPr lvl="3"/>
            <a:r>
              <a:rPr lang="en-US" dirty="0"/>
              <a:t>Bisection search is applied to solve the optimization problems. 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Low-Complexity Design:</a:t>
            </a:r>
          </a:p>
          <a:p>
            <a:pPr lvl="3"/>
            <a:r>
              <a:rPr lang="en-US" dirty="0"/>
              <a:t>A single-iterative beamforming scheme is proposed. </a:t>
            </a:r>
          </a:p>
          <a:p>
            <a:pPr lvl="3"/>
            <a:r>
              <a:rPr lang="en-US" dirty="0"/>
              <a:t>It is based on the zero-forcing criterion. </a:t>
            </a:r>
          </a:p>
          <a:p>
            <a:pPr lvl="3"/>
            <a:r>
              <a:rPr lang="en-US" dirty="0"/>
              <a:t>This reduces the complexity of iterative optimization. 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Imperfect Eavesdropper CSI:</a:t>
            </a:r>
          </a:p>
          <a:p>
            <a:pPr lvl="3"/>
            <a:r>
              <a:rPr lang="en-US" dirty="0"/>
              <a:t>A robust covert beamforming framework is developed. </a:t>
            </a:r>
          </a:p>
          <a:p>
            <a:pPr lvl="3"/>
            <a:r>
              <a:rPr lang="en-US" dirty="0"/>
              <a:t>Relaxation and restriction methods are used to handle CSI uncertainty. 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Main Contribution:</a:t>
            </a:r>
          </a:p>
          <a:p>
            <a:pPr lvl="3"/>
            <a:r>
              <a:rPr lang="en-US" dirty="0"/>
              <a:t>The proposed schemes provide effective covert communication in IRSC systems for both perfect and imperfect eavesdropper CSI scenarios.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247381-1D7C-125C-C4A4-1A09D4717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45299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FC5B5-8AEC-2E38-4EAD-297A19142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9F4DA1-360B-5F74-EE69-1173FEE360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Motivation and Research Gap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Why Covert Communication is Needed in IRSC</a:t>
            </a:r>
          </a:p>
          <a:p>
            <a:pPr lvl="2"/>
            <a:r>
              <a:rPr lang="en-US" dirty="0"/>
              <a:t>Integrated radar sensing and communication (IRSC) systems combine radar detection and wireless communication in one platform. </a:t>
            </a:r>
          </a:p>
          <a:p>
            <a:pPr lvl="2"/>
            <a:r>
              <a:rPr lang="en-US" dirty="0"/>
              <a:t>Compared with separated systems, IRSC can reduce: </a:t>
            </a:r>
          </a:p>
          <a:p>
            <a:pPr lvl="3"/>
            <a:r>
              <a:rPr lang="en-US" dirty="0">
                <a:solidFill>
                  <a:srgbClr val="002060"/>
                </a:solidFill>
              </a:rPr>
              <a:t>Platform payload </a:t>
            </a:r>
          </a:p>
          <a:p>
            <a:pPr lvl="3"/>
            <a:r>
              <a:rPr lang="en-US" dirty="0">
                <a:solidFill>
                  <a:srgbClr val="002060"/>
                </a:solidFill>
              </a:rPr>
              <a:t>Power consumption </a:t>
            </a:r>
          </a:p>
          <a:p>
            <a:pPr lvl="3"/>
            <a:r>
              <a:rPr lang="en-US" dirty="0">
                <a:solidFill>
                  <a:srgbClr val="002060"/>
                </a:solidFill>
              </a:rPr>
              <a:t>Spectrum usage </a:t>
            </a:r>
          </a:p>
          <a:p>
            <a:pPr lvl="2"/>
            <a:r>
              <a:rPr lang="en-US" dirty="0"/>
              <a:t>However, due to the open and broadcasting nature of radar waveforms, </a:t>
            </a:r>
            <a:r>
              <a:rPr lang="en-US" dirty="0">
                <a:solidFill>
                  <a:srgbClr val="002060"/>
                </a:solidFill>
              </a:rPr>
              <a:t>the embedded communication information may be intercepted by malicious users. 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Existing Security Limitation:</a:t>
            </a:r>
          </a:p>
          <a:p>
            <a:pPr lvl="3"/>
            <a:r>
              <a:rPr lang="en-US" dirty="0"/>
              <a:t>Physical layer security mainly prevents the adversary from decoding the message. </a:t>
            </a:r>
          </a:p>
          <a:p>
            <a:pPr lvl="3"/>
            <a:r>
              <a:rPr lang="en-US" dirty="0"/>
              <a:t>But it cannot hide the existence of communication itself. 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Research Gap:</a:t>
            </a:r>
          </a:p>
          <a:p>
            <a:pPr lvl="3"/>
            <a:r>
              <a:rPr lang="en-US" dirty="0"/>
              <a:t>Covert communication for IRSC systems has not been well investigated. </a:t>
            </a:r>
          </a:p>
          <a:p>
            <a:pPr lvl="3"/>
            <a:r>
              <a:rPr lang="en-US" dirty="0"/>
              <a:t>A rigorous covert beamforming framework is still needed.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734814-7EFD-92A5-3C1F-B613D5565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4523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1872E-1DF0-6E28-7D0E-FDDEC1145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1DD6F0-63BF-129E-CFF0-98BF18982C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Covert IRSC System and Detection Model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Willie’s Detection Problem in Covert IRSC</a:t>
                </a:r>
              </a:p>
              <a:p>
                <a:pPr lvl="2"/>
                <a:r>
                  <a:rPr lang="en-US" dirty="0"/>
                  <a:t>The radar sends a detection signal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for sensing. </a:t>
                </a:r>
              </a:p>
              <a:p>
                <a:pPr lvl="2"/>
                <a:r>
                  <a:rPr lang="en-US" dirty="0"/>
                  <a:t>At the same time, it may also send a covert communication signal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dirty="0"/>
                  <a:t> to Bob. </a:t>
                </a:r>
              </a:p>
              <a:p>
                <a:pPr lvl="2"/>
                <a:r>
                  <a:rPr lang="en-US" dirty="0"/>
                  <a:t>Willie tries to detect whether covert communication exists. 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Binary hypotheses at Willie: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nor/>
                      </m:rPr>
                      <a:rPr lang="en-US" i="0"/>
                      <m:t>Radar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only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sends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nor/>
                      </m:rPr>
                      <a:rPr lang="en-US" i="0"/>
                      <m:t>Radar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sends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both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and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Main channels: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dirty="0"/>
                  <a:t>: Radar-to-target channel 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dirty="0"/>
                  <a:t>: Radar-to-Bob channel 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r>
                  <a:rPr lang="en-US" dirty="0"/>
                  <a:t>: Radar-to-Willie channel 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Likelihood functions: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nor/>
                      </m:rPr>
                      <a:rPr lang="en-US" i="0"/>
                      <m:t>likelihood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of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Willie</m:t>
                    </m:r>
                    <m:r>
                      <m:rPr>
                        <m:nor/>
                      </m:rPr>
                      <a:rPr lang="en-US" i="0"/>
                      <m:t>’</m:t>
                    </m:r>
                    <m:r>
                      <m:rPr>
                        <m:nor/>
                      </m:rPr>
                      <a:rPr lang="en-US" i="0"/>
                      <m:t>s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received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signal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under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nor/>
                      </m:rPr>
                      <a:rPr lang="en-US" i="0"/>
                      <m:t>likelihood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of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Willie</m:t>
                    </m:r>
                    <m:r>
                      <m:rPr>
                        <m:nor/>
                      </m:rPr>
                      <a:rPr lang="en-US" i="0"/>
                      <m:t>’</m:t>
                    </m:r>
                    <m:r>
                      <m:rPr>
                        <m:nor/>
                      </m:rPr>
                      <a:rPr lang="en-US" i="0"/>
                      <m:t>s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received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signal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under</m:t>
                    </m:r>
                    <m:r>
                      <m:rPr>
                        <m:nor/>
                      </m:rPr>
                      <a:rPr lang="en-US" i="0"/>
                      <m:t>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Covertness idea: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So, Willie cannot reliably distinguish communication from normal radar probing.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1DD6F0-63BF-129E-CFF0-98BF18982C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92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8BA0A6-A078-018A-2AE6-EFB0523C2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55856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3100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5D049-41AE-B68D-6531-15D277072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40C214-E1D3-33AB-7F0A-C886925E96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Proposed Beamforming Framework and Contributions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Covert Beamforming Design for IRSC</a:t>
                </a:r>
              </a:p>
              <a:p>
                <a:pPr lvl="2"/>
                <a:r>
                  <a:rPr lang="en-US" dirty="0">
                    <a:solidFill>
                      <a:srgbClr val="002060"/>
                    </a:solidFill>
                  </a:rPr>
                  <a:t>Design Objective:</a:t>
                </a:r>
              </a:p>
              <a:p>
                <a:pPr lvl="3"/>
                <a:r>
                  <a:rPr lang="en-US" dirty="0">
                    <a:solidFill>
                      <a:srgbClr val="002060"/>
                    </a:solidFill>
                  </a:rPr>
                  <a:t>Jointly optimize: </a:t>
                </a:r>
              </a:p>
              <a:p>
                <a:pPr lvl="4"/>
                <a:r>
                  <a:rPr lang="en-US" dirty="0"/>
                  <a:t>Radar detection beamformer </a:t>
                </a:r>
              </a:p>
              <a:p>
                <a:pPr lvl="4"/>
                <a:r>
                  <a:rPr lang="en-US" dirty="0"/>
                  <a:t>Communication beamformer </a:t>
                </a:r>
              </a:p>
              <a:p>
                <a:pPr lvl="2"/>
                <a:r>
                  <a:rPr lang="en-US" dirty="0">
                    <a:solidFill>
                      <a:srgbClr val="002060"/>
                    </a:solidFill>
                  </a:rPr>
                  <a:t>Two optimization goals:</a:t>
                </a:r>
              </a:p>
              <a:p>
                <a:pPr lvl="3"/>
                <a:r>
                  <a:rPr lang="en-US" dirty="0"/>
                  <a:t>Maximize radar detection mutual information, or </a:t>
                </a:r>
              </a:p>
              <a:p>
                <a:pPr lvl="3"/>
                <a:r>
                  <a:rPr lang="en-US" dirty="0"/>
                  <a:t>Maximize covert communication rate </a:t>
                </a:r>
              </a:p>
              <a:p>
                <a:pPr lvl="2"/>
                <a:r>
                  <a:rPr lang="en-US" dirty="0">
                    <a:solidFill>
                      <a:srgbClr val="002060"/>
                    </a:solidFill>
                  </a:rPr>
                  <a:t>Main constraints:</a:t>
                </a:r>
              </a:p>
              <a:p>
                <a:pPr lvl="3"/>
                <a:r>
                  <a:rPr lang="en-US" dirty="0"/>
                  <a:t>Covert constraint based on KL divergence: 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∣∣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lvl="4"/>
                <a:r>
                  <a:rPr lang="en-US" dirty="0"/>
                  <a:t>Communication rate constraint </a:t>
                </a:r>
              </a:p>
              <a:p>
                <a:pPr lvl="4"/>
                <a:r>
                  <a:rPr lang="en-US" dirty="0"/>
                  <a:t>Radar detection MI constraint </a:t>
                </a:r>
              </a:p>
              <a:p>
                <a:pPr lvl="4"/>
                <a:r>
                  <a:rPr lang="en-US" dirty="0"/>
                  <a:t>Total transmit power constraint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40C214-E1D3-33AB-7F0A-C886925E96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311B93-7875-DC18-3238-A3DD7F10A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1" y="6356350"/>
            <a:ext cx="361426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23186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F6D99-D578-7E65-5B25-C292D69EE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D886F-84B3-98AA-8F3B-E1E98B35D0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Proposed Beamforming Framework and Contributions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Covert Beamforming Design for IRSC</a:t>
                </a:r>
              </a:p>
              <a:p>
                <a:pPr lvl="2"/>
                <a:r>
                  <a:rPr lang="en-US" dirty="0"/>
                  <a:t>Main contributions:</a:t>
                </a:r>
              </a:p>
              <a:p>
                <a:pPr lvl="3"/>
                <a:r>
                  <a:rPr lang="en-US" dirty="0"/>
                  <a:t>For perfect Willie CSI: </a:t>
                </a:r>
              </a:p>
              <a:p>
                <a:pPr lvl="4"/>
                <a:r>
                  <a:rPr lang="en-US" dirty="0"/>
                  <a:t>Transform non-convex beamforming problems into convex subproblems using SDR. </a:t>
                </a:r>
              </a:p>
              <a:p>
                <a:pPr lvl="4"/>
                <a:r>
                  <a:rPr lang="en-US" dirty="0"/>
                  <a:t>Solve them using bisection search. </a:t>
                </a:r>
              </a:p>
              <a:p>
                <a:pPr lvl="3"/>
                <a:r>
                  <a:rPr lang="en-US" dirty="0"/>
                  <a:t>For low-complexity design: </a:t>
                </a:r>
              </a:p>
              <a:p>
                <a:pPr lvl="4"/>
                <a:r>
                  <a:rPr lang="en-US" dirty="0"/>
                  <a:t>Propose a zero-forcing based single-iterative beamforming method. </a:t>
                </a:r>
              </a:p>
              <a:p>
                <a:pPr lvl="4"/>
                <a:r>
                  <a:rPr lang="en-US" dirty="0"/>
                  <a:t>Project communication signals into Willie’s channel null space. </a:t>
                </a:r>
              </a:p>
              <a:p>
                <a:pPr lvl="3"/>
                <a:r>
                  <a:rPr lang="en-US" dirty="0"/>
                  <a:t>For imperfect Willie CSI: </a:t>
                </a:r>
              </a:p>
              <a:p>
                <a:pPr lvl="4"/>
                <a:r>
                  <a:rPr lang="en-US" dirty="0"/>
                  <a:t>Develop robust covert beamforming using relaxation and restriction methods. </a:t>
                </a:r>
              </a:p>
              <a:p>
                <a:pPr lvl="3"/>
                <a:r>
                  <a:rPr lang="en-US" dirty="0"/>
                  <a:t>Key message:</a:t>
                </a:r>
              </a:p>
              <a:p>
                <a:pPr lvl="4"/>
                <a:r>
                  <a:rPr lang="en-US" dirty="0"/>
                  <a:t>The radar waveform acts as a cover, while the communication beamformer hides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dirty="0"/>
                  <a:t>from Willie.</a:t>
                </a:r>
              </a:p>
              <a:p>
                <a:pPr lvl="2"/>
                <a:endParaRPr lang="en-US" dirty="0"/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D886F-84B3-98AA-8F3B-E1E98B35D0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8DF7EB-E088-FEC4-C6F8-2F3D06315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0227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BBA43-E618-1A1D-ED51-22D15539B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0780099-1671-A4EB-0637-17E1A56825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063" y="1783688"/>
            <a:ext cx="5972058" cy="301624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AC3067-E0DE-A033-318E-885BBB165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396EE6-E137-A369-AA4F-323E3715D06F}"/>
              </a:ext>
            </a:extLst>
          </p:cNvPr>
          <p:cNvSpPr txBox="1"/>
          <p:nvPr/>
        </p:nvSpPr>
        <p:spPr>
          <a:xfrm>
            <a:off x="2076275" y="4743974"/>
            <a:ext cx="88965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</a:rPr>
              <a:t>Figure 01. </a:t>
            </a:r>
            <a:r>
              <a:rPr lang="en-US" dirty="0"/>
              <a:t>The schematic diagram of an integrated radar-communication system</a:t>
            </a:r>
          </a:p>
        </p:txBody>
      </p:sp>
    </p:spTree>
    <p:extLst>
      <p:ext uri="{BB962C8B-B14F-4D97-AF65-F5344CB8AC3E}">
        <p14:creationId xmlns:p14="http://schemas.microsoft.com/office/powerpoint/2010/main" val="1044209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E6769-2425-5409-8D9A-CD95D7264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E5C34F-EF9C-356B-ED2F-285ED45487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IRSC System Overview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Integrated Radar-Communication System Model</a:t>
                </a:r>
              </a:p>
              <a:p>
                <a:pPr lvl="1"/>
                <a:r>
                  <a:rPr lang="en-US" dirty="0"/>
                  <a:t>The system consists of: </a:t>
                </a:r>
              </a:p>
              <a:p>
                <a:pPr lvl="2"/>
                <a:r>
                  <a:rPr lang="en-US" dirty="0"/>
                  <a:t>A multi-antenna radar </a:t>
                </a:r>
              </a:p>
              <a:p>
                <a:pPr lvl="2"/>
                <a:r>
                  <a:rPr lang="en-US" dirty="0"/>
                  <a:t>A radar target </a:t>
                </a:r>
              </a:p>
              <a:p>
                <a:pPr lvl="2"/>
                <a:r>
                  <a:rPr lang="en-US" dirty="0"/>
                  <a:t>A legitimate receiver, Bob </a:t>
                </a:r>
              </a:p>
              <a:p>
                <a:pPr lvl="2"/>
                <a:r>
                  <a:rPr lang="en-US" dirty="0"/>
                  <a:t>An eavesdropper / warden, Willie </a:t>
                </a:r>
              </a:p>
              <a:p>
                <a:pPr lvl="1"/>
                <a:r>
                  <a:rPr lang="en-US" dirty="0"/>
                  <a:t>The radar has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antennas. </a:t>
                </a:r>
              </a:p>
              <a:p>
                <a:pPr lvl="1"/>
                <a:r>
                  <a:rPr lang="en-US" dirty="0"/>
                  <a:t>The radar performs two tasks simultaneously: </a:t>
                </a:r>
              </a:p>
              <a:p>
                <a:pPr lvl="2"/>
                <a:r>
                  <a:rPr lang="en-US" dirty="0"/>
                  <a:t>Target detection/sensing </a:t>
                </a:r>
              </a:p>
              <a:p>
                <a:pPr lvl="2"/>
                <a:r>
                  <a:rPr lang="en-US" dirty="0"/>
                  <a:t>Communication with Bob </a:t>
                </a:r>
              </a:p>
              <a:p>
                <a:pPr lvl="1"/>
                <a:r>
                  <a:rPr lang="en-US" dirty="0"/>
                  <a:t>Bob and Willie are both equipped with single antennas.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/>
                      <m:t>Radar</m:t>
                    </m:r>
                    <m:r>
                      <m:rPr>
                        <m:nor/>
                      </m:rPr>
                      <a:rPr lang="en-US" b="0" i="0"/>
                      <m:t> </m:t>
                    </m:r>
                    <m:r>
                      <m:rPr>
                        <m:nor/>
                      </m:rPr>
                      <a:rPr lang="en-US" b="0" i="0"/>
                      <m:t>signal</m:t>
                    </m:r>
                    <m:r>
                      <m:rPr>
                        <m:nor/>
                      </m:rPr>
                      <a:rPr lang="en-US" b="0" i="0"/>
                      <m:t> </m:t>
                    </m:r>
                    <m:r>
                      <m:rPr>
                        <m:nor/>
                      </m:rPr>
                      <a:rPr lang="en-US" b="0" i="0"/>
                      <m:t>is</m:t>
                    </m:r>
                    <m:r>
                      <m:rPr>
                        <m:nor/>
                      </m:rPr>
                      <a:rPr lang="en-US" b="0" i="0"/>
                      <m:t> </m:t>
                    </m:r>
                    <m:r>
                      <m:rPr>
                        <m:nor/>
                      </m:rPr>
                      <a:rPr lang="en-US" b="0" i="0"/>
                      <m:t>used</m:t>
                    </m:r>
                    <m:r>
                      <m:rPr>
                        <m:nor/>
                      </m:rPr>
                      <a:rPr lang="en-US" b="0" i="0"/>
                      <m:t> </m:t>
                    </m:r>
                    <m:r>
                      <m:rPr>
                        <m:nor/>
                      </m:rPr>
                      <a:rPr lang="en-US" b="0" i="0"/>
                      <m:t>for</m:t>
                    </m:r>
                    <m:r>
                      <m:rPr>
                        <m:nor/>
                      </m:rPr>
                      <a:rPr lang="en-US" b="0" i="0"/>
                      <m:t> </m:t>
                    </m:r>
                    <m:r>
                      <m:rPr>
                        <m:nor/>
                      </m:rPr>
                      <a:rPr lang="en-US" b="0" i="0"/>
                      <m:t>sensing</m:t>
                    </m:r>
                    <m:r>
                      <m:rPr>
                        <m:nor/>
                      </m:rPr>
                      <a:rPr lang="en-US" b="0" i="0"/>
                      <m:t>, </m:t>
                    </m:r>
                    <m:r>
                      <m:rPr>
                        <m:nor/>
                      </m:rPr>
                      <a:rPr lang="en-US" b="0" i="0"/>
                      <m:t>while</m:t>
                    </m:r>
                    <m:r>
                      <m:rPr>
                        <m:nor/>
                      </m:rPr>
                      <a:rPr lang="en-US" b="0" i="0"/>
                      <m:t> </m:t>
                    </m:r>
                    <m:r>
                      <m:rPr>
                        <m:nor/>
                      </m:rPr>
                      <a:rPr lang="en-US" b="0" i="0"/>
                      <m:t>communication</m:t>
                    </m:r>
                    <m:r>
                      <m:rPr>
                        <m:nor/>
                      </m:rPr>
                      <a:rPr lang="en-US" b="0" i="0"/>
                      <m:t> </m:t>
                    </m:r>
                    <m:r>
                      <m:rPr>
                        <m:nor/>
                      </m:rPr>
                      <a:rPr lang="en-US" b="0" i="0"/>
                      <m:t>is</m:t>
                    </m:r>
                    <m:r>
                      <m:rPr>
                        <m:nor/>
                      </m:rPr>
                      <a:rPr lang="en-US" b="0" i="0"/>
                      <m:t> </m:t>
                    </m:r>
                    <m:r>
                      <m:rPr>
                        <m:nor/>
                      </m:rPr>
                      <a:rPr lang="en-US" b="0" i="0"/>
                      <m:t>hidden</m:t>
                    </m:r>
                    <m:r>
                      <m:rPr>
                        <m:nor/>
                      </m:rPr>
                      <a:rPr lang="en-US" b="0" i="0"/>
                      <m:t> </m:t>
                    </m:r>
                    <m:r>
                      <m:rPr>
                        <m:nor/>
                      </m:rPr>
                      <a:rPr lang="en-US" b="0" i="0"/>
                      <m:t>inside</m:t>
                    </m:r>
                    <m:r>
                      <m:rPr>
                        <m:nor/>
                      </m:rPr>
                      <a:rPr lang="en-US" b="0" i="0"/>
                      <m:t> </m:t>
                    </m:r>
                    <m:r>
                      <m:rPr>
                        <m:nor/>
                      </m:rPr>
                      <a:rPr lang="en-US" b="0" i="0"/>
                      <m:t>radar</m:t>
                    </m:r>
                    <m:r>
                      <m:rPr>
                        <m:nor/>
                      </m:rPr>
                      <a:rPr lang="en-US" b="0" i="0"/>
                      <m:t> </m:t>
                    </m:r>
                    <m:r>
                      <m:rPr>
                        <m:nor/>
                      </m:rPr>
                      <a:rPr lang="en-US" b="0" i="0"/>
                      <m:t>transmission</m:t>
                    </m:r>
                    <m:r>
                      <m:rPr>
                        <m:nor/>
                      </m:rPr>
                      <a:rPr lang="en-US" b="0" i="0"/>
                      <m:t>.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E5C34F-EF9C-356B-ED2F-285ED45487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7E0451-25AD-70F6-5BFF-89375C7E1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32758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F089A-A7F9-B449-BAC0-6F1F0A98B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FE72F7-7C65-2AAD-6E07-91DD984F1B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78383"/>
                <a:ext cx="10515600" cy="5472563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Channel Model and Signal Definitions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Channels and Transmitted Signals</a:t>
                </a:r>
              </a:p>
              <a:p>
                <a:pPr lvl="2"/>
                <a:r>
                  <a:rPr lang="en-US" dirty="0">
                    <a:solidFill>
                      <a:srgbClr val="002060"/>
                    </a:solidFill>
                  </a:rPr>
                  <a:t>Channel vectors: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ℂ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endParaRPr lang="en-US" b="0" dirty="0"/>
              </a:p>
              <a:p>
                <a:pPr lvl="4"/>
                <a:r>
                  <a:rPr lang="en-US" dirty="0"/>
                  <a:t>Radar-to-target channel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ℂ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endParaRPr lang="en-US" b="0" dirty="0"/>
              </a:p>
              <a:p>
                <a:pPr lvl="4"/>
                <a:r>
                  <a:rPr lang="en-US" dirty="0"/>
                  <a:t>Radar-to-Bob channel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ℂ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endParaRPr lang="en-US" b="0" dirty="0"/>
              </a:p>
              <a:p>
                <a:pPr lvl="4"/>
                <a:r>
                  <a:rPr lang="en-US" dirty="0"/>
                  <a:t>Radar-to-Willie channel</a:t>
                </a:r>
              </a:p>
              <a:p>
                <a:pPr lvl="2"/>
                <a:r>
                  <a:rPr lang="en-US" dirty="0">
                    <a:solidFill>
                      <a:srgbClr val="002060"/>
                    </a:solidFill>
                  </a:rPr>
                  <a:t>Signal definitions: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: Radar detection signal 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dirty="0"/>
                  <a:t>: Communication signal </a:t>
                </a:r>
              </a:p>
              <a:p>
                <a:pPr lvl="2"/>
                <a:r>
                  <a:rPr lang="en-US" dirty="0">
                    <a:solidFill>
                      <a:srgbClr val="002060"/>
                    </a:solidFill>
                  </a:rPr>
                  <a:t>Power normalization: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>
                    <a:solidFill>
                      <a:srgbClr val="002060"/>
                    </a:solidFill>
                  </a:rPr>
                  <a:t>Channel assumption:</a:t>
                </a:r>
              </a:p>
              <a:p>
                <a:pPr lvl="3"/>
                <a:r>
                  <a:rPr lang="en-US" dirty="0"/>
                  <a:t>The wireless channels follow Rayleigh flat fading. </a:t>
                </a:r>
              </a:p>
              <a:p>
                <a:pPr lvl="3"/>
                <a:r>
                  <a:rPr lang="en-US" dirty="0"/>
                  <a:t>Bob and Willie receive direct signals from the radar. </a:t>
                </a:r>
              </a:p>
              <a:p>
                <a:pPr lvl="3"/>
                <a:r>
                  <a:rPr lang="en-US" dirty="0"/>
                  <a:t>Reflected target signals are ignored at Bob due to Bob’s single antenna structure.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FE72F7-7C65-2AAD-6E07-91DD984F1B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78383"/>
                <a:ext cx="10515600" cy="5472563"/>
              </a:xfrm>
              <a:blipFill>
                <a:blip r:embed="rId2"/>
                <a:stretch>
                  <a:fillRect l="-522" t="-1114" b="-16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1ACB3A-3CB5-7E13-C96A-ED5596F31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696985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555767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9A216-CAE2-32B2-DB28-D93C975D7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A8EF12-6447-02D3-1CE8-B94F4E3F1F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9691"/>
                <a:ext cx="10515600" cy="4759498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Role of Bob and Willie</a:t>
                </a:r>
              </a:p>
              <a:p>
                <a:pPr lvl="1"/>
                <a:r>
                  <a:rPr lang="en-US" dirty="0"/>
                  <a:t>Bob is the legitimate communication receiver. </a:t>
                </a:r>
              </a:p>
              <a:p>
                <a:pPr lvl="1"/>
                <a:r>
                  <a:rPr lang="en-US" dirty="0"/>
                  <a:t>Bob is equipped with a single antenna. </a:t>
                </a:r>
              </a:p>
              <a:p>
                <a:pPr lvl="1"/>
                <a:r>
                  <a:rPr lang="en-US" dirty="0"/>
                  <a:t>The reflected target signal is ignored at Bob. </a:t>
                </a:r>
              </a:p>
              <a:p>
                <a:pPr lvl="1"/>
                <a:r>
                  <a:rPr lang="en-US" dirty="0"/>
                  <a:t>Willie is a single-antenna eavesdropper. </a:t>
                </a:r>
              </a:p>
              <a:p>
                <a:pPr lvl="1"/>
                <a:r>
                  <a:rPr lang="en-US" dirty="0"/>
                  <a:t>Willie observes the radar transmission and tries to detect whether information is being sent to Bob. </a:t>
                </a:r>
              </a:p>
              <a:p>
                <a:pPr lvl="1"/>
                <a:r>
                  <a:rPr lang="en-US" dirty="0"/>
                  <a:t>Key Design Challenge: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solidFill>
                          <a:srgbClr val="0070C0"/>
                        </a:solidFill>
                      </a:rPr>
                      <m:t>Radar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70C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70C0"/>
                        </a:solidFill>
                      </a:rPr>
                      <m:t>must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70C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70C0"/>
                        </a:solidFill>
                      </a:rPr>
                      <m:t>communicate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70C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70C0"/>
                        </a:solidFill>
                      </a:rPr>
                      <m:t>with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70C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70C0"/>
                        </a:solidFill>
                      </a:rPr>
                      <m:t>Bob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70C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70C0"/>
                        </a:solidFill>
                      </a:rPr>
                      <m:t>while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70C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70C0"/>
                        </a:solidFill>
                      </a:rPr>
                      <m:t>keeping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70C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70C0"/>
                        </a:solidFill>
                      </a:rPr>
                      <m:t>the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70C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70C0"/>
                        </a:solidFill>
                      </a:rPr>
                      <m:t>communication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70C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70C0"/>
                        </a:solidFill>
                      </a:rPr>
                      <m:t>hidden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70C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70C0"/>
                        </a:solidFill>
                      </a:rPr>
                      <m:t>from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70C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70C0"/>
                        </a:solidFill>
                      </a:rPr>
                      <m:t>Willie</m:t>
                    </m:r>
                    <m:r>
                      <m:rPr>
                        <m:nor/>
                      </m:rPr>
                      <a:rPr lang="en-US" b="0" i="0"/>
                      <m:t>.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A8EF12-6447-02D3-1CE8-B94F4E3F1F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9691"/>
                <a:ext cx="10515600" cy="4759498"/>
              </a:xfrm>
              <a:blipFill>
                <a:blip r:embed="rId2"/>
                <a:stretch>
                  <a:fillRect l="-522" t="-12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7D1577-3DC6-4833-41D2-792C88C2A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02035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FC1C8-DE9C-8B5C-B0AC-1196C5AC6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B35EF0-D0ED-7C2E-F225-9B64967C0A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Radar-Target Detection Signal Model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Detection Only Signal Model</a:t>
                </a:r>
              </a:p>
              <a:p>
                <a:pPr lvl="2"/>
                <a:r>
                  <a:rPr lang="en-US" dirty="0"/>
                  <a:t>When the radar transmit only the detection signal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the radar target channel is modeled as the steering vector: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≜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                                                                           (1) </a:t>
                </a:r>
              </a:p>
              <a:p>
                <a:pPr lvl="3"/>
                <a:r>
                  <a:rPr lang="en-US" dirty="0"/>
                  <a:t>Where: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Azimuth angle of the target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en-US" dirty="0"/>
                  <a:t>Transmit steering vector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Receive steering vector</a:t>
                </a:r>
              </a:p>
              <a:p>
                <a:pPr lvl="4"/>
                <a:r>
                  <a:rPr lang="en-US" dirty="0"/>
                  <a:t>Assumption:</a:t>
                </a:r>
              </a:p>
              <a:p>
                <a:pPr lvl="5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≜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B35EF0-D0ED-7C2E-F225-9B64967C0A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E2A49C-0CB6-FA37-E70D-90BEA1E64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4587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F6BF5-EACC-AE72-5C30-2CEFBD273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494F9A-8239-5E47-E101-C93DF3FFC0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Radar-Target Detection Signal Model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Detection Only Signal Model</a:t>
                </a:r>
              </a:p>
              <a:p>
                <a:pPr lvl="2"/>
                <a:r>
                  <a:rPr lang="en-US" dirty="0"/>
                  <a:t>The reflected signal received at the radar is: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                                                                                    (2)</a:t>
                </a:r>
              </a:p>
              <a:p>
                <a:pPr lvl="3"/>
                <a:r>
                  <a:rPr lang="en-US" dirty="0"/>
                  <a:t>Where: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:</m:t>
                    </m:r>
                  </m:oMath>
                </a14:m>
                <a:r>
                  <a:rPr lang="en-US" dirty="0"/>
                  <a:t> path-loss coefficient 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Beamformer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in detection only mode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</m:d>
                  </m:oMath>
                </a14:m>
                <a:r>
                  <a:rPr lang="en-US" dirty="0"/>
                  <a:t>: radar receiver noise</a:t>
                </a:r>
              </a:p>
              <a:p>
                <a:pPr lvl="2"/>
                <a:r>
                  <a:rPr lang="en-US" dirty="0">
                    <a:solidFill>
                      <a:srgbClr val="002060"/>
                    </a:solidFill>
                  </a:rPr>
                  <a:t>Detection Signal Observed by Bob</a:t>
                </a:r>
              </a:p>
              <a:p>
                <a:pPr lvl="3"/>
                <a:r>
                  <a:rPr lang="en-US" dirty="0"/>
                  <a:t>Since the transmitted radar waveform can be omni directional </a:t>
                </a:r>
              </a:p>
              <a:p>
                <a:pPr lvl="3"/>
                <a:r>
                  <a:rPr lang="en-US" dirty="0"/>
                  <a:t>Bob may also receive the detection signal</a:t>
                </a:r>
              </a:p>
              <a:p>
                <a:pPr lvl="3"/>
                <a:r>
                  <a:rPr lang="en-US" dirty="0"/>
                  <a:t>Bob’s receive signal is :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dirty="0"/>
                  <a:t>                                                                                         (3)</a:t>
                </a:r>
              </a:p>
              <a:p>
                <a:pPr lvl="4"/>
                <a:r>
                  <a:rPr lang="en-US" dirty="0"/>
                  <a:t>Where:</a:t>
                </a:r>
              </a:p>
              <a:p>
                <a:pPr lvl="5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Radar-to-Bob channel vector</a:t>
                </a:r>
              </a:p>
              <a:p>
                <a:pPr lvl="5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Radar beamformer for detection-only transmission</a:t>
                </a:r>
              </a:p>
              <a:p>
                <a:pPr lvl="5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:</m:t>
                    </m:r>
                  </m:oMath>
                </a14:m>
                <a:r>
                  <a:rPr lang="en-US" dirty="0"/>
                  <a:t> Detection signal</a:t>
                </a:r>
              </a:p>
              <a:p>
                <a:pPr lvl="5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Receiver noise at Bob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494F9A-8239-5E47-E101-C93DF3FFC0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0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EA314-9C8F-347B-3EF0-DA9FC1D98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23936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A0801-47C3-D43E-8F10-6B15295C9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195A55-E634-C088-6845-86D803D85C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Detection and Communication Signal</a:t>
                </a:r>
                <a:r>
                  <a:rPr lang="en-US" dirty="0"/>
                  <a:t> 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Radar Received Signal</a:t>
                </a:r>
              </a:p>
              <a:p>
                <a:pPr lvl="2"/>
                <a:r>
                  <a:rPr lang="en-US" dirty="0"/>
                  <a:t>When radar performs sensing and communication simultaneously: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                                                      (4)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beamformer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for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beamformer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for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Bob received signal </a:t>
                </a:r>
              </a:p>
              <a:p>
                <a:pPr lvl="2"/>
                <a:r>
                  <a:rPr lang="en-US" dirty="0"/>
                  <a:t>Bob receives both radar and communication components: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dirty="0"/>
                  <a:t>                                                                        (5)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receiver noise at Bob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195A55-E634-C088-6845-86D803D85C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37D5FE-A81B-3286-B334-10EC1BE9E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32209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EC56C-C587-9087-AAE7-96D5C1D13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9CB4E0-D0AC-9C82-48B6-67F3473E9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Performance Metrics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Radar Detection Performance Metric</a:t>
                </a:r>
              </a:p>
              <a:p>
                <a:pPr lvl="2"/>
                <a:r>
                  <a:rPr lang="en-US" dirty="0"/>
                  <a:t>In detection-only mode, the radar receives the echo signal from the target</a:t>
                </a:r>
              </a:p>
              <a:p>
                <a:pPr lvl="2"/>
                <a:r>
                  <a:rPr lang="en-US" dirty="0"/>
                  <a:t>From the received signal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the radar estimates the target 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2"/>
                <a:r>
                  <a:rPr lang="en-US" dirty="0"/>
                  <a:t>The target channel contains useful information about the target, such as:</a:t>
                </a:r>
              </a:p>
              <a:p>
                <a:pPr lvl="3"/>
                <a:r>
                  <a:rPr lang="en-US" dirty="0"/>
                  <a:t>Target direction</a:t>
                </a:r>
              </a:p>
              <a:p>
                <a:pPr lvl="3"/>
                <a:r>
                  <a:rPr lang="en-US" dirty="0"/>
                  <a:t>Target reflection characteristics</a:t>
                </a:r>
              </a:p>
              <a:p>
                <a:pPr lvl="3"/>
                <a:r>
                  <a:rPr lang="en-US" dirty="0"/>
                  <a:t>Radar-target propagation information</a:t>
                </a:r>
              </a:p>
              <a:p>
                <a:pPr lvl="2"/>
                <a:r>
                  <a:rPr lang="en-US" dirty="0">
                    <a:solidFill>
                      <a:srgbClr val="0070C0"/>
                    </a:solidFill>
                  </a:rPr>
                  <a:t>More information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 better radar sensing performance</a:t>
                </a:r>
              </a:p>
              <a:p>
                <a:pPr lvl="2"/>
                <a:r>
                  <a:rPr lang="en-US" dirty="0"/>
                  <a:t>Therefore, the paper uses mutual information(MI) to measure radar detection performance.</a:t>
                </a:r>
              </a:p>
              <a:p>
                <a:pPr lvl="2"/>
                <a:r>
                  <a:rPr lang="en-US" dirty="0"/>
                  <a:t>The MI measures how much uncertainty about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dirty="0"/>
                  <a:t> is reduced after observing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9CB4E0-D0AC-9C82-48B6-67F3473E9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A354DD-1A13-A2BD-EA8C-78FD7CC1D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27790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22FEA-11F5-EFCA-4358-7C01FCA1B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853BC3-35B0-5068-48BD-9C182911B0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Performance Metrices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Radar Detection Mutual Information</a:t>
                </a:r>
              </a:p>
              <a:p>
                <a:pPr lvl="2"/>
                <a:r>
                  <a:rPr lang="en-US" dirty="0"/>
                  <a:t>The radar detection MI is defined as: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It measures how much information the radar can learn about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given the transmitted radar signal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1+ 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Sup>
                                          <m:sSubSup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b="1" i="0" smtClean="0">
                                                <a:latin typeface="Cambria Math" panose="02040503050406030204" pitchFamily="18" charset="0"/>
                                              </a:rPr>
                                              <m:t>𝐡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𝑇</m:t>
                                            </m:r>
                                          </m:sub>
                                          <m:sup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𝐻</m:t>
                                            </m:r>
                                          </m:sup>
                                        </m:sSubSup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1" i="0" smtClean="0">
                                                <a:latin typeface="Cambria Math" panose="02040503050406030204" pitchFamily="18" charset="0"/>
                                              </a:rPr>
                                              <m:t>𝐰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𝑅</m:t>
                                            </m:r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,0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‖"/>
                                        <m:endChr m:val="‖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1" i="0" smtClean="0">
                                                <a:latin typeface="Cambria Math" panose="02040503050406030204" pitchFamily="18" charset="0"/>
                                              </a:rPr>
                                              <m:t>𝐡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𝑇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Sup>
                                  <m:sSub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den>
                            </m:f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                                                              (6)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Radar MI with Detection and Communication</a:t>
                </a:r>
              </a:p>
              <a:p>
                <a:pPr lvl="2"/>
                <a:r>
                  <a:rPr lang="en-US" dirty="0"/>
                  <a:t>Radar Mutual Information under Joint Transmission</a:t>
                </a:r>
              </a:p>
              <a:p>
                <a:pPr lvl="2"/>
                <a:r>
                  <a:rPr lang="en-US" dirty="0"/>
                  <a:t>When the radar sends both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dirty="0"/>
                  <a:t>, the radar MI is: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1+ 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sSubSup>
                                  <m:sSub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1" i="0">
                                                <a:latin typeface="Cambria Math" panose="02040503050406030204" pitchFamily="18" charset="0"/>
                                              </a:rPr>
                                              <m:t>𝐰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𝑅</m:t>
                                            </m:r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,0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‖"/>
                                        <m:endChr m:val="‖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1" i="0" smtClean="0">
                                                <a:latin typeface="Cambria Math" panose="02040503050406030204" pitchFamily="18" charset="0"/>
                                              </a:rPr>
                                              <m:t>𝐡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𝑇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Sup>
                                          <m:sSubSup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b="1" i="0" smtClean="0">
                                                <a:latin typeface="Cambria Math" panose="02040503050406030204" pitchFamily="18" charset="0"/>
                                              </a:rPr>
                                              <m:t>𝐡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𝑇</m:t>
                                            </m:r>
                                          </m:sub>
                                          <m:sup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𝐻</m:t>
                                            </m:r>
                                          </m:sup>
                                        </m:sSubSup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1" i="0" smtClean="0">
                                                <a:latin typeface="Cambria Math" panose="02040503050406030204" pitchFamily="18" charset="0"/>
                                              </a:rPr>
                                              <m:t>𝐰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𝑅</m:t>
                                            </m:r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,1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‖"/>
                                        <m:endChr m:val="‖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1" i="0" smtClean="0">
                                                <a:latin typeface="Cambria Math" panose="02040503050406030204" pitchFamily="18" charset="0"/>
                                              </a:rPr>
                                              <m:t>𝐡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𝑇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Sup>
                                  <m:sSub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sub>
                                    </m:sSub>
                                  </m:sub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den>
                            </m:f>
                          </m:e>
                        </m:d>
                      </m:e>
                    </m:func>
                  </m:oMath>
                </a14:m>
                <a:r>
                  <a:rPr lang="en-US" dirty="0"/>
                  <a:t>                                                                                 (7)</a:t>
                </a:r>
              </a:p>
              <a:p>
                <a:pPr lvl="2"/>
                <a:r>
                  <a:rPr lang="en-US" dirty="0"/>
                  <a:t>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</m:oMath>
                </a14:m>
                <a:r>
                  <a:rPr lang="en-US" dirty="0"/>
                  <a:t> gain improves MI</a:t>
                </a:r>
              </a:p>
              <a:p>
                <a:pPr lvl="2"/>
                <a:r>
                  <a:rPr lang="en-US" dirty="0"/>
                  <a:t>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</m:oMath>
                </a14:m>
                <a:r>
                  <a:rPr lang="en-US" dirty="0"/>
                  <a:t> leakage toward target reduces MI</a:t>
                </a:r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853BC3-35B0-5068-48BD-9C182911B0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3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575CD8-F0F7-6398-3BDC-D6A143827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07427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8C492-B646-01E7-4B0B-819A89D32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A9F92B-DE06-07C2-8325-5248C914BF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Performance Metrices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Radar MI with Detection and Communication</a:t>
                </a:r>
              </a:p>
              <a:p>
                <a:pPr lvl="2"/>
                <a:r>
                  <a:rPr lang="en-US" dirty="0"/>
                  <a:t>Bob Achievable Communication Rate</a:t>
                </a:r>
              </a:p>
              <a:p>
                <a:pPr lvl="2"/>
                <a:r>
                  <a:rPr lang="en-US" dirty="0"/>
                  <a:t>Based on Bob’s received signal in (5), the achievable rate is: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1+ 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Sup>
                                          <m:sSubSup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b="1" i="0" smtClean="0">
                                                <a:latin typeface="Cambria Math" panose="02040503050406030204" pitchFamily="18" charset="0"/>
                                              </a:rPr>
                                              <m:t>𝐡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sub>
                                          <m:sup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𝐻</m:t>
                                            </m:r>
                                          </m:sup>
                                        </m:sSubSup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1" i="0" smtClean="0">
                                                <a:latin typeface="Cambria Math" panose="02040503050406030204" pitchFamily="18" charset="0"/>
                                              </a:rPr>
                                              <m:t>𝐰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𝑅</m:t>
                                            </m:r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,1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Sup>
                                          <m:sSubSup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b="1" i="0" smtClean="0">
                                                <a:latin typeface="Cambria Math" panose="02040503050406030204" pitchFamily="18" charset="0"/>
                                              </a:rPr>
                                              <m:t>𝐡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sub>
                                          <m:sup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𝐻</m:t>
                                            </m:r>
                                          </m:sup>
                                        </m:sSubSup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1" i="0" smtClean="0">
                                                <a:latin typeface="Cambria Math" panose="02040503050406030204" pitchFamily="18" charset="0"/>
                                              </a:rPr>
                                              <m:t>𝐰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𝑅</m:t>
                                            </m:r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,0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Sup>
                                  <m:sSub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den>
                            </m:f>
                          </m:e>
                        </m:d>
                      </m:e>
                    </m:func>
                  </m:oMath>
                </a14:m>
                <a:r>
                  <a:rPr lang="en-US" dirty="0"/>
                  <a:t>                                                        (8)</a:t>
                </a:r>
              </a:p>
              <a:p>
                <a:pPr lvl="3"/>
                <a:r>
                  <a:rPr lang="en-US" dirty="0"/>
                  <a:t>Bob wants strong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dirty="0"/>
                  <a:t> and weak interference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A9F92B-DE06-07C2-8325-5248C914BF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F9D23D-018B-85FA-FB2B-52A1D1F45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3693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62A44-6566-EF7A-4F08-E6F43AF12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CD0B0D-5989-BC4D-BDF5-47E26B981C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Covert Detection Model at Willie</a:t>
                </a:r>
              </a:p>
              <a:p>
                <a:pPr lvl="1"/>
                <a:r>
                  <a:rPr lang="en-US" dirty="0"/>
                  <a:t>Willie observes the received signal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r>
                  <a:rPr lang="en-US" dirty="0"/>
                  <a:t> and decides whether the radar is only sensing or also communicating with Bob.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</m:eqArr>
                      </m:e>
                    </m:d>
                    <m:m>
                      <m:mPr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 </m:t>
                              </m:r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mr>
                      <m:m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mr>
                    </m:m>
                  </m:oMath>
                </a14:m>
                <a:r>
                  <a:rPr lang="en-US" dirty="0"/>
                  <a:t>                                                                    (9)</a:t>
                </a:r>
              </a:p>
              <a:p>
                <a:pPr lvl="1"/>
                <a:r>
                  <a:rPr lang="en-US" dirty="0"/>
                  <a:t>Where: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Define an effective received beamforming gains at Willie as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≜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≜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: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: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Assume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and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and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are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independent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CD0B0D-5989-BC4D-BDF5-47E26B981C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0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1AC871-B1B4-5599-51C5-A6617DD26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86380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5E44D-7E7C-7F3E-6A80-3101A787A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FD8CBD-114B-9642-2317-0E73B6107C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9691"/>
                <a:ext cx="10515600" cy="5015362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Covert Detection Model at Willie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Likelihood Functions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and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endParaRPr lang="en-US" dirty="0"/>
              </a:p>
              <a:p>
                <a:pPr lvl="3"/>
                <a:r>
                  <a:rPr lang="en-US" dirty="0">
                    <a:solidFill>
                      <a:srgbClr val="0070C0"/>
                    </a:solidFill>
                  </a:rPr>
                  <a:t>The variance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 is 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 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Using independence,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{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4"/>
                <a:r>
                  <a:rPr lang="en-US" dirty="0"/>
                  <a:t>Therefore,</a:t>
                </a:r>
              </a:p>
              <a:p>
                <a:pPr lvl="5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For a scalar complex Gaussian random variable,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Its probability density function is 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𝜋𝜆</m:t>
                        </m:r>
                      </m:den>
                    </m:f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Thus,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𝑊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r>
                  <a:rPr lang="en-US" dirty="0"/>
                  <a:t>                                                (10a)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FD8CBD-114B-9642-2317-0E73B6107C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9691"/>
                <a:ext cx="10515600" cy="5015362"/>
              </a:xfrm>
              <a:blipFill>
                <a:blip r:embed="rId2"/>
                <a:stretch>
                  <a:fillRect l="-522" t="-1217" b="-6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467A80-D91B-6043-D331-4FA612C58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68108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70602-7704-6E72-6497-6D25E9FFF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A2FC70-6E2D-E4AE-E4C9-97509A157D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Covert Detection Model at Willie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Likelihood Functions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and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>
                    <a:solidFill>
                      <a:srgbClr val="0070C0"/>
                    </a:solidFill>
                  </a:rPr>
                  <a:t>The variance is 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 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Using independence,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=1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and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Therefore,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Hence,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𝑊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r>
                  <a:rPr lang="en-US" dirty="0"/>
                  <a:t>                                                                              (10b)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A2FC70-6E2D-E4AE-E4C9-97509A157D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7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0861D-A2F6-1968-1A17-6D04DDB76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80099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AB402-BB5D-C2D7-4272-A78C2AA12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1910E3-8749-695B-ACD2-655AD7F260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KL Divergence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solidFill>
                      <a:srgbClr val="0000FF"/>
                    </a:solidFill>
                  </a:rPr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Derivation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The KL divergence is defined as 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𝑊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𝑊</m:t>
                                        </m:r>
                                      </m:sub>
                                    </m:sSub>
                                  </m:e>
                                </m:d>
                              </m:den>
                            </m:f>
                          </m:e>
                        </m:func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Using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en-US" dirty="0"/>
                  <a:t>,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exp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𝑊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</m:func>
                      </m:num>
                      <m:den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exp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𝑊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</m:func>
                      </m:den>
                    </m:f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𝑊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𝑊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Taking logarithm,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e>
                            </m:d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=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𝑊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𝑊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</m:fun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𝑊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−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</m:func>
                      </m:e>
                    </m:func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𝑊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−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We obtain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 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−1 </m:t>
                        </m:r>
                      </m:e>
                    </m:func>
                  </m:oMath>
                </a14:m>
                <a:r>
                  <a:rPr lang="en-US" dirty="0"/>
                  <a:t>                         (11a)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1910E3-8749-695B-ACD2-655AD7F260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45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C1DCBA-BB95-2D0A-22D9-D50BD6AC2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43929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CCC60-FD36-C5CC-3E1F-815913374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7FF6FD-AE2A-A209-8F38-5142E209E3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KL Divergence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solidFill>
                      <a:srgbClr val="0000FF"/>
                    </a:solidFill>
                  </a:rPr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Derivation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Similarly,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𝑊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</m:func>
                      </m:e>
                    </m:nary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en-US" dirty="0"/>
                  <a:t>,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exp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𝑊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</m:func>
                      </m:num>
                      <m:den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exp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𝑊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</m:func>
                      </m:den>
                    </m:f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𝑊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𝑊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Taking logarithm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7FF6FD-AE2A-A209-8F38-5142E209E3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5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522D7A-1FB7-9DD9-1CEF-086498552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37564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AFD45-3842-1007-6723-67F44BBD5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F1216A-EAB9-CFA4-4BE6-013FA7953F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KL Divergence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solidFill>
                      <a:srgbClr val="0000FF"/>
                    </a:solidFill>
                  </a:rPr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Derivation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We obtain,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+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−1</m:t>
                        </m:r>
                      </m:e>
                    </m:func>
                  </m:oMath>
                </a14:m>
                <a:endParaRPr lang="en-US" b="1" dirty="0"/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Covert Constraint Interpretation</a:t>
                </a:r>
              </a:p>
              <a:p>
                <a:pPr lvl="1"/>
                <a:r>
                  <a:rPr lang="en-US" dirty="0"/>
                  <a:t>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(11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en-US" dirty="0"/>
                  <a:t>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+ 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−1 </m:t>
                        </m:r>
                      </m:e>
                    </m:func>
                  </m:oMath>
                </a14:m>
                <a:r>
                  <a:rPr lang="en-US" dirty="0"/>
                  <a:t>                                                                                            (11a)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 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 −1</m:t>
                        </m:r>
                      </m:e>
                    </m:func>
                  </m:oMath>
                </a14:m>
                <a:r>
                  <a:rPr lang="en-US" dirty="0"/>
                  <a:t>                                                                                             (11b)</a:t>
                </a:r>
              </a:p>
              <a:p>
                <a:pPr lvl="2"/>
                <a:r>
                  <a:rPr lang="en-US" dirty="0"/>
                  <a:t>Where,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F1216A-EAB9-CFA4-4BE6-013FA7953F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F9B198-4F17-429E-F81E-F069E9E1D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53701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2A0EA-BEA7-4873-71A6-F69D6975A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B285D1-721A-5298-9DA5-EB80499ED5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Covert Constraint Interpretation</a:t>
                </a:r>
              </a:p>
              <a:p>
                <a:pPr lvl="1"/>
                <a:r>
                  <a:rPr lang="en-US" dirty="0"/>
                  <a:t>The communication beamformer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</m:oMath>
                </a14:m>
                <a:r>
                  <a:rPr lang="en-US" dirty="0"/>
                  <a:t> affects Willie through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If this term is small, then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And therefore,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0,    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Thus, Willie’s received signal distribution under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become very similar.</a:t>
                </a:r>
              </a:p>
              <a:p>
                <a:pPr lvl="1"/>
                <a:r>
                  <a:rPr lang="en-US" dirty="0"/>
                  <a:t>Small KL divergence means better covertness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B285D1-721A-5298-9DA5-EB80499ED5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B4E46D-E3CF-B55C-51DE-CEED835E3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5566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83043-3095-2440-9FB4-35A678313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61AAD-A516-E0EA-8579-25C56A64AF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9690"/>
                <a:ext cx="10515600" cy="5153781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Willie’s Detection Decisions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Willie makes a binary decision </a:t>
                </a:r>
              </a:p>
              <a:p>
                <a:pPr lvl="2"/>
                <a:r>
                  <a:rPr lang="en-US" dirty="0"/>
                  <a:t>Radar only</a:t>
                </a:r>
              </a:p>
              <a:p>
                <a:pPr lvl="2"/>
                <a:r>
                  <a:rPr lang="en-US" dirty="0"/>
                  <a:t>Radar plus communication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In covert detection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Willie decides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 meaning communication exists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Willie decides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, meaning radar-only transmission</a:t>
                </a:r>
              </a:p>
              <a:p>
                <a:pPr lvl="1"/>
                <a:r>
                  <a:rPr lang="en-US" dirty="0"/>
                  <a:t>So: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false alarm, because Willie says communication exits when it does not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missed detection, because Willie says no communication when communication exits</a:t>
                </a:r>
              </a:p>
              <a:p>
                <a:pPr lvl="1"/>
                <a:r>
                  <a:rPr lang="en-US" dirty="0"/>
                  <a:t>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                                                           (12)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Applyin the Neyman-Pearson criterion</a:t>
                </a:r>
              </a:p>
              <a:p>
                <a:pPr lvl="2"/>
                <a:r>
                  <a:rPr lang="en-US" dirty="0"/>
                  <a:t>Willie has two possible distribution: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under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under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/>
                  <a:t>To make the best decision, Willie compares the likelihood ratio: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</m:d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61AAD-A516-E0EA-8579-25C56A64AF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9690"/>
                <a:ext cx="10515600" cy="5153781"/>
              </a:xfrm>
              <a:blipFill>
                <a:blip r:embed="rId2"/>
                <a:stretch>
                  <a:fillRect l="-522" t="-1183" b="-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16131-CAD7-B780-5646-808F23411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1824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65235-5EDE-DFED-9030-1DFB0CEDA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8296BE-F900-010C-DF11-4FD2C9B726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Willie’s Detection Decisions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Applyin the Neyman-Pearson criterion</a:t>
                </a:r>
              </a:p>
              <a:p>
                <a:pPr lvl="2"/>
                <a:r>
                  <a:rPr lang="en-US" dirty="0"/>
                  <a:t>If this ratio is large,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r>
                  <a:rPr lang="en-US" dirty="0"/>
                  <a:t> is more likely generated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If this ratio is small,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r>
                  <a:rPr lang="en-US" dirty="0"/>
                  <a:t> is more likely generated form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Since the paper assumes equal prior probabilities: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likelihood ratio threshold becomes 1. Therefore: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≷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1</m:t>
                    </m:r>
                  </m:oMath>
                </a14:m>
                <a:r>
                  <a:rPr lang="en-US" dirty="0"/>
                  <a:t>                                                                                     (13)</a:t>
                </a:r>
              </a:p>
              <a:p>
                <a:pPr lvl="3"/>
                <a:r>
                  <a:rPr lang="en-US" dirty="0"/>
                  <a:t>If </a:t>
                </a:r>
              </a:p>
              <a:p>
                <a:pPr lvl="4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&gt;1 ⇒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If </a:t>
                </a:r>
              </a:p>
              <a:p>
                <a:pPr lvl="4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&lt;1 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8296BE-F900-010C-DF11-4FD2C9B726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C297-98DA-8367-10E0-987356BCC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70386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C32D-4BEA-1E16-50EE-233686C50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2D5023-8366-D3C7-8453-F947DA9662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Willie’s Detection Decisions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Willie’s Optimal Threshold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From Eq.(10):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𝑊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𝑊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Now compute the likelihood ratio: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exp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𝑊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</m:func>
                      </m:num>
                      <m:den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exp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𝑊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</m:func>
                      </m:den>
                    </m:f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𝑊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𝑊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𝑊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−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decision rule is: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𝑊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−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2D5023-8366-D3C7-8453-F947DA9662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54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A725B8-A058-ACDF-185D-BA2E4280B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83238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A2022-E4D7-EA84-BD36-AB8CEE546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871D23-6ABB-13AA-66A1-8CE920D675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Willie’s Detection Decisions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Willie’s Optimal Threshold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p>
                        <m: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e>
                    </m:func>
                  </m:oMath>
                </a14:m>
                <a:r>
                  <a:rPr lang="en-US" dirty="0"/>
                  <a:t>                                                          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[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multiply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by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ln</m:t>
                    </m:r>
                  </m:oMath>
                </a14:m>
                <a:r>
                  <a:rPr lang="en-US" dirty="0"/>
                  <a:t>]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func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Now simplify:</a:t>
                </a:r>
              </a:p>
              <a:p>
                <a:pPr lvl="3"/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&gt; 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</m:num>
                      <m:den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den>
                    </m:f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&gt; 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func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So, the optimal detection threshold is :</a:t>
                </a:r>
              </a:p>
              <a:p>
                <a:pPr lvl="4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func>
                  </m:oMath>
                </a14:m>
                <a:r>
                  <a:rPr lang="en-US" dirty="0"/>
                  <a:t>                                                        (15)</a:t>
                </a:r>
              </a:p>
              <a:p>
                <a:pPr lvl="3"/>
                <a:r>
                  <a:rPr lang="en-US" dirty="0"/>
                  <a:t>Thus, equation (14) becomes:</a:t>
                </a:r>
              </a:p>
              <a:p>
                <a:pPr lvl="4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≷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b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871D23-6ABB-13AA-66A1-8CE920D675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95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5987D4-495A-19D5-01AA-3BF42DC0A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6084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B41C3-92DD-050E-5058-637176718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13AC06-C467-F9C9-F548-78FEF54BC1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Willie’s Detection Decisions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CDF of Willie’s Received Power</a:t>
                </a:r>
              </a:p>
              <a:p>
                <a:pPr lvl="2"/>
                <a:r>
                  <a:rPr lang="en-US" dirty="0"/>
                  <a:t>From (10),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For a complex Gaussian random variable: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 magnitude square variable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Follows an exponential variable with mean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den>
                    </m:f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 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 the CDF is 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den>
                        </m:f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exp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=1 −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exp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</m:e>
                    </m:nary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So,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)=1 −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exp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⁡ (−</m:t>
                    </m:r>
                    <m:f>
                      <m:f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num>
                      <m:den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  </m:t>
                    </m:r>
                  </m:oMath>
                </a14:m>
                <a:r>
                  <a:rPr lang="en-US" dirty="0"/>
                  <a:t>                                                              (16a)</a:t>
                </a:r>
              </a:p>
              <a:p>
                <a:pPr lvl="2"/>
                <a:r>
                  <a:rPr lang="en-US" dirty="0"/>
                  <a:t>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 =1 −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exp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 (−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13AC06-C467-F9C9-F548-78FEF54BC1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18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4669F7-E57E-1302-D84A-409C217C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17419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77F0A-F3C6-6088-09C0-6D83A0CAB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CDED22-9EBB-E212-D8D5-A10FC02BA0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9690"/>
                <a:ext cx="10515600" cy="5208309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Willie’s Detection Decisions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CDF of Willie’s Received Power</a:t>
                </a:r>
              </a:p>
              <a:p>
                <a:pPr lvl="2"/>
                <a:r>
                  <a:rPr lang="en-US" dirty="0"/>
                  <a:t>In this paper, the write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So,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𝑊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dirty="0"/>
                  <a:t>                                                                                  (16a)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=1 −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𝑊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r>
                  <a:rPr lang="en-US" dirty="0"/>
                  <a:t>                                                                                 (16b)</a:t>
                </a:r>
              </a:p>
              <a:p>
                <a:pPr lvl="1"/>
                <a:r>
                  <a:rPr lang="en-US" dirty="0">
                    <a:solidFill>
                      <a:srgbClr val="002060"/>
                    </a:solidFill>
                  </a:rPr>
                  <a:t>False Alarm Probability</a:t>
                </a:r>
              </a:p>
              <a:p>
                <a:pPr lvl="2"/>
                <a:r>
                  <a:rPr lang="en-US" dirty="0"/>
                  <a:t>False alarm means willie decides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Using the exponential tail probability: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We get: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=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exp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 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ln</m:t>
                                    </m:r>
                                  </m:fName>
                                  <m:e>
                                    <m:f>
                                      <m:f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𝜆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𝜆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func>
                              </m:e>
                            </m:d>
                          </m:e>
                        </m:func>
                      </m:e>
                    </m:func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Using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𝑎𝑙𝑛𝑏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CDED22-9EBB-E212-D8D5-A10FC02BA0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9690"/>
                <a:ext cx="10515600" cy="5208309"/>
              </a:xfrm>
              <a:blipFill>
                <a:blip r:embed="rId2"/>
                <a:stretch>
                  <a:fillRect l="-522" t="-1171" b="-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561A10-C52E-9AE6-9EA8-0BEE8A79D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5182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32548-EDA5-8237-40F3-F06F2C3B8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D05F77-D308-95EE-4B3F-576F0E3A6F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Willie’s Detection Decisions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Miss Detection Probability</a:t>
                </a:r>
              </a:p>
              <a:p>
                <a:pPr lvl="2"/>
                <a:r>
                  <a:rPr lang="en-US" dirty="0"/>
                  <a:t>Missed detection means willie decides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Using the CDF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=1 −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=1 −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exp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ln</m:t>
                                    </m:r>
                                  </m:fName>
                                  <m:e>
                                    <m:f>
                                      <m:f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𝜆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𝜆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func>
                              </m:e>
                            </m:d>
                          </m:e>
                        </m:func>
                      </m:e>
                    </m:func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=1 −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beamforming design should make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small so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Willie cannot reliably distinguish the two hypotheses.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D05F77-D308-95EE-4B3F-576F0E3A6F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4017CB-3FD5-AF5E-0F3A-503951750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56296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828-C350-D746-8997-EC214AE25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6D989-4927-6137-DE76-0AAAB43131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Definition of Covert Constraint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Covert requirement</a:t>
                </a:r>
              </a:p>
              <a:p>
                <a:pPr lvl="2"/>
                <a:r>
                  <a:rPr lang="en-US" dirty="0"/>
                  <a:t>Covert communication must make Willie’s best detector unreliable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≥1 − 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ϵ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Where: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Minimum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detection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error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Willie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can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achive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means stricter covertness.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Detection Error and Total Variation</a:t>
                </a:r>
              </a:p>
              <a:p>
                <a:pPr lvl="2"/>
                <a:r>
                  <a:rPr lang="en-US" dirty="0"/>
                  <a:t>Willie’s optimal detection error is linked to total variation distance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=1 −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                                                                               (17)</a:t>
                </a:r>
              </a:p>
              <a:p>
                <a:pPr lvl="2"/>
                <a:r>
                  <a:rPr lang="en-US" dirty="0"/>
                  <a:t>The covert requirement is: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≥1 −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ϵ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Substitute (17):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1 −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≥1 −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6D989-4927-6137-DE76-0AAAB43131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0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AA194-5D7F-8931-370F-B7484D7EB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9706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AFFFE-F551-E865-F7D8-7C156CC7A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009FEF-938F-74FA-485C-A9658AE47E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Definition of Covert Constraint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Why  Pinsker’s Inequality is Needed</a:t>
                </a:r>
              </a:p>
              <a:p>
                <a:pPr lvl="2"/>
                <a:r>
                  <a:rPr lang="en-US" dirty="0"/>
                  <a:t>Total variation distance is difficult to optimize directly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This absolute-value integral is not convenient for beamforming optimization</a:t>
                </a:r>
              </a:p>
              <a:p>
                <a:pPr lvl="2"/>
                <a:r>
                  <a:rPr lang="en-US" dirty="0"/>
                  <a:t>So, the paper uses Pinsker’s inequality: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 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</m:rad>
                  </m:oMath>
                </a14:m>
                <a:r>
                  <a:rPr lang="en-US" dirty="0"/>
                  <a:t>                                                             (18a)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rad>
                  </m:oMath>
                </a14:m>
                <a:r>
                  <a:rPr lang="en-US" dirty="0"/>
                  <a:t>                                                               (18b)</a:t>
                </a:r>
              </a:p>
              <a:p>
                <a:pPr lvl="2"/>
                <a:endParaRPr lang="en-US" dirty="0"/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009FEF-938F-74FA-485C-A9658AE47E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725255-909D-A3E9-2D5E-1D2F8F16A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11374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D0E27-3F5E-1AE9-A207-2D48FA13E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DC867B-A938-8EA7-69ED-3D86349E83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Definition of Covert Constraint</a:t>
                </a:r>
                <a:endParaRPr lang="en-US" dirty="0"/>
              </a:p>
              <a:p>
                <a:pPr lvl="1"/>
                <a:r>
                  <a:rPr lang="en-US" dirty="0"/>
                  <a:t>From Pinsker to KL-Based Covert Constraint</a:t>
                </a:r>
              </a:p>
              <a:p>
                <a:pPr lvl="2"/>
                <a:r>
                  <a:rPr lang="en-US" dirty="0"/>
                  <a:t>Small KL divergence guarantees small total variation distance</a:t>
                </a:r>
              </a:p>
              <a:p>
                <a:pPr lvl="3"/>
                <a:r>
                  <a:rPr lang="en-US" dirty="0"/>
                  <a:t>To guarantee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It is sufficient to impose:</a:t>
                </a:r>
              </a:p>
              <a:p>
                <a:pPr lvl="4"/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rad>
                  </m:oMath>
                </a14:m>
                <a:endParaRPr lang="en-US" dirty="0"/>
              </a:p>
              <a:p>
                <a:pPr lvl="4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4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≤2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                                                                                                 (19a)</a:t>
                </a:r>
              </a:p>
              <a:p>
                <a:pPr lvl="3"/>
                <a:r>
                  <a:rPr lang="en-US" dirty="0"/>
                  <a:t>Similarly,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≤2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                                                                                                  (19b)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DC867B-A938-8EA7-69ED-3D86349E83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A95680-4044-D39E-EAC8-C63EC52A4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49761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AF14A-3EC4-8ED3-96B9-EBB667A6F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00FEBF-446D-514C-0EBA-D16F3FDB70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Final Interpretation</a:t>
                </a:r>
              </a:p>
              <a:p>
                <a:pPr lvl="1"/>
                <a:r>
                  <a:rPr lang="en-US" dirty="0"/>
                  <a:t>The covert constraint is finally expressed using KL divergence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≤2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≤2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From Eq.(11), these KL divergence depend on: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And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Depend on:</a:t>
                </a:r>
              </a:p>
              <a:p>
                <a:pPr lvl="3"/>
                <a:r>
                  <a:rPr lang="en-US" dirty="0"/>
                  <a:t>Beamforming vectors</a:t>
                </a:r>
              </a:p>
              <a:p>
                <a:pPr lvl="3"/>
                <a:r>
                  <a:rPr lang="en-US" dirty="0"/>
                  <a:t>Willie’s channel</a:t>
                </a:r>
              </a:p>
              <a:p>
                <a:pPr lvl="3"/>
                <a:r>
                  <a:rPr lang="en-US" dirty="0"/>
                  <a:t>Receiver noise</a:t>
                </a:r>
              </a:p>
              <a:p>
                <a:pPr lvl="2"/>
                <a:r>
                  <a:rPr lang="en-US" dirty="0"/>
                  <a:t>So, the covert beamforming design becomes mathematically tractable.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00FEBF-446D-514C-0EBA-D16F3FDB70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A9FD8-5E78-40A2-159F-433281AFB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63461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5DABD-7612-1255-BEB7-5830059F6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Formulation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E2C95C-6EB7-3239-1AC8-A78212AD79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Problem Formulation Overview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Joint transmission creates two objectives:</a:t>
                </a:r>
              </a:p>
              <a:p>
                <a:pPr lvl="2"/>
                <a:r>
                  <a:rPr lang="en-US" dirty="0"/>
                  <a:t>Radar sensing performance</a:t>
                </a:r>
              </a:p>
              <a:p>
                <a:pPr lvl="2"/>
                <a:r>
                  <a:rPr lang="en-US" dirty="0"/>
                  <a:t>Bob’s communication rate</a:t>
                </a:r>
              </a:p>
              <a:p>
                <a:pPr lvl="1"/>
                <a:r>
                  <a:rPr lang="en-US" dirty="0"/>
                  <a:t>When radar performs detection and communication simultaneously, the goal is to improve: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Therefore, the paper formulates two optimization problems:</a:t>
                </a:r>
              </a:p>
              <a:p>
                <a:pPr lvl="2"/>
                <a:r>
                  <a:rPr lang="en-US" dirty="0"/>
                  <a:t>Radar MI maximization</a:t>
                </a:r>
              </a:p>
              <a:p>
                <a:pPr lvl="2"/>
                <a:r>
                  <a:rPr lang="en-US" dirty="0"/>
                  <a:t>Communication rate maximization</a:t>
                </a:r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E2C95C-6EB7-3239-1AC8-A78212AD79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F4B9AF-726A-54DC-55B2-7EFFE86D2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23546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925B7-2385-88CF-0447-C0B9A8FA2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Formulation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235EA9-2A07-F4FB-524E-6277EC2DB0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MI Maximization Problem</a:t>
                </a:r>
              </a:p>
              <a:p>
                <a:pPr lvl="1"/>
                <a:r>
                  <a:rPr lang="en-US" dirty="0"/>
                  <a:t>Maximize radar sensing information while guaranteeing Bob’s rate and covertness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 </m:t>
                        </m:r>
                        <m:r>
                          <m:rPr>
                            <m:nor/>
                          </m:rPr>
                          <a:rPr lang="en-US" i="0" dirty="0"/>
                          <m:t> </m:t>
                        </m:r>
                      </m:e>
                    </m:func>
                  </m:oMath>
                </a14:m>
                <a:r>
                  <a:rPr lang="en-US" dirty="0"/>
                  <a:t>                                                                                                (20a)</a:t>
                </a:r>
              </a:p>
              <a:p>
                <a:pPr lvl="2"/>
                <a:r>
                  <a:rPr lang="en-US" dirty="0"/>
                  <a:t>Subject to: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                                                                                            (20b)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</m:oMath>
                </a14:m>
                <a:r>
                  <a:rPr lang="en-US" dirty="0"/>
                  <a:t>                                                                               (20c)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19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19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Where: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minimum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communication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rate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requirement</m:t>
                    </m:r>
                  </m:oMath>
                </a14:m>
                <a:endParaRPr lang="en-US" b="1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maximum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radar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transmit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power</m:t>
                    </m:r>
                  </m:oMath>
                </a14:m>
                <a:endParaRPr lang="en-US" b="1" dirty="0"/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19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19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KL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Based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covert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constraint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3"/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235EA9-2A07-F4FB-524E-6277EC2DB0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31CBA2-84A0-9E89-A83A-34CA896BD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25482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2D49D-6EE7-84D4-214C-0439B3619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Formulation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822115-8248-3571-6C9E-E0B3C7D400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Rate Maximization Problem</a:t>
                </a:r>
              </a:p>
              <a:p>
                <a:pPr lvl="1"/>
                <a:r>
                  <a:rPr lang="en-US" dirty="0"/>
                  <a:t>Maximize Bob’s covert rate while guaranteeing radar sensing performance and covert communication</a:t>
                </a: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dirty="0"/>
                  <a:t>                                                                                  (21a)</a:t>
                </a:r>
              </a:p>
              <a:p>
                <a:pPr lvl="1"/>
                <a:r>
                  <a:rPr lang="en-US" dirty="0"/>
                  <a:t>Subject to: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                                                                                                  (21b)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</m:oMath>
                </a14:m>
                <a:r>
                  <a:rPr lang="en-US" dirty="0"/>
                  <a:t>                                                                                 (21c)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19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(19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Where: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minimum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radar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MI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requirement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maximum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radar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transmit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power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19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or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19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covert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constraint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822115-8248-3571-6C9E-E0B3C7D400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370BA-1388-87FB-967B-25FC7456C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032107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F12C9-C91D-0AE5-FB8E-FFEC5ADAF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Formulation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4186EF-C2C5-E99E-B79D-B12567C90E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Interpretation and Tradeoff</a:t>
                </a:r>
              </a:p>
              <a:p>
                <a:pPr lvl="1"/>
                <a:r>
                  <a:rPr lang="en-US" dirty="0"/>
                  <a:t>The beamformer must split power between sensing and communication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Supports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radar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detection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signal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Supports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communication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signal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Increasing radar MI usually requires more power / gain for sensing</a:t>
                </a:r>
              </a:p>
              <a:p>
                <a:pPr lvl="1"/>
                <a:r>
                  <a:rPr lang="en-US" dirty="0"/>
                  <a:t>Increasing Bob’s rate usually requires more power/gain for communication</a:t>
                </a:r>
              </a:p>
              <a:p>
                <a:pPr lvl="1"/>
                <a:r>
                  <a:rPr lang="en-US" dirty="0"/>
                  <a:t>But both must satisfy: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≤2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or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≤2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This is a tradeoff between radar MI and covert communication rate</a:t>
                </a:r>
              </a:p>
              <a:p>
                <a:pPr lvl="2"/>
                <a:endParaRPr lang="en-US" dirty="0"/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4186EF-C2C5-E99E-B79D-B12567C90E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3A974F-DCD0-4898-E963-282B21B3F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8338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C3171-76CD-C51D-9290-389015AA8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6BE3E9-A10D-5D26-B436-C69C3F0EE7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Perfect WCSI</a:t>
                </a:r>
              </a:p>
              <a:p>
                <a:pPr lvl="1"/>
                <a:r>
                  <a:rPr lang="en-US" dirty="0"/>
                  <a:t>The radar knows Willie’s channel exactly: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So, the radar can design the communication beamformer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</m:oMath>
                </a14:m>
                <a:r>
                  <a:rPr lang="en-US" dirty="0"/>
                  <a:t> in a way that Wille receives no communication signal.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Covert constraint becomes zero</a:t>
                </a:r>
              </a:p>
              <a:p>
                <a:pPr lvl="2"/>
                <a:r>
                  <a:rPr lang="en-US" dirty="0"/>
                  <a:t>Covert constraint was: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≤2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or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≤2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But with perfect Willie CSI, they want perfect covertness, so they set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KL divergence becomes zero only when: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Meaning Willie’s received distribution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must be the same.</a:t>
                </a:r>
              </a:p>
              <a:p>
                <a:pPr lvl="3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6BE3E9-A10D-5D26-B436-C69C3F0EE7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41AF0-1974-735F-1936-A9FD531BA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84117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17A1A-293C-1145-27E9-1A446A2E7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32A57C-618D-1E81-319C-2BFD4DE970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Perfect WCSI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Covert constraint becomes zero</a:t>
                </a:r>
              </a:p>
              <a:p>
                <a:pPr lvl="2"/>
                <a:r>
                  <a:rPr lang="en-US" dirty="0"/>
                  <a:t>We know,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For perfect covertness: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So,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=0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So, the communication beamformer is orthogonal to Willie’s channel.</a:t>
                </a:r>
              </a:p>
              <a:p>
                <a:pPr lvl="2"/>
                <a:r>
                  <a:rPr lang="en-US" dirty="0"/>
                  <a:t>The communication signal is placed in Willie’s null space.</a:t>
                </a:r>
              </a:p>
              <a:p>
                <a:pPr lvl="3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32A57C-618D-1E81-319C-2BFD4DE970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478544-19E7-0120-F1D9-485056B30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06502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83C76-D5DA-FEDE-46C8-0355A8986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965EDF-DF5E-0D79-172B-5E0B520F6F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Perfect WCSI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MI maximization problem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1+ 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𝛼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b="1" i="0" smtClean="0">
                                                    <a:latin typeface="Cambria Math" panose="02040503050406030204" pitchFamily="18" charset="0"/>
                                                  </a:rPr>
                                                  <m:t>𝐡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𝑇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𝑊</m:t>
                                                </m:r>
                                              </m:sup>
                                            </m:sSubSup>
                                            <m:sSub>
                                              <m:sSub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b="1" i="0" smtClean="0">
                                                    <a:latin typeface="Cambria Math" panose="02040503050406030204" pitchFamily="18" charset="0"/>
                                                  </a:rPr>
                                                  <m:t>𝐰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𝑅</m:t>
                                                </m:r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,0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begChr m:val="‖"/>
                                            <m:endChr m:val="‖"/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b="1" i="0" smtClean="0">
                                                    <a:latin typeface="Cambria Math" panose="02040503050406030204" pitchFamily="18" charset="0"/>
                                                  </a:rPr>
                                                  <m:t>𝐡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𝑇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𝛼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b="1" i="0" smtClean="0">
                                                    <a:latin typeface="Cambria Math" panose="02040503050406030204" pitchFamily="18" charset="0"/>
                                                  </a:rPr>
                                                  <m:t>𝐡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𝑇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sup>
                                            </m:sSubSup>
                                            <m:sSub>
                                              <m:sSub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b="1" i="0" smtClean="0">
                                                    <a:latin typeface="Cambria Math" panose="02040503050406030204" pitchFamily="18" charset="0"/>
                                                  </a:rPr>
                                                  <m:t>𝐰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𝑅</m:t>
                                                </m:r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,1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begChr m:val="‖"/>
                                            <m:endChr m:val="‖"/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b="1" i="0" smtClean="0">
                                                    <a:latin typeface="Cambria Math" panose="02040503050406030204" pitchFamily="18" charset="0"/>
                                                  </a:rPr>
                                                  <m:t>𝐡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𝑇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sub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den>
                                </m:f>
                              </m:e>
                            </m:d>
                          </m:e>
                        </m:func>
                      </m:e>
                    </m:func>
                  </m:oMath>
                </a14:m>
                <a:r>
                  <a:rPr lang="en-US" dirty="0"/>
                  <a:t>                                                           (23a) </a:t>
                </a:r>
              </a:p>
              <a:p>
                <a:pPr lvl="2"/>
                <a:r>
                  <a:rPr lang="en-US" dirty="0" err="1"/>
                  <a:t>s.t.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                                                                                                (23b)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𝐰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,1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𝐰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                                                                                                     (23c)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</m:oMath>
                </a14:m>
                <a:r>
                  <a:rPr lang="en-US" dirty="0"/>
                  <a:t>                                                                                    (23d)</a:t>
                </a:r>
              </a:p>
              <a:p>
                <a:pPr lvl="1"/>
                <a:r>
                  <a:rPr lang="en-US" dirty="0"/>
                  <a:t>Problem in simple words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radar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sensing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beamformer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covert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communication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beamformer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Such that:</a:t>
                </a:r>
              </a:p>
              <a:p>
                <a:pPr lvl="3"/>
                <a:r>
                  <a:rPr lang="en-US" dirty="0"/>
                  <a:t>Radar sensing MI is maximized</a:t>
                </a:r>
              </a:p>
              <a:p>
                <a:pPr lvl="3"/>
                <a:r>
                  <a:rPr lang="en-US" dirty="0"/>
                  <a:t>Bob receives enough communication quality</a:t>
                </a:r>
              </a:p>
              <a:p>
                <a:pPr lvl="3"/>
                <a:r>
                  <a:rPr lang="en-US" dirty="0"/>
                  <a:t>Willie receives zero communication signal</a:t>
                </a:r>
              </a:p>
              <a:p>
                <a:pPr lvl="3"/>
                <a:r>
                  <a:rPr lang="en-US" dirty="0"/>
                  <a:t>Total transmit power is limited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965EDF-DF5E-0D79-172B-5E0B520F6F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78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5518E3-8F59-782C-28FA-9EE22E2EC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28849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92B92-570D-28D9-9B38-04AA2E4F0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E8F33A-D0FF-F0E5-4509-E2C40B02CB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9690"/>
                <a:ext cx="10515600" cy="4889527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Covert Beamformer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Convert the non-convex MI maximization problem into a tractable form</a:t>
                </a:r>
              </a:p>
              <a:p>
                <a:pPr lvl="2"/>
                <a:r>
                  <a:rPr lang="en-US" dirty="0"/>
                  <a:t>Introduce auxiliary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</m:func>
                  </m:oMath>
                </a14:m>
                <a:r>
                  <a:rPr lang="en-US" dirty="0"/>
                  <a:t>                                                                                   (24a)</a:t>
                </a:r>
              </a:p>
              <a:p>
                <a:pPr lvl="3"/>
                <a:r>
                  <a:rPr lang="en-US" dirty="0"/>
                  <a:t>Subject to:</a:t>
                </a:r>
              </a:p>
              <a:p>
                <a:pPr lvl="4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𝐰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𝐰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,1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                                                        (24b)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Constraints in Problem (24)</a:t>
                </a:r>
              </a:p>
              <a:p>
                <a:pPr lvl="2"/>
                <a:r>
                  <a:rPr lang="en-US" dirty="0"/>
                  <a:t>The beamformers must satisfy covertness, Bob’s rate, and power limit</a:t>
                </a:r>
              </a:p>
              <a:p>
                <a:pPr lvl="2"/>
                <a:r>
                  <a:rPr lang="en-US" dirty="0"/>
                  <a:t>Perfect covertness: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                                                                                (24c)</a:t>
                </a:r>
              </a:p>
              <a:p>
                <a:pPr lvl="2"/>
                <a:r>
                  <a:rPr lang="en-US" dirty="0"/>
                  <a:t>Bob’s SINR requirement: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𝐰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,1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𝐰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                                                                               (24d)</a:t>
                </a:r>
              </a:p>
              <a:p>
                <a:pPr lvl="2"/>
                <a:r>
                  <a:rPr lang="en-US" dirty="0"/>
                  <a:t>Total power constraint: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</m:oMath>
                </a14:m>
                <a:r>
                  <a:rPr lang="en-US" dirty="0"/>
                  <a:t>                                                             (24e)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E8F33A-D0FF-F0E5-4509-E2C40B02CB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9690"/>
                <a:ext cx="10515600" cy="4889527"/>
              </a:xfrm>
              <a:blipFill>
                <a:blip r:embed="rId2"/>
                <a:stretch>
                  <a:fillRect l="-522" t="-1247" b="-3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AE1193-3443-6BB0-8BAA-98799D969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22742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D886C-A68D-BB1D-8BDA-1DCB671DC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A7653D-C547-9690-5693-1A779CBDE7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Covert Beamformer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Why SDR is Needed </a:t>
                </a:r>
              </a:p>
              <a:p>
                <a:pPr lvl="2"/>
                <a:r>
                  <a:rPr lang="en-US" dirty="0"/>
                  <a:t>Problem (24) is non-convex because of quadratic beamforming terms.</a:t>
                </a:r>
              </a:p>
              <a:p>
                <a:pPr lvl="2"/>
                <a:r>
                  <a:rPr lang="en-US" dirty="0"/>
                  <a:t>Typical term: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en-US" b="1" i="0" smtClean="0">
                        <a:latin typeface="Cambria Math" panose="02040503050406030204" pitchFamily="18" charset="0"/>
                      </a:rPr>
                      <m:t>𝐡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en-US" b="1" i="0" smtClean="0">
                        <a:latin typeface="Cambria Math" panose="02040503050406030204" pitchFamily="18" charset="0"/>
                      </a:rPr>
                      <m:t>𝐰</m:t>
                    </m:r>
                  </m:oMath>
                </a14:m>
                <a:endParaRPr lang="en-US" b="1" dirty="0"/>
              </a:p>
              <a:p>
                <a:pPr lvl="2"/>
                <a:r>
                  <a:rPr lang="en-US" dirty="0"/>
                  <a:t>Using trace form: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𝐡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en-US" b="1" i="0" smtClean="0">
                        <a:latin typeface="Cambria Math" panose="02040503050406030204" pitchFamily="18" charset="0"/>
                      </a:rPr>
                      <m:t>𝐰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Define lifted matrix: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𝐰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Then: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𝐡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en-US" b="1" i="0" smtClean="0">
                        <a:latin typeface="Cambria Math" panose="02040503050406030204" pitchFamily="18" charset="0"/>
                      </a:rPr>
                      <m:t>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A7653D-C547-9690-5693-1A779CBDE7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B7010-0C4F-EE2F-40A3-8996B9BD4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63329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B9A15-435E-D71E-88A8-02328D26E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83D37F-49FB-A437-1714-B1684455A4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Covert Beamformer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Relaxed SDP Problem</a:t>
                </a:r>
              </a:p>
              <a:p>
                <a:pPr lvl="2"/>
                <a:r>
                  <a:rPr lang="en-US" dirty="0">
                    <a:solidFill>
                      <a:srgbClr val="002060"/>
                    </a:solidFill>
                  </a:rPr>
                  <a:t>After SDR, quadratic terms become linear trace terms</a:t>
                </a:r>
                <a:r>
                  <a:rPr lang="en-US" dirty="0">
                    <a:solidFill>
                      <a:srgbClr val="7030A0"/>
                    </a:solidFill>
                  </a:rPr>
                  <a:t>,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</m:func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3"/>
                <a:r>
                  <a:rPr lang="en-US" dirty="0"/>
                  <a:t>Subject to</a:t>
                </a:r>
              </a:p>
              <a:p>
                <a:pPr lvl="4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sSubSup>
                          <m:sSubSup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  <m:sup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Tr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0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                        </a:t>
                </a:r>
                <a:r>
                  <a:rPr lang="en-US" dirty="0"/>
                  <a:t>(26a)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Tr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dirty="0"/>
                  <a:t>                                                         (26b)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Remaining SDP constraints</a:t>
                </a:r>
              </a:p>
              <a:p>
                <a:pPr lvl="2"/>
                <a:r>
                  <a:rPr lang="en-US" dirty="0"/>
                  <a:t>Covertness, power, and PSD constraints become convex.</a:t>
                </a:r>
              </a:p>
              <a:p>
                <a:pPr lvl="2"/>
                <a:r>
                  <a:rPr lang="en-US" dirty="0"/>
                  <a:t>Perfect covertness: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 </m:t>
                    </m:r>
                  </m:oMath>
                </a14:m>
                <a:r>
                  <a:rPr lang="en-US" dirty="0"/>
                  <a:t>                                                                                                (26c)</a:t>
                </a:r>
              </a:p>
              <a:p>
                <a:pPr lvl="2"/>
                <a:r>
                  <a:rPr lang="en-US" dirty="0"/>
                  <a:t>Total power: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</m:oMath>
                </a14:m>
                <a:r>
                  <a:rPr lang="en-US" dirty="0"/>
                  <a:t>                                                                                  (26d)</a:t>
                </a:r>
              </a:p>
              <a:p>
                <a:pPr lvl="2"/>
                <a:r>
                  <a:rPr lang="en-US" dirty="0"/>
                  <a:t>Positive semidefinite constraints: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≽0,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≽0</m:t>
                    </m:r>
                  </m:oMath>
                </a14:m>
                <a:r>
                  <a:rPr lang="en-US" dirty="0"/>
                  <a:t>                                                                                                   (26e)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83D37F-49FB-A437-1714-B1684455A4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3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CA3740-8298-151D-BB66-B296749EE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410837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9AF1-7150-8AD6-EFF7-2DC16E273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EE065C-CC19-3F43-D78D-E3B1E989B1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Covert Beamformer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Bisection Search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For a fixed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problem (26) becomes a convex SDP.</a:t>
                </a:r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appears inside the constraint, the problem is quasi-convex</a:t>
                </a:r>
              </a:p>
              <a:p>
                <a:pPr lvl="2"/>
                <a:r>
                  <a:rPr lang="en-US" dirty="0"/>
                  <a:t>Procedure:</a:t>
                </a:r>
              </a:p>
              <a:p>
                <a:pPr lvl="3"/>
                <a:r>
                  <a:rPr lang="en-US" dirty="0"/>
                  <a:t>Set Interval:</a:t>
                </a:r>
              </a:p>
              <a:p>
                <a:pPr lvl="4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𝑒𝑛𝑑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Choose midpoint: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𝑒𝑛𝑑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Check feasibility of problem (26).</a:t>
                </a:r>
              </a:p>
              <a:p>
                <a:pPr lvl="3"/>
                <a:r>
                  <a:rPr lang="en-US" dirty="0"/>
                  <a:t>If feasible: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If infeasible: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𝑒𝑛𝑑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Repeat until: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𝑒𝑛𝑑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EE065C-CC19-3F43-D78D-E3B1E989B1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E353D1-C175-4380-6F5C-BF90A1652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060512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29B90-88E8-CD47-CCE4-81ED980C0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888E2C-BE36-7B2D-9813-D231FA5D45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Covert Beamformer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Recovering Beamformers Vectors</a:t>
                </a:r>
              </a:p>
              <a:p>
                <a:pPr lvl="2"/>
                <a:r>
                  <a:rPr lang="en-US" dirty="0"/>
                  <a:t>If 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rank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=1, 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rank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  <m:sup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lvl="2"/>
                <a:r>
                  <a:rPr lang="en-US" dirty="0"/>
                  <a:t>Then recover beamformers by decomposition: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  <m:sup>
                        <m:r>
                          <a:rPr lang="en-US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sSubSup>
                      <m:sSubSup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  <m:sup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  <m:sup>
                        <m:r>
                          <a:rPr lang="en-US" b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lvl="2"/>
                <a:r>
                  <a:rPr lang="en-US" dirty="0"/>
                  <a:t>If rank is larger than one, use Gaussian randomization to obtain high-quality rank-one beamformers.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Final interpretation</a:t>
                </a:r>
              </a:p>
              <a:p>
                <a:pPr lvl="2"/>
                <a:r>
                  <a:rPr lang="en-US" dirty="0"/>
                  <a:t>SDR + bisection make the covert beamforming problem solvable</a:t>
                </a:r>
              </a:p>
              <a:p>
                <a:pPr lvl="2"/>
                <a:r>
                  <a:rPr lang="en-US" dirty="0">
                    <a:solidFill>
                      <a:schemeClr val="tx1"/>
                    </a:solidFill>
                  </a:rPr>
                  <a:t>Th</a:t>
                </a:r>
                <a:r>
                  <a:rPr lang="en-US" dirty="0"/>
                  <a:t>e method does three things:</a:t>
                </a:r>
              </a:p>
              <a:p>
                <a:pPr lvl="3"/>
                <a:r>
                  <a:rPr lang="en-US" dirty="0">
                    <a:solidFill>
                      <a:schemeClr val="tx1"/>
                    </a:solidFill>
                  </a:rPr>
                  <a:t>M</a:t>
                </a:r>
                <a:r>
                  <a:rPr lang="en-US" dirty="0"/>
                  <a:t>aximizes radar MI through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lvl="3"/>
                <a:r>
                  <a:rPr lang="en-US" dirty="0"/>
                  <a:t>Guarantee Bobs communication requirement</a:t>
                </a:r>
              </a:p>
              <a:p>
                <a:pPr lvl="3"/>
                <a:r>
                  <a:rPr lang="en-US" dirty="0">
                    <a:solidFill>
                      <a:schemeClr val="tx1"/>
                    </a:solidFill>
                  </a:rPr>
                  <a:t>Forces Willie’s communication signal power to zero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lvl="2"/>
                <a:r>
                  <a:rPr lang="en-US" dirty="0"/>
                  <a:t>The covert beamformer hides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from Willie’s while maintaining sensing and communication performance.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888E2C-BE36-7B2D-9813-D231FA5D45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19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51DC4C-75F4-DE86-A63B-3A468665C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37465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206E7-C6E1-05BB-E648-FFEE366D2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A0044C-40BB-A947-F599-EFE6FE530D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Zero-Forcing Beamformers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Main idea</a:t>
                </a:r>
              </a:p>
              <a:p>
                <a:pPr lvl="2"/>
                <a:r>
                  <a:rPr lang="en-US" dirty="0"/>
                  <a:t>Remove harmful interference by forcing selected signal components to zero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=0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So: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dirty="0"/>
                  <a:t> is hidden from Willie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dirty="0"/>
                  <a:t> does not interfere with radar sensing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does not interfere with Bob</a:t>
                </a:r>
              </a:p>
              <a:p>
                <a:pPr lvl="3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A0044C-40BB-A947-F599-EFE6FE530D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ACE2E-15F0-573E-ABA5-2ADBDE94A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395518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A6E6E-A2D0-7B9D-437F-8400927E7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48C892-B40C-0745-A0B9-4248B6B9CA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Zero-Forcing Beamformers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Zero-Forcing Optimization Problem</a:t>
                </a:r>
              </a:p>
              <a:p>
                <a:pPr lvl="2"/>
                <a:r>
                  <a:rPr lang="en-US" dirty="0"/>
                  <a:t>Maximize radar sensing gain under ZF, Bob rate, and power constraints.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𝐰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func>
                  </m:oMath>
                </a14:m>
                <a:r>
                  <a:rPr lang="en-US" dirty="0"/>
                  <a:t>                                                                                           (27a)</a:t>
                </a:r>
              </a:p>
              <a:p>
                <a:pPr lvl="3"/>
                <a:r>
                  <a:rPr lang="en-US" dirty="0"/>
                  <a:t>Subject to:</a:t>
                </a:r>
              </a:p>
              <a:p>
                <a:pPr lvl="4"/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 </m:t>
                    </m:r>
                  </m:oMath>
                </a14:m>
                <a:r>
                  <a:rPr lang="en-US" dirty="0"/>
                  <a:t>                                                                                                  (27b)</a:t>
                </a:r>
              </a:p>
              <a:p>
                <a:pPr lvl="4"/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                                                                                                 (27c) </a:t>
                </a:r>
              </a:p>
              <a:p>
                <a:pPr lvl="4"/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                                                                                                  (27d)</a:t>
                </a:r>
              </a:p>
              <a:p>
                <a:pPr lvl="4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dirty="0"/>
                  <a:t>                                                                                           (27e)</a:t>
                </a:r>
              </a:p>
              <a:p>
                <a:pPr lvl="4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</m:oMath>
                </a14:m>
                <a:r>
                  <a:rPr lang="en-US" dirty="0"/>
                  <a:t>                                                                             (27f)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48C892-B40C-0745-A0B9-4248B6B9CA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534520-D39F-434A-B662-F2E11B3E0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859810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1C988-CE67-73A8-045B-C2751418C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9B8726-1F54-F98E-F207-1E2CA35E53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Zero-Forcing Beamformers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Why Optimize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First?</a:t>
                </a:r>
              </a:p>
              <a:p>
                <a:pPr lvl="2"/>
                <a:r>
                  <a:rPr lang="en-US" dirty="0"/>
                  <a:t>The objective depends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</m:oMath>
                </a14:m>
                <a:r>
                  <a:rPr lang="en-US" dirty="0"/>
                  <a:t> not directly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</m:oMath>
                </a14:m>
                <a:r>
                  <a:rPr lang="en-US" dirty="0"/>
                  <a:t> should use the minimum possible power while satisfying Bob’s communication and ZF constraints.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𝐰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,1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func>
                  </m:oMath>
                </a14:m>
                <a:r>
                  <a:rPr lang="en-US" dirty="0"/>
                  <a:t>                                                                                                   (28)</a:t>
                </a:r>
              </a:p>
              <a:p>
                <a:pPr lvl="3"/>
                <a:r>
                  <a:rPr lang="en-US" dirty="0"/>
                  <a:t>Subject to:</a:t>
                </a:r>
              </a:p>
              <a:p>
                <a:pPr lvl="4"/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 lvl="4"/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 lvl="4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9B8726-1F54-F98E-F207-1E2CA35E53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6B955-75D0-4740-5EA0-D3BBCBCD2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65351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65C35-EB43-7D39-1188-FA1AD453D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0AEB533-2083-7391-1265-20ACC26457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Zero-Forcing Beamformers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SDR Reformulation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Convert quadratic beamforming terms into matrix trace terms</a:t>
                </a:r>
              </a:p>
              <a:p>
                <a:pPr lvl="2"/>
                <a:r>
                  <a:rPr lang="en-US" dirty="0"/>
                  <a:t>Define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Then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Ignoring the rank-one constraint, problem (28) becomes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Tr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dirty="0"/>
                  <a:t>                                                                                   (29a)</a:t>
                </a:r>
              </a:p>
              <a:p>
                <a:pPr lvl="3"/>
                <a:r>
                  <a:rPr lang="en-US" dirty="0"/>
                  <a:t>Subject to: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                                                                   (29b)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                                                                  (29c)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dirty="0"/>
                  <a:t>                                                                (29d)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≽0</m:t>
                    </m:r>
                  </m:oMath>
                </a14:m>
                <a:r>
                  <a:rPr lang="en-US" dirty="0"/>
                  <a:t>                                                                                    (29e)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0AEB533-2083-7391-1265-20ACC26457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6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46D2D-E5E7-A6A9-5B8B-082D6EB12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89744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016C7-AA9A-894F-1664-8A9BFE2B5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4ECAE6-9462-BD5A-6C03-AD17F018DD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Zero-Forcing Beamformers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Recovering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SDR gives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𝑜𝑝𝑡</m:t>
                        </m:r>
                      </m:sup>
                    </m:sSubSup>
                  </m:oMath>
                </a14:m>
                <a:r>
                  <a:rPr lang="en-US" dirty="0"/>
                  <a:t>, but the actual beamformer must be a vector</a:t>
                </a:r>
              </a:p>
              <a:p>
                <a:pPr lvl="2"/>
                <a:r>
                  <a:rPr lang="en-US" dirty="0"/>
                  <a:t>If 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rank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𝑜𝑝𝑡</m:t>
                            </m:r>
                          </m:sup>
                        </m:sSub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Then recover 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𝑜𝑝𝑡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Using SVD</a:t>
                </a:r>
              </a:p>
              <a:p>
                <a:pPr lvl="3"/>
                <a:r>
                  <a:rPr lang="en-US" dirty="0"/>
                  <a:t>If 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rank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𝑜𝑝𝑡</m:t>
                            </m:r>
                          </m:sup>
                        </m:sSub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Then use Gaussian randomization to obtain a high-quality rank-one beamformer.</a:t>
                </a:r>
              </a:p>
              <a:p>
                <a:pPr lvl="3"/>
                <a:r>
                  <a:rPr lang="en-US" dirty="0"/>
                  <a:t>Let the required communication power be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𝑜𝑝𝑡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4ECAE6-9462-BD5A-6C03-AD17F018DD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8FAC22-F54B-59A2-5BCF-429BF0C1E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110422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974BF-9D70-ABEC-5104-8813A17E5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F290B-D46B-29C2-46CD-A962EA8E39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Zero-Forcing Beamformers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Optimizing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After designing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</m:oMath>
                </a14:m>
                <a:r>
                  <a:rPr lang="en-US" dirty="0"/>
                  <a:t>, the remaining power is used for radar sensing</a:t>
                </a:r>
              </a:p>
              <a:p>
                <a:pPr lvl="2"/>
                <a:r>
                  <a:rPr lang="en-US" dirty="0"/>
                  <a:t>Problem (27) becomes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𝐰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func>
                  </m:oMath>
                </a14:m>
                <a:r>
                  <a:rPr lang="en-US" dirty="0"/>
                  <a:t>                                                                                            (30a)</a:t>
                </a:r>
              </a:p>
              <a:p>
                <a:pPr lvl="3"/>
                <a:r>
                  <a:rPr lang="en-US" dirty="0"/>
                  <a:t>Subject to:</a:t>
                </a:r>
              </a:p>
              <a:p>
                <a:pPr lvl="4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</m:oMath>
                </a14:m>
                <a:r>
                  <a:rPr lang="en-US" dirty="0"/>
                  <a:t>                                                                         (30b)</a:t>
                </a:r>
              </a:p>
              <a:p>
                <a:pPr lvl="4"/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=0</m:t>
                    </m:r>
                  </m:oMath>
                </a14:m>
                <a:r>
                  <a:rPr lang="en-US" dirty="0"/>
                  <a:t>                                                                                        (30c)</a:t>
                </a:r>
              </a:p>
              <a:p>
                <a:pPr lvl="3"/>
                <a:r>
                  <a:rPr lang="en-US" dirty="0"/>
                  <a:t>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</m:oMath>
                </a14:m>
                <a:r>
                  <a:rPr lang="en-US" dirty="0"/>
                  <a:t> maximizes radar sensing gain while avoiding interference at Bob.</a:t>
                </a:r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F290B-D46B-29C2-46CD-A962EA8E39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D4DC99-4E38-7B9E-19B2-2D74F7E99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958609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98AC2-C280-D0ED-7F50-8F61DB46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ACE433-8F72-4E0D-4749-8844A3325C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9691"/>
                <a:ext cx="10515600" cy="4914694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Zero-Forcing Beamformers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SOCP Reformulation </a:t>
                </a:r>
              </a:p>
              <a:p>
                <a:pPr lvl="2"/>
                <a:r>
                  <a:rPr lang="en-US" dirty="0"/>
                  <a:t>Fix the phase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</m:oMath>
                </a14:m>
                <a:r>
                  <a:rPr lang="en-US" dirty="0"/>
                  <a:t> to make the objective linear</a:t>
                </a:r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</m:oMath>
                </a14:m>
                <a:r>
                  <a:rPr lang="en-US" dirty="0"/>
                  <a:t> is complex, impose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Im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                                                                                            (31b)</a:t>
                </a:r>
              </a:p>
              <a:p>
                <a:pPr lvl="2"/>
                <a:r>
                  <a:rPr lang="en-US" dirty="0"/>
                  <a:t>Then maximizing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Is equivalent to maximizing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𝑅𝑒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Thus,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Re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dirty="0"/>
                  <a:t>                                                                                          (31a)</a:t>
                </a:r>
              </a:p>
              <a:p>
                <a:pPr lvl="3"/>
                <a:r>
                  <a:rPr lang="en-US" dirty="0"/>
                  <a:t>Subject to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Im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                                                                                      (31b)</a:t>
                </a:r>
              </a:p>
              <a:p>
                <a:pPr lvl="4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</m:oMath>
                </a14:m>
                <a:r>
                  <a:rPr lang="en-US" dirty="0"/>
                  <a:t>                                                                               (31c)</a:t>
                </a:r>
              </a:p>
              <a:p>
                <a:pPr lvl="4"/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=0</m:t>
                    </m:r>
                  </m:oMath>
                </a14:m>
                <a:r>
                  <a:rPr lang="en-US" dirty="0"/>
                  <a:t>                                                                                              (31d)</a:t>
                </a:r>
              </a:p>
              <a:p>
                <a:pPr lvl="2"/>
                <a:r>
                  <a:rPr lang="en-US" dirty="0"/>
                  <a:t>This is a second-order cone program (SOCP) and can be solved by CVX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ACE433-8F72-4E0D-4749-8844A3325C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9691"/>
                <a:ext cx="10515600" cy="4914694"/>
              </a:xfrm>
              <a:blipFill>
                <a:blip r:embed="rId2"/>
                <a:stretch>
                  <a:fillRect l="-522" t="-1241" b="-2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430D13-66B5-764E-04F8-479DCBF17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28278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216F7-AAFE-4A2C-96F3-95459C8BE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755107-1383-F542-0B80-9A0E04873F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Zero-Forcing Beamformers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Final interpretation</a:t>
                </a:r>
              </a:p>
              <a:p>
                <a:pPr lvl="2"/>
                <a:r>
                  <a:rPr lang="en-US" dirty="0"/>
                  <a:t>Zero-Forcing separates radar sensing, Bob communication, and Willie hiding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</m:oMath>
                </a14:m>
                <a:endParaRPr lang="en-US" dirty="0"/>
              </a:p>
              <a:p>
                <a:pPr lvl="4"/>
                <a:r>
                  <a:rPr lang="en-US" dirty="0"/>
                  <a:t>Is designed to:</a:t>
                </a:r>
              </a:p>
              <a:p>
                <a:pPr lvl="5"/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Serve Bob</a:t>
                </a:r>
              </a:p>
              <a:p>
                <a:pPr lvl="5"/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Avoid Willie</a:t>
                </a:r>
              </a:p>
              <a:p>
                <a:pPr lvl="5"/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Avoid sensing interference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</m:oMath>
                </a14:m>
                <a:endParaRPr lang="en-US" dirty="0"/>
              </a:p>
              <a:p>
                <a:pPr lvl="4"/>
                <a:r>
                  <a:rPr lang="en-US" dirty="0"/>
                  <a:t>Is designed to:</a:t>
                </a:r>
              </a:p>
              <a:p>
                <a:pPr lvl="5"/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Maximize radar sensing </a:t>
                </a:r>
              </a:p>
              <a:p>
                <a:pPr lvl="5"/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Avoid Bob interference</a:t>
                </a:r>
              </a:p>
              <a:p>
                <a:pPr lvl="2"/>
                <a:r>
                  <a:rPr lang="en-US" dirty="0"/>
                  <a:t>ZF beamforming uses channel orthogonality to achieve covert communication with low computational complexity</a:t>
                </a:r>
              </a:p>
              <a:p>
                <a:pPr lvl="3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755107-1383-F542-0B80-9A0E04873F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31286D-EB7C-BB7D-7D3B-00CC8F5BF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655405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473BE-4901-0806-1B31-A025DFB7A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66242B-30B0-5A15-24BC-762CC95252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Rate Maximization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Rate Maximization under Perfect WCSI</a:t>
                </a:r>
              </a:p>
              <a:p>
                <a:pPr lvl="2"/>
                <a:r>
                  <a:rPr lang="en-US" dirty="0"/>
                  <a:t>Maximize Bob’s covert communication rate while ensuring perfect covertness, radar MI, and power limit.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dirty="0"/>
                  <a:t>                                                                                            (32a) </a:t>
                </a:r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                                                                                                (32b)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                                                                                              (32c)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</m:oMath>
                </a14:m>
                <a:r>
                  <a:rPr lang="en-US" dirty="0"/>
                  <a:t>                                                                              (32d)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66242B-30B0-5A15-24BC-762CC95252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7D7F0A-6B32-DC65-51EE-DD3ACD465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49940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AD016-7EBB-0079-429F-A32952842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32291E-CAFD-BB44-AA36-E1D6DD1866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Rate Maximization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Equivalent Rate Maximization Form</a:t>
                </a:r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func>
                  </m:oMath>
                </a14:m>
                <a:r>
                  <a:rPr lang="en-US" dirty="0"/>
                  <a:t> is increasing, maximizing Bob’s rate is equivalent to maximizing Bob’s SINR.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1+ 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Sup>
                                          <m:sSubSup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b="1" i="0" smtClean="0">
                                                <a:latin typeface="Cambria Math" panose="02040503050406030204" pitchFamily="18" charset="0"/>
                                              </a:rPr>
                                              <m:t>𝐡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sub>
                                          <m:sup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𝐻</m:t>
                                            </m:r>
                                          </m:sup>
                                        </m:sSubSup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1" i="0" smtClean="0">
                                                <a:latin typeface="Cambria Math" panose="02040503050406030204" pitchFamily="18" charset="0"/>
                                              </a:rPr>
                                              <m:t>𝐰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𝑅</m:t>
                                            </m:r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,1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Sup>
                                          <m:sSubSup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b="1" i="0" smtClean="0">
                                                <a:latin typeface="Cambria Math" panose="02040503050406030204" pitchFamily="18" charset="0"/>
                                              </a:rPr>
                                              <m:t>𝐡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sub>
                                          <m:sup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𝐻</m:t>
                                            </m:r>
                                          </m:sup>
                                        </m:sSubSup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1" i="0" smtClean="0">
                                                <a:latin typeface="Cambria Math" panose="02040503050406030204" pitchFamily="18" charset="0"/>
                                              </a:rPr>
                                              <m:t>𝐰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𝑅</m:t>
                                            </m:r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,0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Sup>
                                  <m:sSub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So, the objective becomes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b="1" i="0" smtClean="0">
                                            <a:latin typeface="Cambria Math" panose="02040503050406030204" pitchFamily="18" charset="0"/>
                                          </a:rPr>
                                          <m:t>𝐡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sub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sup>
                                    </m:sSubSup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1" i="0" smtClean="0">
                                            <a:latin typeface="Cambria Math" panose="02040503050406030204" pitchFamily="18" charset="0"/>
                                          </a:rPr>
                                          <m:t>𝐰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,1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b="1" i="0" smtClean="0">
                                            <a:latin typeface="Cambria Math" panose="02040503050406030204" pitchFamily="18" charset="0"/>
                                          </a:rPr>
                                          <m:t>𝐡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sub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sup>
                                    </m:sSubSup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1" i="0" smtClean="0">
                                            <a:latin typeface="Cambria Math" panose="02040503050406030204" pitchFamily="18" charset="0"/>
                                          </a:rPr>
                                          <m:t>𝐰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,0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</m:e>
                    </m:func>
                  </m:oMath>
                </a14:m>
                <a:r>
                  <a:rPr lang="en-US" dirty="0"/>
                  <a:t>                                                                                 (33a)</a:t>
                </a:r>
              </a:p>
              <a:p>
                <a:pPr lvl="2"/>
                <a:r>
                  <a:rPr lang="en-US" dirty="0"/>
                  <a:t>Perfect Covertness Constraint</a:t>
                </a:r>
              </a:p>
              <a:p>
                <a:pPr lvl="3"/>
                <a:r>
                  <a:rPr lang="en-US" dirty="0"/>
                  <a:t>Perfect WCSI allows the communication signal to be nulled at Willie</a:t>
                </a:r>
              </a:p>
              <a:p>
                <a:pPr lvl="3"/>
                <a:r>
                  <a:rPr lang="en-US" dirty="0"/>
                  <a:t>From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 </m:t>
                    </m:r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We need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Which requires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Since 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3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32291E-CAFD-BB44-AA36-E1D6DD1866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6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1CB66A-8048-CE4E-F1D0-2CB85E0AF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147558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CF474-E940-65B3-C065-D4211FEDD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403F07-F350-CE6D-0BF5-13A781A640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Rate Maximization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Equivalent Rate Maximization Form</a:t>
                </a:r>
              </a:p>
              <a:p>
                <a:pPr lvl="2"/>
                <a:r>
                  <a:rPr lang="en-US" dirty="0"/>
                  <a:t>We obtain 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                                                                                            (33b)</a:t>
                </a:r>
              </a:p>
              <a:p>
                <a:pPr lvl="2"/>
                <a:r>
                  <a:rPr lang="en-US" dirty="0"/>
                  <a:t>This means: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Radar MI Requirement</a:t>
                </a:r>
              </a:p>
              <a:p>
                <a:pPr lvl="2"/>
                <a:r>
                  <a:rPr lang="en-US" dirty="0"/>
                  <a:t>While maximizing Bob’s rate, radar sensing performance must still be guaranteed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1+ 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b="1" i="0" smtClean="0">
                                            <a:latin typeface="Cambria Math" panose="02040503050406030204" pitchFamily="18" charset="0"/>
                                          </a:rPr>
                                          <m:t>𝐡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b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sup>
                                    </m:sSubSup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1" i="0" smtClean="0">
                                            <a:latin typeface="Cambria Math" panose="02040503050406030204" pitchFamily="18" charset="0"/>
                                          </a:rPr>
                                          <m:t>𝐰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,0</m:t>
                                        </m:r>
                                      </m:sub>
                                    </m:sSub>
                                  </m:e>
                                </m:d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‖"/>
                                        <m:endChr m:val="‖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1" i="0" smtClean="0">
                                                <a:latin typeface="Cambria Math" panose="02040503050406030204" pitchFamily="18" charset="0"/>
                                              </a:rPr>
                                              <m:t>𝐡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𝑇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Sup>
                                          <m:sSubSup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b="1" i="0" smtClean="0">
                                                <a:latin typeface="Cambria Math" panose="02040503050406030204" pitchFamily="18" charset="0"/>
                                              </a:rPr>
                                              <m:t>𝐡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𝑇</m:t>
                                            </m:r>
                                          </m:sub>
                                          <m:sup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𝐻</m:t>
                                            </m:r>
                                          </m:sup>
                                        </m:sSubSup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1" i="0" smtClean="0">
                                                <a:latin typeface="Cambria Math" panose="02040503050406030204" pitchFamily="18" charset="0"/>
                                              </a:rPr>
                                              <m:t>𝐰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𝑅</m:t>
                                            </m:r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,1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‖"/>
                                        <m:endChr m:val="‖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1" i="0" smtClean="0">
                                                <a:latin typeface="Cambria Math" panose="02040503050406030204" pitchFamily="18" charset="0"/>
                                              </a:rPr>
                                              <m:t>𝐡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𝑇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Sup>
                                  <m:sSub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den>
                            </m:f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</m:func>
                  </m:oMath>
                </a14:m>
                <a:r>
                  <a:rPr lang="en-US" dirty="0"/>
                  <a:t>                                                                (33c)</a:t>
                </a:r>
              </a:p>
              <a:p>
                <a:pPr lvl="3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403F07-F350-CE6D-0BF5-13A781A640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F68E95-F2EE-241C-E5F1-86CEDDFD6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64200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305D6-B72F-6C64-63AB-23A61A902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Imperfect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24A4D0-8937-B608-63DC-436E2DC279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Imperfect WCSI Scenario</a:t>
                </a:r>
              </a:p>
              <a:p>
                <a:pPr lvl="1"/>
                <a:r>
                  <a:rPr lang="en-US" dirty="0"/>
                  <a:t>Radar does not know Willie’s channel perfectly.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r>
                  <a:rPr lang="en-US" b="1" dirty="0"/>
                  <a:t>                                                                                                           </a:t>
                </a:r>
                <a:r>
                  <a:rPr lang="en-US" dirty="0"/>
                  <a:t>(34a)</a:t>
                </a:r>
              </a:p>
              <a:p>
                <a:pPr lvl="2"/>
                <a:r>
                  <a:rPr lang="en-US" dirty="0"/>
                  <a:t>where: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r>
                  <a:rPr lang="en-US" dirty="0"/>
                  <a:t>: estimated Willie CSI 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r>
                  <a:rPr lang="en-US" dirty="0"/>
                  <a:t>: CSI error </a:t>
                </a:r>
              </a:p>
              <a:p>
                <a:pPr lvl="1"/>
                <a:r>
                  <a:rPr lang="en-US" dirty="0"/>
                  <a:t>The error is bounded by an ellipsoidal uncertainty region: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≤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/>
                  <a:t>                                                                                     (35a)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24A4D0-8937-B608-63DC-436E2DC279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81940-AFCE-4AA6-EA91-3DB8FAAAE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90106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EDC21-57EE-4963-D119-52CCDA852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Imperfect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B4D8E64-6FDF-2361-BEDF-3229CAA341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Imperfect WCSI Scenario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Why Perfect Covertness is Difficult</a:t>
                </a:r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r>
                  <a:rPr lang="en-US" dirty="0"/>
                  <a:t> is uncertain, perfect nulling at Willie is difficult.</a:t>
                </a:r>
              </a:p>
              <a:p>
                <a:pPr lvl="2"/>
                <a:r>
                  <a:rPr lang="en-US" dirty="0"/>
                  <a:t>For perfect WCSI: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But with imperfect WCSI: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Must hold for all possible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r>
                  <a:rPr lang="en-US" dirty="0"/>
                  <a:t>, which is difficult.</a:t>
                </a:r>
              </a:p>
              <a:p>
                <a:pPr lvl="2"/>
                <a:r>
                  <a:rPr lang="en-US" dirty="0"/>
                  <a:t>Therefore, the paper uses KL-based covert constraints: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≤2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0" dirty="0"/>
                  <a:t>                                                                                     (19a)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B4D8E64-6FDF-2361-BEDF-3229CAA341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41D2C1-6A43-2068-6F06-76F773A01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438332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73D32-E2E2-0CCC-3234-989276B0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Imperfect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156B99-E45E-B8C3-17EC-FDBB67F6CE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Imperfect WCSI Scenario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Case 1: MI Maximization with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  <a:p>
                <a:pPr lvl="2"/>
                <a:r>
                  <a:rPr lang="en-US" dirty="0"/>
                  <a:t>Maximize radar MI while satisfying robust covertness, Bob’s rate, and power constraint.</a:t>
                </a:r>
              </a:p>
              <a:p>
                <a:pPr lvl="3"/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</m:lim>
                    </m:limLow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en-US" b="0" dirty="0"/>
                  <a:t>                                                                    (36a)</a:t>
                </a:r>
              </a:p>
              <a:p>
                <a:pPr lvl="3"/>
                <a:r>
                  <a:rPr lang="en-US" dirty="0"/>
                  <a:t>subject to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≤2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0" dirty="0"/>
                  <a:t>                                                                          (36b)</a:t>
                </a:r>
                <a:endParaRPr lang="en-US" dirty="0"/>
              </a:p>
              <a:p>
                <a:pPr lvl="4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b="0" dirty="0"/>
                  <a:t>                                                                             (36c)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+∥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/>
                          <m:t>total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  (36d)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r>
                  <a:rPr lang="en-US" b="1" dirty="0"/>
                  <a:t>                                                                            </a:t>
                </a:r>
                <a:r>
                  <a:rPr lang="en-US" dirty="0"/>
                  <a:t>(36e)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156B99-E45E-B8C3-17EC-FDBB67F6CE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DF8FD-864F-0CBC-C4CA-983582490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3682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7C4B1-2D6A-31EC-003E-202627FD1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Imperfect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EB9C2D-71ED-CEDD-0F60-4EBC59AA07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Imperfect WCSI Scenario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Transforming the KL Constraint</a:t>
                </a:r>
              </a:p>
              <a:p>
                <a:pPr lvl="2"/>
                <a:r>
                  <a:rPr lang="en-US" dirty="0"/>
                  <a:t>Rewrite the KL constraint using the ratio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−1≤2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Let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Then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−1≤2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feasible range becomes</a:t>
                </a:r>
              </a:p>
              <a:p>
                <a:pPr lvl="3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lang="en-US" b="0" dirty="0"/>
                  <a:t>                                                                                         (37)</a:t>
                </a:r>
              </a:p>
              <a:p>
                <a:pPr lvl="2"/>
                <a:r>
                  <a:rPr lang="en-US" dirty="0"/>
                  <a:t>Where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lang="en-US" dirty="0"/>
                  <a:t> are the two roots of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−1=2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EB9C2D-71ED-CEDD-0F60-4EBC59AA07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D7790-7F25-F8AD-C0AD-AF33455D4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943964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79CB6-74A2-CB35-0A8D-A98674542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172" y="789054"/>
            <a:ext cx="10515600" cy="681250"/>
          </a:xfrm>
        </p:spPr>
        <p:txBody>
          <a:bodyPr/>
          <a:lstStyle/>
          <a:p>
            <a:r>
              <a:rPr lang="en-US" dirty="0"/>
              <a:t>Beamforming Design Based on Imperfect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D03B28-75B1-CE6F-329E-3474B4F1B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Imperfect WCSI Scenario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Ratio Form of the Covert Constraint</a:t>
                </a:r>
              </a:p>
              <a:p>
                <a:pPr lvl="2"/>
                <a:r>
                  <a:rPr lang="en-US" dirty="0"/>
                  <a:t>Substitute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=∣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=∣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+∣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Thus,</a:t>
                </a:r>
              </a:p>
              <a:p>
                <a:pPr lvl="3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>
                            <a:latin typeface="Cambria Math" panose="02040503050406030204" pitchFamily="18" charset="0"/>
                          </a:rPr>
                          <m:t>+∣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lang="en-US" b="0" dirty="0"/>
                  <a:t>                                         (38)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D03B28-75B1-CE6F-329E-3474B4F1B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D044BB-48DA-2931-4FFF-C93943FB3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61965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96FF3-4A96-1E27-4FAE-F934307AD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Imperfect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F6FE7B-A9A4-9986-29C1-C854F539A3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Imperfect WCSI Scenario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SDR Matrix Definitions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Convert quadratic beamforming terms into matrix trace terms</a:t>
                </a:r>
                <a:r>
                  <a:rPr lang="en-US" dirty="0"/>
                  <a:t>.</a:t>
                </a:r>
              </a:p>
              <a:p>
                <a:pPr lvl="2"/>
                <a:r>
                  <a:rPr lang="en-US" dirty="0"/>
                  <a:t>Define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Then define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≜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1−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≜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1−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F6FE7B-A9A4-9986-29C1-C854F539A3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53C66-76F2-88D7-4147-B04A5C4DF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5443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A40A9-7D99-AFA5-89F3-B3AF0A41F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Imperfect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7909DF-69AD-D62E-3160-598D5C83D1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Imperfect WCSI Scenario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Robust Covert Constraints with CSI Error</a:t>
                </a:r>
              </a:p>
              <a:p>
                <a:pPr lvl="2"/>
                <a:r>
                  <a:rPr lang="en-US" dirty="0"/>
                  <a:t>Substitute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2"/>
                <a:r>
                  <a:rPr lang="en-US" dirty="0"/>
                  <a:t>From the lower bound: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We obtain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+2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Re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r>
                  <a:rPr lang="en-US" b="0" dirty="0"/>
                  <a:t>                                       (39a)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Upper-Bound Robust Covert Constraint</a:t>
                </a:r>
              </a:p>
              <a:p>
                <a:pPr lvl="2"/>
                <a:r>
                  <a:rPr lang="en-US" dirty="0"/>
                  <a:t>The upper bound gives the second quadratic constraint.</a:t>
                </a:r>
              </a:p>
              <a:p>
                <a:pPr lvl="2"/>
                <a:r>
                  <a:rPr lang="en-US" dirty="0"/>
                  <a:t>From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We obtain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+2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Re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r>
                  <a:rPr lang="en-US" b="0" dirty="0"/>
                  <a:t>                                          (39b)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7909DF-69AD-D62E-3160-598D5C83D1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DEDB2B-57E2-F8B8-8A01-9EC2979D3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8508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1B88-D6C4-0A08-68BC-AD8539D52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Imperfect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4CF543-FB5B-7E16-BDB6-33243B665C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Imperfect WCSI Scenario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Need for S-Procedure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r>
                  <a:rPr lang="en-US" dirty="0"/>
                  <a:t> creates infinitely many constraints.</a:t>
                </a:r>
              </a:p>
              <a:p>
                <a:pPr lvl="2"/>
                <a:r>
                  <a:rPr lang="en-US" dirty="0"/>
                  <a:t>The uncertainty condition is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Constraints (39a) and (39b) </a:t>
                </a:r>
                <a:r>
                  <a:rPr lang="en-US" dirty="0">
                    <a:solidFill>
                      <a:srgbClr val="7030A0"/>
                    </a:solidFill>
                  </a:rPr>
                  <a:t>must hold for every possible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inside this ellipsoid.</a:t>
                </a:r>
              </a:p>
              <a:p>
                <a:pPr lvl="2"/>
                <a:r>
                  <a:rPr lang="en-US" dirty="0"/>
                  <a:t>So, problem (40) is still difficult.</a:t>
                </a:r>
              </a:p>
              <a:p>
                <a:pPr lvl="2"/>
                <a:r>
                  <a:rPr lang="en-US" dirty="0"/>
                  <a:t>The S-Procedure converts these infinite quadratic constraints into finite LMIs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4CF543-FB5B-7E16-BDB6-33243B665C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312617-B552-8645-17CE-313D52EAF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701072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82E59-788D-6303-AD66-D53BAEC1E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Imperfect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A473B4-D941-AEEF-75CB-6B5E32CEED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Imperfect WCSI Scenario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LMI from S-Procedure</a:t>
                </a:r>
              </a:p>
              <a:p>
                <a:pPr lvl="2"/>
                <a:r>
                  <a:rPr lang="en-US" dirty="0"/>
                  <a:t>Robust covert constraints become finite SDP constraints.</a:t>
                </a:r>
              </a:p>
              <a:p>
                <a:pPr lvl="2"/>
                <a:r>
                  <a:rPr lang="en-US" dirty="0"/>
                  <a:t>For (39a), there exists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dirty="0"/>
                  <a:t> such that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𝐖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𝜂</m:t>
                                  </m:r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>
                                      <a:latin typeface="Cambria Math" panose="02040503050406030204" pitchFamily="18" charset="0"/>
                                    </a:rPr>
                                    <m:t>𝐂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𝐖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𝐡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𝐡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𝐖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𝐡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𝐖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𝐡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sub>
                              </m:s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sub>
                                <m:sup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acc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𝜂</m:t>
                                  </m:r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𝜈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⪰0</m:t>
                    </m:r>
                  </m:oMath>
                </a14:m>
                <a:r>
                  <a:rPr lang="en-US" b="0" dirty="0"/>
                  <a:t>                                            (43a)</a:t>
                </a:r>
              </a:p>
              <a:p>
                <a:pPr lvl="2"/>
                <a:r>
                  <a:rPr lang="en-US" dirty="0"/>
                  <a:t>For (39b), there exists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dirty="0"/>
                  <a:t> such that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𝐖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𝜂</m:t>
                                  </m:r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>
                                      <a:latin typeface="Cambria Math" panose="02040503050406030204" pitchFamily="18" charset="0"/>
                                    </a:rPr>
                                    <m:t>𝐂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𝐖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𝐡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𝐡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𝐖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𝐡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𝐖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𝐡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sub>
                              </m:s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sub>
                                <m:sup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</m:acc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𝜂</m:t>
                                  </m:r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𝜈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⪰0</m:t>
                    </m:r>
                  </m:oMath>
                </a14:m>
                <a:r>
                  <a:rPr lang="en-US" b="0" dirty="0"/>
                  <a:t>                                     (43b)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A473B4-D941-AEEF-75CB-6B5E32CEED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E961E6-5977-A5C3-7C72-646948016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094560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10BB7-AD8A-B769-B329-F1671ED8C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Imperfect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BEDE68-0D3E-D967-C36D-68A30A6494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Imperfect WCSI Scenario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Final SDP Approximation</a:t>
                </a:r>
              </a:p>
              <a:p>
                <a:pPr lvl="2"/>
                <a:r>
                  <a:rPr lang="en-US" dirty="0"/>
                  <a:t>After SDR and S-Procedure, the robust MI maximization becomes tractable.</a:t>
                </a:r>
              </a:p>
              <a:p>
                <a:pPr lvl="2"/>
                <a:r>
                  <a:rPr lang="en-US" dirty="0"/>
                  <a:t>The conservative approximation is</a:t>
                </a:r>
              </a:p>
              <a:p>
                <a:pPr lvl="3"/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lim>
                    </m:limLow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                                (44)</a:t>
                </a:r>
              </a:p>
              <a:p>
                <a:pPr lvl="3"/>
                <a:r>
                  <a:rPr lang="en-US" dirty="0"/>
                  <a:t>subject to:</a:t>
                </a:r>
              </a:p>
              <a:p>
                <a:pPr lvl="4"/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40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40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43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43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40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40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endParaRPr lang="en-US" b="0" dirty="0"/>
              </a:p>
              <a:p>
                <a:pPr lvl="4"/>
                <a:r>
                  <a:rPr lang="en-US" dirty="0"/>
                  <a:t>For fixed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problem (44) is a convex SDP.</a:t>
                </a:r>
              </a:p>
              <a:p>
                <a:pPr lvl="4"/>
                <a:r>
                  <a:rPr lang="en-US" dirty="0"/>
                  <a:t>Therefore, it can be solved using:</a:t>
                </a:r>
              </a:p>
              <a:p>
                <a:pPr lvl="5"/>
                <a:r>
                  <a:rPr lang="en-US" dirty="0"/>
                  <a:t>Convex optimization solver </a:t>
                </a:r>
              </a:p>
              <a:p>
                <a:pPr lvl="5"/>
                <a:r>
                  <a:rPr lang="en-US" dirty="0"/>
                  <a:t>Bisection search over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BEDE68-0D3E-D967-C36D-68A30A6494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970214-D105-347F-87FD-D44516792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284536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537B7-3CAD-7ADD-40D8-9410DE7F0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Imperfect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88D15A-A9C0-D0F3-9F60-E3154F232D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Imperfect WCSI Scenario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Bisection Method for Robust MI Maximization</a:t>
                </a:r>
              </a:p>
              <a:p>
                <a:pPr lvl="2"/>
                <a:r>
                  <a:rPr lang="en-US" dirty="0"/>
                  <a:t>For a fixed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problem (44) becomes a convex SDP feasibility problem.</a:t>
                </a:r>
              </a:p>
              <a:p>
                <a:pPr lvl="2"/>
                <a:r>
                  <a:rPr lang="en-US" dirty="0"/>
                  <a:t>The objective is: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</m:func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However,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appears inside constraint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40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,1</m:t>
                                </m:r>
                              </m:sub>
                            </m:sSub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b="0" dirty="0"/>
                  <a:t>                          (40b)</a:t>
                </a:r>
              </a:p>
              <a:p>
                <a:pPr lvl="2"/>
                <a:r>
                  <a:rPr lang="en-US" dirty="0"/>
                  <a:t>For a given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this constraint becomes linear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2"/>
                <a:r>
                  <a:rPr lang="en-US" dirty="0"/>
                  <a:t>So, the authors use bisection to find the largest feasible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88D15A-A9C0-D0F3-9F60-E3154F232D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965FE9-4502-B8F4-40A7-F49860DDC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423935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1C021-1D2D-8131-B9B1-6FB57FDAA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Imperfect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FCAF82-9297-C5EE-E073-6DCFF4C92D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9691"/>
                <a:ext cx="10515600" cy="4998584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Imperfect WCSI Scenario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Bisection Procedure</a:t>
                </a:r>
              </a:p>
              <a:p>
                <a:pPr lvl="1"/>
                <a:r>
                  <a:rPr lang="en-US" dirty="0"/>
                  <a:t>Increase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if the SDP is feasible; decrease it if infeasible.</a:t>
                </a:r>
              </a:p>
              <a:p>
                <a:pPr lvl="1"/>
                <a:r>
                  <a:rPr lang="en-US" dirty="0"/>
                  <a:t>Initialize the search interval: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=0,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𝑒𝑛𝑑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At each iteration: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𝑚𝑖𝑑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𝑒𝑛𝑑</m:t>
                            </m:r>
                          </m:sub>
                        </m:sSub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Then solve problem (44) with fixed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𝑚𝑖𝑑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If problem (44) is feasible: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𝑚𝑖𝑑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If problem (44) is infeasible: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𝑒𝑛𝑑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𝑚𝑖𝑑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Stop when: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𝑒𝑛𝑑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Finally, output: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FCAF82-9297-C5EE-E073-6DCFF4C92D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9691"/>
                <a:ext cx="10515600" cy="4998584"/>
              </a:xfrm>
              <a:blipFill>
                <a:blip r:embed="rId2"/>
                <a:stretch>
                  <a:fillRect l="-522" t="-1220" b="-2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96664-24FF-4663-C9C5-3E3192BBC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441121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72</a:t>
            </a:fld>
            <a:r>
              <a:rPr lang="en-US" altLang="ko-KR" dirty="0"/>
              <a:t>	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4889068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8A036-E75C-39A3-821D-F63E776CD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Imperfect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41D83F-D519-F288-8CC7-5CDE1CC199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Imperfect WCSI Scenario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Why Bisection Works Here</a:t>
                </a:r>
              </a:p>
              <a:p>
                <a:pPr lvl="2"/>
                <a:r>
                  <a:rPr lang="en-US" dirty="0"/>
                  <a:t>Larger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means stricter radar MI requirement.</a:t>
                </a:r>
              </a:p>
              <a:p>
                <a:pPr lvl="2"/>
                <a:r>
                  <a:rPr lang="en-US" dirty="0"/>
                  <a:t>If a large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is feasible, then smaller values are also feasible.</a:t>
                </a:r>
              </a:p>
              <a:p>
                <a:pPr lvl="2"/>
                <a:r>
                  <a:rPr lang="en-US" dirty="0"/>
                  <a:t>If a certain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is infeasible, then larger values will also be infeasible.</a:t>
                </a:r>
              </a:p>
              <a:p>
                <a:pPr lvl="2"/>
                <a:r>
                  <a:rPr lang="en-US" dirty="0"/>
                  <a:t>Therefore, the feasible set has a monotonic structure: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/>
                      <m:t>S</m:t>
                    </m:r>
                    <m:r>
                      <m:rPr>
                        <m:nor/>
                      </m:rPr>
                      <a:rPr lang="en-US" b="0" i="0"/>
                      <m:t>mall</m:t>
                    </m:r>
                    <m:r>
                      <m:rPr>
                        <m:nor/>
                      </m:rPr>
                      <a:rPr lang="en-US" b="0" i="0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 i="0"/>
                      <m:t>easy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to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satisfy</m:t>
                    </m:r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nor/>
                      </m:rPr>
                      <a:rPr lang="en-US" b="0" i="0"/>
                      <m:t>arge</m:t>
                    </m:r>
                    <m:r>
                      <m:rPr>
                        <m:nor/>
                      </m:rPr>
                      <a:rPr lang="en-US" b="0" i="0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 i="0"/>
                      <m:t>hard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to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satisfy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This monotonicity allows bisection search to efficiently find the maximum achievable robust radar MI.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41D83F-D519-F288-8CC7-5CDE1CC199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F7BFC6-B18F-F58C-DFE4-14CE7AC26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921759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47135-1F2A-71FF-A111-4BFCC2FFB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Imperfect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C2AC2C-9DDA-4C7B-3804-B3BDAA02AC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Final Interpretation</a:t>
                </a:r>
              </a:p>
              <a:p>
                <a:pPr lvl="1"/>
                <a:r>
                  <a:rPr lang="en-US" dirty="0"/>
                  <a:t>Robust beamforming protects covertness even with uncertain Willie CSI.</a:t>
                </a:r>
              </a:p>
              <a:p>
                <a:pPr lvl="1"/>
                <a:r>
                  <a:rPr lang="en-US" dirty="0"/>
                  <a:t>The method works as follows:</a:t>
                </a:r>
              </a:p>
              <a:p>
                <a:pPr lvl="2"/>
                <a:r>
                  <a:rPr lang="en-US" dirty="0"/>
                  <a:t>Model Willie </a:t>
                </a:r>
                <a:r>
                  <a:rPr lang="en-US" dirty="0">
                    <a:solidFill>
                      <a:srgbClr val="7030A0"/>
                    </a:solidFill>
                  </a:rPr>
                  <a:t>CSI uncertainty using an ellipsoid</a:t>
                </a:r>
                <a:r>
                  <a:rPr lang="en-US" dirty="0"/>
                  <a:t>. 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Convert KL covert constraint into ratio bounds</a:t>
                </a:r>
                <a:r>
                  <a:rPr lang="en-US" dirty="0"/>
                  <a:t>. </a:t>
                </a:r>
              </a:p>
              <a:p>
                <a:pPr lvl="2"/>
                <a:r>
                  <a:rPr lang="en-US" dirty="0"/>
                  <a:t>Express </a:t>
                </a:r>
                <a:r>
                  <a:rPr lang="en-US" dirty="0">
                    <a:solidFill>
                      <a:srgbClr val="7030A0"/>
                    </a:solidFill>
                  </a:rPr>
                  <a:t>ratio bounds as quadratic constraints </a:t>
                </a:r>
                <a:r>
                  <a:rPr lang="en-US" dirty="0"/>
                  <a:t>in CSI error. 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Apply S-Procedure </a:t>
                </a:r>
                <a:r>
                  <a:rPr lang="en-US" dirty="0"/>
                  <a:t>to obtain finite LMIs. </a:t>
                </a:r>
              </a:p>
              <a:p>
                <a:pPr lvl="2"/>
                <a:r>
                  <a:rPr lang="en-US" dirty="0"/>
                  <a:t>Solve the resulting SDP using bisection. 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/>
                      <m:t>The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beamformer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is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designed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to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remain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covert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for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all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possible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Willie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channels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inside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the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uncertainty</m:t>
                    </m:r>
                    <m:r>
                      <m:rPr>
                        <m:nor/>
                      </m:rPr>
                      <a:rPr lang="en-US" i="0"/>
                      <m:t> </m:t>
                    </m:r>
                    <m:r>
                      <m:rPr>
                        <m:nor/>
                      </m:rPr>
                      <a:rPr lang="en-US" i="0"/>
                      <m:t>region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C2AC2C-9DDA-4C7B-3804-B3BDAA02AC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73D5C0-1B57-E126-BC62-719638B93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594343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722F4-5303-B009-10C7-8495E038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Imperfect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C674A5-3F16-2D6E-B36A-1303406056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Imperfect WCSI Scenario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Case 2: Robust MI Maximization</a:t>
                </a:r>
              </a:p>
              <a:p>
                <a:pPr lvl="2"/>
                <a:r>
                  <a:rPr lang="en-US" dirty="0"/>
                  <a:t>This case uses the second KL covert constraint.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≤2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Where: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robust MI maximization problem is</a:t>
                </a:r>
              </a:p>
              <a:p>
                <a:pPr lvl="3"/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</m:lim>
                    </m:limLow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en-US" b="0" dirty="0"/>
                  <a:t>                                                                              (45a)</a:t>
                </a:r>
              </a:p>
              <a:p>
                <a:pPr lvl="3"/>
                <a:r>
                  <a:rPr lang="en-US" dirty="0"/>
                  <a:t>subject to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≤2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0" dirty="0"/>
                  <a:t>                                                                                     (45b)</a:t>
                </a:r>
              </a:p>
              <a:p>
                <a:pPr lvl="4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b="0" dirty="0"/>
                  <a:t>                                                                                       (45c)</a:t>
                </a:r>
                <a:endParaRPr lang="en-US" dirty="0"/>
              </a:p>
              <a:p>
                <a:pPr lvl="4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+∥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/>
                          <m:t>total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             (45d)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r>
                  <a:rPr lang="en-US" b="1" dirty="0"/>
                  <a:t>                                                                                      </a:t>
                </a:r>
                <a:r>
                  <a:rPr lang="en-US" dirty="0"/>
                  <a:t>(45e)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C674A5-3F16-2D6E-B36A-1303406056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CC2B8F-CA32-0A21-C96C-09EE70D8A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725811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3CD54-4BED-D492-AE1B-9C0B41582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Imperfect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4329BE-0776-F107-EC1D-DC64E3B27C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Imperfect WCSI Scenario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Transforming the Covert Constraint</a:t>
                </a:r>
              </a:p>
              <a:p>
                <a:pPr lvl="2"/>
                <a:r>
                  <a:rPr lang="en-US" dirty="0"/>
                  <a:t>Rewrite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using the ratio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−1≤2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Let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Then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So,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−1≤2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feasible range becomes</a:t>
                </a:r>
              </a:p>
              <a:p>
                <a:pPr lvl="3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acc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acc>
                  </m:oMath>
                </a14:m>
                <a:r>
                  <a:rPr lang="en-US" b="0" dirty="0"/>
                  <a:t>                                                  (46)</a:t>
                </a:r>
              </a:p>
              <a:p>
                <a:pPr lvl="2"/>
                <a:r>
                  <a:rPr lang="en-US" dirty="0"/>
                  <a:t>Where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acc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acc>
                  </m:oMath>
                </a14:m>
                <a:r>
                  <a:rPr lang="en-US" dirty="0"/>
                  <a:t> are the two roots of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−1=2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4329BE-0776-F107-EC1D-DC64E3B27C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22" t="-1348" b="-5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4816D9-B404-10C5-639F-305A8D8AC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478540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D6936-A096-1643-2D16-84BAF55B3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Imperfect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4E9076-4CA2-220F-1431-0303029354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Imperfect WCSI Scenario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Ratio Form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Substitute Willie’s received powers.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=∣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=∣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+∣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Thus,</a:t>
                </a:r>
              </a:p>
              <a:p>
                <a:pPr lvl="3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acc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>
                            <a:latin typeface="Cambria Math" panose="02040503050406030204" pitchFamily="18" charset="0"/>
                          </a:rPr>
                          <m:t>+∣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acc>
                  </m:oMath>
                </a14:m>
                <a:r>
                  <a:rPr lang="en-US" b="0" dirty="0"/>
                  <a:t>                                                    (46)</a:t>
                </a:r>
              </a:p>
              <a:p>
                <a:pPr lvl="2"/>
                <a:r>
                  <a:rPr lang="en-US" dirty="0"/>
                  <a:t>This constraint must hold under imperfect WCSI: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4E9076-4CA2-220F-1431-0303029354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D20A1-FD6F-842F-3742-6A181B446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656158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71A38-6D83-C342-B871-AB112A245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Imperfect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CC52B3-15DB-96FE-5FBA-C5FD5D52B1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Imperfect WCSI Scenario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Solution Method</a:t>
                </a:r>
              </a:p>
              <a:p>
                <a:pPr lvl="2"/>
                <a:r>
                  <a:rPr lang="en-US" dirty="0"/>
                  <a:t>Case 2 follows the same robust optimization procedure as Case 1.</a:t>
                </a:r>
              </a:p>
              <a:p>
                <a:pPr lvl="2"/>
                <a:r>
                  <a:rPr lang="en-US" dirty="0"/>
                  <a:t>The main steps are:</a:t>
                </a:r>
              </a:p>
              <a:p>
                <a:pPr lvl="3"/>
                <a:r>
                  <a:rPr lang="en-US" dirty="0"/>
                  <a:t>Convert the KL constraint into ratio bounds: </a:t>
                </a:r>
              </a:p>
              <a:p>
                <a:pPr lvl="3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acc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acc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Substitute imperfect WCSI: 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Reformulate the robust constraints as quadratic inequalities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r>
                  <a:rPr lang="en-US" dirty="0"/>
                  <a:t>. </a:t>
                </a:r>
              </a:p>
              <a:p>
                <a:pPr lvl="3"/>
                <a:r>
                  <a:rPr lang="en-US" dirty="0"/>
                  <a:t>Apply SDR: 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Apply S-Procedure to convert infinite uncertainty constraints into LMIs. </a:t>
                </a:r>
              </a:p>
              <a:p>
                <a:pPr lvl="2"/>
                <a:r>
                  <a:rPr lang="en-US" dirty="0"/>
                  <a:t>Solve the final SDP using bisection.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CC52B3-15DB-96FE-5FBA-C5FD5D52B1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CA2BCB-98E6-79FF-F03A-4F490904B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34041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60B78-B197-AD68-98DA-B126ACC25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Imperfect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25369E-66D6-DA3C-3855-2F05D44683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Imperfect WCSI Scenario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Key Difference from Case 1</a:t>
                </a:r>
              </a:p>
              <a:p>
                <a:pPr lvl="2"/>
                <a:r>
                  <a:rPr lang="en-US" dirty="0"/>
                  <a:t>The method is similar, but the KL direction is different.</a:t>
                </a:r>
              </a:p>
              <a:p>
                <a:pPr lvl="2"/>
                <a:r>
                  <a:rPr lang="en-US" dirty="0"/>
                  <a:t>Case 1 uses: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≤2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which leads to</a:t>
                </a:r>
              </a:p>
              <a:p>
                <a:pPr lvl="3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Case 2 uses: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≤2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which leads to</a:t>
                </a:r>
              </a:p>
              <a:p>
                <a:pPr lvl="3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acc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acc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Although both use SDR, S-Procedure, and bisection, the feasible beamforming region changes.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25369E-66D6-DA3C-3855-2F05D44683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16C804-2290-F51C-961E-A795191A0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80038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F8871-BA31-9CB3-EA2E-33F561901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Imperfect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121453-1D42-EBD2-EB19-F610A7E33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Robust Rate Maximization with Imperfect WCSI</a:t>
                </a:r>
              </a:p>
              <a:p>
                <a:pPr lvl="1"/>
                <a:r>
                  <a:rPr lang="en-US" dirty="0"/>
                  <a:t>Perfect covertness is difficult when Willie’s CSI has estimation error.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So instead of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paper uses relaxed covert constraints: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≤2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or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≤2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goal is to maximize Bob’s rate while maintaining radar sensing, power limit, and covertness.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121453-1D42-EBD2-EB19-F610A7E33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2AFBB8-D7C3-0C8E-C017-CFFC04809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8970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F43CE-9897-077A-9B43-BC16CC92C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Beamforming Design Based on Imperfect WCSI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BB0429-20AE-4B37-D0F6-E717B69290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Main Optimization Idea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Use the same robust optimization method as MI maximization.</a:t>
                </a:r>
              </a:p>
              <a:p>
                <a:pPr lvl="2"/>
                <a:r>
                  <a:rPr lang="en-US" dirty="0"/>
                  <a:t>The beamformers are designed to satisfy: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e>
                    </m:func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subject to: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sepChr m:val=";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endParaRPr lang="en-US" b="0" dirty="0"/>
              </a:p>
              <a:p>
                <a:pPr lvl="4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,0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+∥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/>
                          <m:t>total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4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≤2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i="0"/>
                      <m:t>or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≤2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Solution method: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/>
                      <m:t>KL</m:t>
                    </m:r>
                    <m:r>
                      <m:rPr>
                        <m:nor/>
                      </m:rPr>
                      <a:rPr lang="en-US" b="0" i="0"/>
                      <m:t> </m:t>
                    </m:r>
                    <m:r>
                      <m:rPr>
                        <m:nor/>
                      </m:rPr>
                      <a:rPr lang="en-US" b="0" i="0"/>
                      <m:t>transformation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 i="0"/>
                      <m:t>SDR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 i="0"/>
                      <m:t>S</m:t>
                    </m:r>
                    <m:r>
                      <m:rPr>
                        <m:nor/>
                      </m:rPr>
                      <a:rPr lang="en-US" i="0"/>
                      <m:t>−</m:t>
                    </m:r>
                    <m:r>
                      <m:rPr>
                        <m:nor/>
                      </m:rPr>
                      <a:rPr lang="en-US" i="0"/>
                      <m:t>Procedure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 i="0"/>
                      <m:t>SDP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BB0429-20AE-4B37-D0F6-E717B69290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52ACF3-B21E-5395-FBEE-D40843E35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692197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7E985-407B-38D8-0713-3D95849AD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6EA4CE-9930-2FEF-09B3-73A61757B6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1. What Fig. 4 is proving</a:t>
                </a:r>
              </a:p>
              <a:p>
                <a:pPr lvl="1"/>
                <a:r>
                  <a:rPr lang="en-US" dirty="0"/>
                  <a:t>Fig. 4 checks the achieved KL divergences: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/>
                      <m:t>𝐷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  <m:r>
                          <a:rPr lang="en-US"/>
                          <m:t>∣∣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and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/>
                      <m:t>𝐷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  <m:r>
                          <a:rPr lang="en-US"/>
                          <m:t>∣∣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under imperfect Willie CSI.</a:t>
                </a:r>
              </a:p>
              <a:p>
                <a:pPr lvl="2"/>
                <a:r>
                  <a:rPr lang="en-US" dirty="0"/>
                  <a:t>The covertness threshold is: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/>
                      <m:t>2</m:t>
                    </m:r>
                    <m:sSup>
                      <m:sSupPr>
                        <m:ctrlPr>
                          <a:rPr lang="en-US" i="1"/>
                        </m:ctrlPr>
                      </m:sSupPr>
                      <m:e>
                        <m:r>
                          <a:rPr lang="en-US" i="1"/>
                          <m:t>𝜖</m:t>
                        </m:r>
                      </m:e>
                      <m:sup>
                        <m:r>
                          <a:rPr lang="en-US"/>
                          <m:t>2</m:t>
                        </m:r>
                      </m:sup>
                    </m:sSup>
                    <m:r>
                      <a:rPr lang="en-US"/>
                      <m:t>=0.005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So the desired constraints are: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/>
                      <m:t>𝐷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  <m:r>
                          <a:rPr lang="en-US"/>
                          <m:t>∣∣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</m:e>
                    </m:d>
                    <m:r>
                      <a:rPr lang="en-US"/>
                      <m:t>≤0.005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en-US" i="1"/>
                      <m:t>𝐷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  <m:r>
                          <a:rPr lang="en-US"/>
                          <m:t>∣∣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</m:e>
                    </m:d>
                    <m:r>
                      <a:rPr lang="en-US"/>
                      <m:t>≤0.005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Fig. 4 shows the </a:t>
                </a:r>
                <a:r>
                  <a:rPr lang="en-US" b="1" dirty="0"/>
                  <a:t>empirical CDF</a:t>
                </a:r>
                <a:r>
                  <a:rPr lang="en-US" dirty="0"/>
                  <a:t> of those achieved KL values.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6EA4CE-9930-2FEF-09B3-73A61757B6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4E1BFE-2E4F-58DD-64A8-19477F2B3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549218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EEEAA-D763-20D9-E0A1-E96041A39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32FC68-E2B8-9F71-671C-29069AF1D3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2. How to read the empirical CDF</a:t>
                </a:r>
              </a:p>
              <a:p>
                <a:pPr lvl="1"/>
                <a:r>
                  <a:rPr lang="en-US" dirty="0"/>
                  <a:t>For any x-axis value </a:t>
                </a:r>
                <a14:m>
                  <m:oMath xmlns:m="http://schemas.openxmlformats.org/officeDocument/2006/math">
                    <m:r>
                      <a:rPr lang="en-US" i="1"/>
                      <m:t>𝑥</m:t>
                    </m:r>
                  </m:oMath>
                </a14:m>
                <a:r>
                  <a:rPr lang="en-US" dirty="0"/>
                  <a:t>, the y-axis means: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/>
                        </m:ctrlPr>
                      </m:sSubPr>
                      <m:e>
                        <m:r>
                          <a:rPr lang="en-US" i="1"/>
                          <m:t>𝐹</m:t>
                        </m:r>
                      </m:e>
                      <m:sub>
                        <m:r>
                          <a:rPr lang="en-US" i="1"/>
                          <m:t>𝐷</m:t>
                        </m:r>
                      </m:sub>
                    </m:sSub>
                    <m:d>
                      <m:dPr>
                        <m:ctrlPr>
                          <a:rPr lang="en-US" i="1"/>
                        </m:ctrlPr>
                      </m:dPr>
                      <m:e>
                        <m:r>
                          <a:rPr lang="en-US" i="1"/>
                          <m:t>𝑥</m:t>
                        </m:r>
                      </m:e>
                    </m:d>
                    <m:r>
                      <a:rPr lang="en-US"/>
                      <m:t>=</m:t>
                    </m:r>
                    <m:r>
                      <m:rPr>
                        <m:sty m:val="p"/>
                      </m:rPr>
                      <a:rPr lang="en-US"/>
                      <m:t>Pr</m:t>
                    </m:r>
                    <m:r>
                      <a:rPr lang="en-US"/>
                      <m:t>⁡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r>
                          <a:rPr lang="en-US" i="1"/>
                          <m:t>𝐷</m:t>
                        </m:r>
                        <m:r>
                          <a:rPr lang="en-US"/>
                          <m:t>≤</m:t>
                        </m:r>
                        <m:r>
                          <a:rPr lang="en-US" i="1"/>
                          <m:t>𝑥</m:t>
                        </m:r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So if at: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/>
                      <m:t>𝑥</m:t>
                    </m:r>
                    <m:r>
                      <a:rPr lang="en-US"/>
                      <m:t>=0.005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CDF value is: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/>
                        </m:ctrlPr>
                      </m:sSubPr>
                      <m:e>
                        <m:r>
                          <a:rPr lang="en-US" i="1"/>
                          <m:t>𝐹</m:t>
                        </m:r>
                      </m:e>
                      <m:sub>
                        <m:r>
                          <a:rPr lang="en-US" i="1"/>
                          <m:t>𝐷</m:t>
                        </m:r>
                      </m:sub>
                    </m:sSub>
                    <m:d>
                      <m:dPr>
                        <m:ctrlPr>
                          <a:rPr lang="en-US" i="1"/>
                        </m:ctrlPr>
                      </m:dPr>
                      <m:e>
                        <m:r>
                          <a:rPr lang="en-US"/>
                          <m:t>0.005</m:t>
                        </m:r>
                      </m:e>
                    </m:d>
                    <m:r>
                      <a:rPr lang="en-US"/>
                      <m:t>=1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then </a:t>
                </a:r>
                <a:r>
                  <a:rPr lang="en-US" b="1" dirty="0"/>
                  <a:t>100% of the simulations satisfy the covertness constraint</a:t>
                </a:r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If: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/>
                        </m:ctrlPr>
                      </m:sSubPr>
                      <m:e>
                        <m:r>
                          <a:rPr lang="en-US" i="1"/>
                          <m:t>𝐹</m:t>
                        </m:r>
                      </m:e>
                      <m:sub>
                        <m:r>
                          <a:rPr lang="en-US" i="1"/>
                          <m:t>𝐷</m:t>
                        </m:r>
                      </m:sub>
                    </m:sSub>
                    <m:d>
                      <m:dPr>
                        <m:ctrlPr>
                          <a:rPr lang="en-US" i="1"/>
                        </m:ctrlPr>
                      </m:dPr>
                      <m:e>
                        <m:r>
                          <a:rPr lang="en-US"/>
                          <m:t>0.005</m:t>
                        </m:r>
                      </m:e>
                    </m:d>
                    <m:r>
                      <a:rPr lang="en-US"/>
                      <m:t>=0.5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then only </a:t>
                </a:r>
                <a:r>
                  <a:rPr lang="en-US" b="1" dirty="0"/>
                  <a:t>50% satisfy</a:t>
                </a:r>
                <a:r>
                  <a:rPr lang="en-US" dirty="0"/>
                  <a:t>, and the other </a:t>
                </a:r>
                <a:r>
                  <a:rPr lang="en-US" b="1" dirty="0"/>
                  <a:t>50% violate</a:t>
                </a:r>
                <a:r>
                  <a:rPr lang="en-US" dirty="0"/>
                  <a:t>.</a:t>
                </a:r>
              </a:p>
              <a:p>
                <a:pPr lvl="2"/>
                <a:r>
                  <a:rPr lang="en-US" dirty="0"/>
                  <a:t>That is exactly what the paper says:</a:t>
                </a:r>
              </a:p>
              <a:p>
                <a:pPr lvl="2"/>
                <a:r>
                  <a:rPr lang="en-US" dirty="0"/>
                  <a:t>Non-robust design violates the constraint often. </a:t>
                </a:r>
              </a:p>
              <a:p>
                <a:pPr lvl="2"/>
                <a:r>
                  <a:rPr lang="en-US" dirty="0"/>
                  <a:t>Robust design keeps the KL divergence below the threshold.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32FC68-E2B8-9F71-671C-29069AF1D3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4A6B9F-9AFE-30F0-AE65-F92CC7DA1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879740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2BDE2-85F6-DFC7-02EB-BFC9ADADA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910D54-D8D5-DE64-1EE2-B5A5C4602D9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3. What are robust and non-robust designs?</a:t>
                </a:r>
              </a:p>
              <a:p>
                <a:pPr lvl="1"/>
                <a:r>
                  <a:rPr lang="en-US" b="1" dirty="0"/>
                  <a:t>Non-robust design</a:t>
                </a:r>
              </a:p>
              <a:p>
                <a:pPr lvl="2"/>
                <a:r>
                  <a:rPr lang="en-US" dirty="0"/>
                  <a:t>The transmitter only knows estimated Willie channel: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/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1"/>
                            </m:ctrlPr>
                          </m:accPr>
                          <m:e>
                            <m:r>
                              <a:rPr lang="en-US" b="1"/>
                              <m:t>𝐡</m:t>
                            </m:r>
                          </m:e>
                        </m:acc>
                      </m:e>
                      <m:sub>
                        <m:r>
                          <a:rPr lang="en-US" i="1"/>
                          <m:t>𝑊</m:t>
                        </m:r>
                      </m:sub>
                    </m:sSub>
                  </m:oMath>
                </a14:m>
                <a:endParaRPr lang="en-US" b="1" dirty="0"/>
              </a:p>
              <a:p>
                <a:pPr lvl="2"/>
                <a:r>
                  <a:rPr lang="en-US" dirty="0"/>
                  <a:t>and designs the beamformer using: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/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1"/>
                            </m:ctrlPr>
                          </m:accPr>
                          <m:e>
                            <m:r>
                              <a:rPr lang="en-US" b="1"/>
                              <m:t>𝐡</m:t>
                            </m:r>
                          </m:e>
                        </m:acc>
                      </m:e>
                      <m:sub>
                        <m:r>
                          <a:rPr lang="en-US" i="1"/>
                          <m:t>𝑊</m:t>
                        </m:r>
                      </m:sub>
                    </m:sSub>
                  </m:oMath>
                </a14:m>
                <a:endParaRPr lang="en-US" b="1" dirty="0"/>
              </a:p>
              <a:p>
                <a:pPr lvl="2"/>
                <a:r>
                  <a:rPr lang="en-US" dirty="0"/>
                  <a:t>But in reality, Willie’s actual channel is: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/>
                        </m:ctrlPr>
                      </m:sSub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</m:sSub>
                    <m:r>
                      <a:rPr lang="en-US"/>
                      <m:t>=</m:t>
                    </m:r>
                    <m:sSub>
                      <m:sSubPr>
                        <m:ctrlPr>
                          <a:rPr lang="en-US" i="1"/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/>
                            </m:ctrlPr>
                          </m:accPr>
                          <m:e>
                            <m:r>
                              <a:rPr lang="en-US" b="1"/>
                              <m:t>𝐡</m:t>
                            </m:r>
                          </m:e>
                        </m:acc>
                      </m:e>
                      <m:sub>
                        <m:r>
                          <a:rPr lang="en-US" i="1"/>
                          <m:t>𝑊</m:t>
                        </m:r>
                      </m:sub>
                    </m:sSub>
                    <m:r>
                      <a:rPr lang="en-US"/>
                      <m:t>+</m:t>
                    </m:r>
                    <m:r>
                      <m:rPr>
                        <m:sty m:val="p"/>
                      </m:rPr>
                      <a:rPr lang="en-US"/>
                      <m:t>Δ</m:t>
                    </m:r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So the design may look covert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/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1"/>
                            </m:ctrlPr>
                          </m:accPr>
                          <m:e>
                            <m:r>
                              <a:rPr lang="en-US" b="1"/>
                              <m:t>𝐡</m:t>
                            </m:r>
                          </m:e>
                        </m:acc>
                      </m:e>
                      <m:sub>
                        <m:r>
                          <a:rPr lang="en-US" i="1"/>
                          <m:t>𝑊</m:t>
                        </m:r>
                      </m:sub>
                    </m:sSub>
                  </m:oMath>
                </a14:m>
                <a:r>
                  <a:rPr lang="en-US" dirty="0"/>
                  <a:t>, but not for the true 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/>
                        </m:ctrlPr>
                      </m:sSub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2"/>
                <a:r>
                  <a:rPr lang="en-US" dirty="0"/>
                  <a:t>That is why the non-robust curve shifts to the right.</a:t>
                </a:r>
              </a:p>
              <a:p>
                <a:pPr lvl="1"/>
                <a:r>
                  <a:rPr lang="en-US" b="1" dirty="0"/>
                  <a:t>Robust design</a:t>
                </a:r>
              </a:p>
              <a:p>
                <a:pPr lvl="2"/>
                <a:r>
                  <a:rPr lang="en-US" dirty="0"/>
                  <a:t>The robust design knows that Willie CSI has error: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/>
                        </m:ctrlPr>
                      </m:sSub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</m:sSub>
                    <m:r>
                      <a:rPr lang="en-US"/>
                      <m:t>=</m:t>
                    </m:r>
                    <m:sSub>
                      <m:sSubPr>
                        <m:ctrlPr>
                          <a:rPr lang="en-US" i="1"/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/>
                            </m:ctrlPr>
                          </m:accPr>
                          <m:e>
                            <m:r>
                              <a:rPr lang="en-US" b="1"/>
                              <m:t>𝐡</m:t>
                            </m:r>
                          </m:e>
                        </m:acc>
                      </m:e>
                      <m:sub>
                        <m:r>
                          <a:rPr lang="en-US" i="1"/>
                          <m:t>𝑊</m:t>
                        </m:r>
                      </m:sub>
                    </m:sSub>
                    <m:r>
                      <a:rPr lang="en-US"/>
                      <m:t>+</m:t>
                    </m:r>
                    <m:r>
                      <m:rPr>
                        <m:sty m:val="p"/>
                      </m:rPr>
                      <a:rPr lang="en-US"/>
                      <m:t>Δ</m:t>
                    </m:r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and it designs the beamformer to stay covert even when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/>
                      <m:t>Δ</m:t>
                    </m:r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</m:sSub>
                  </m:oMath>
                </a14:m>
                <a:r>
                  <a:rPr lang="en-US" dirty="0"/>
                  <a:t> exists.</a:t>
                </a:r>
              </a:p>
              <a:p>
                <a:pPr lvl="2"/>
                <a:r>
                  <a:rPr lang="en-US" dirty="0"/>
                  <a:t>So the robust design tries to guarantee: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/>
                      <m:t>𝐷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  <m:r>
                          <a:rPr lang="en-US"/>
                          <m:t>∣∣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</m:e>
                    </m:d>
                    <m:r>
                      <a:rPr lang="en-US"/>
                      <m:t>≤0.005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en-US" i="1"/>
                      <m:t>𝐷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  <m:r>
                          <a:rPr lang="en-US"/>
                          <m:t>∣∣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</m:e>
                    </m:d>
                    <m:r>
                      <a:rPr lang="en-US"/>
                      <m:t>≤0.005</m:t>
                    </m:r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for uncertain Willie channel.</a:t>
                </a:r>
              </a:p>
              <a:p>
                <a:pPr lvl="3"/>
                <a:r>
                  <a:rPr lang="en-US" dirty="0"/>
                  <a:t>That is why robust design curve stays on the left side of the threshold.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910D54-D8D5-DE64-1EE2-B5A5C4602D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50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A88C6-EF91-6965-C2E0-385961AE7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014377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9BB66-15E9-9CB3-75C3-2D19E4A8B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EE2A9D-379B-0C07-F30C-70E414B968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4. KL divergence formulas you need</a:t>
                </a:r>
              </a:p>
              <a:p>
                <a:pPr lvl="1"/>
                <a:r>
                  <a:rPr lang="en-US" dirty="0"/>
                  <a:t>At Willie, define: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/>
                        </m:ctrlPr>
                      </m:sSubPr>
                      <m:e>
                        <m:r>
                          <a:rPr lang="en-US" i="1"/>
                          <m:t>𝜆</m:t>
                        </m:r>
                      </m:e>
                      <m:sub>
                        <m:r>
                          <a:rPr lang="en-US"/>
                          <m:t>0</m:t>
                        </m:r>
                      </m:sub>
                    </m:sSub>
                    <m:r>
                      <a:rPr lang="en-US"/>
                      <m:t>=</m:t>
                    </m:r>
                    <m:sSubSup>
                      <m:sSubSupPr>
                        <m:ctrlPr>
                          <a:rPr lang="en-US" i="1"/>
                        </m:ctrlPr>
                      </m:sSubSup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  <m:sup>
                        <m:r>
                          <a:rPr lang="en-US" i="1"/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1"/>
                          <m:t>𝐖</m:t>
                        </m:r>
                      </m:e>
                      <m:sub>
                        <m:r>
                          <a:rPr lang="en-US" i="1"/>
                          <m:t>𝑅</m:t>
                        </m:r>
                        <m:r>
                          <a:rPr lang="en-US"/>
                          <m:t>,0</m:t>
                        </m:r>
                      </m:sub>
                    </m:sSub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</m:sSub>
                    <m:r>
                      <a:rPr lang="en-US"/>
                      <m:t>+</m:t>
                    </m:r>
                    <m:sSubSup>
                      <m:sSubSupPr>
                        <m:ctrlPr>
                          <a:rPr lang="en-US" i="1"/>
                        </m:ctrlPr>
                      </m:sSubSupPr>
                      <m:e>
                        <m:r>
                          <a:rPr lang="en-US" i="1"/>
                          <m:t>𝜎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  <m:sup>
                        <m:r>
                          <a:rPr lang="en-US"/>
                          <m:t>2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/>
                        </m:ctrlPr>
                      </m:sSubPr>
                      <m:e>
                        <m:r>
                          <a:rPr lang="en-US" i="1"/>
                          <m:t>𝜆</m:t>
                        </m:r>
                      </m:e>
                      <m:sub>
                        <m:r>
                          <a:rPr lang="en-US"/>
                          <m:t>1</m:t>
                        </m:r>
                      </m:sub>
                    </m:sSub>
                    <m:r>
                      <a:rPr lang="en-US"/>
                      <m:t>=</m:t>
                    </m:r>
                    <m:sSubSup>
                      <m:sSubSupPr>
                        <m:ctrlPr>
                          <a:rPr lang="en-US" i="1"/>
                        </m:ctrlPr>
                      </m:sSubSup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  <m:sup>
                        <m:r>
                          <a:rPr lang="en-US" i="1"/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1"/>
                          <m:t>𝐖</m:t>
                        </m:r>
                      </m:e>
                      <m:sub>
                        <m:r>
                          <a:rPr lang="en-US" i="1"/>
                          <m:t>𝑅</m:t>
                        </m:r>
                        <m:r>
                          <a:rPr lang="en-US"/>
                          <m:t>,0</m:t>
                        </m:r>
                      </m:sub>
                    </m:sSub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</m:sSub>
                    <m:r>
                      <a:rPr lang="en-US"/>
                      <m:t>+</m:t>
                    </m:r>
                    <m:sSubSup>
                      <m:sSubSupPr>
                        <m:ctrlPr>
                          <a:rPr lang="en-US" i="1"/>
                        </m:ctrlPr>
                      </m:sSubSup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  <m:sup>
                        <m:r>
                          <a:rPr lang="en-US" i="1"/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1"/>
                          <m:t>𝐖</m:t>
                        </m:r>
                      </m:e>
                      <m:sub>
                        <m:r>
                          <a:rPr lang="en-US" i="1"/>
                          <m:t>𝑅</m:t>
                        </m:r>
                        <m:r>
                          <a:rPr lang="en-US"/>
                          <m:t>,1</m:t>
                        </m:r>
                      </m:sub>
                    </m:sSub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</m:sSub>
                    <m:r>
                      <a:rPr lang="en-US"/>
                      <m:t>+</m:t>
                    </m:r>
                    <m:sSubSup>
                      <m:sSubSupPr>
                        <m:ctrlPr>
                          <a:rPr lang="en-US" i="1"/>
                        </m:ctrlPr>
                      </m:sSubSupPr>
                      <m:e>
                        <m:r>
                          <a:rPr lang="en-US" i="1"/>
                          <m:t>𝜎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  <m:sup>
                        <m:r>
                          <a:rPr lang="en-US"/>
                          <m:t>2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Then: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/>
                      <m:t>𝐷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  <m:r>
                          <a:rPr lang="en-US"/>
                          <m:t>∣∣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</m:e>
                    </m:d>
                    <m:r>
                      <a:rPr lang="en-US"/>
                      <m:t>=</m:t>
                    </m:r>
                    <m:func>
                      <m:funcPr>
                        <m:ctrlPr>
                          <a:rPr lang="en-US" i="1"/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/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en-US" i="1"/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/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/>
                                    </m:ctrlPr>
                                  </m:sSubPr>
                                  <m:e>
                                    <m:r>
                                      <a:rPr lang="en-US" i="1"/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/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i="1"/>
                                    </m:ctrlPr>
                                  </m:sSubPr>
                                  <m:e>
                                    <m:r>
                                      <a:rPr lang="en-US" i="1"/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/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  <m:r>
                      <a:rPr lang="en-US"/>
                      <m:t>+</m:t>
                    </m:r>
                    <m:f>
                      <m:fPr>
                        <m:ctrlPr>
                          <a:rPr lang="en-US" i="1"/>
                        </m:ctrlPr>
                      </m:fPr>
                      <m:num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𝜆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𝜆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</m:den>
                    </m:f>
                    <m:r>
                      <a:rPr lang="en-US"/>
                      <m:t>−1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and: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/>
                      <m:t>𝐷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  <m:r>
                          <a:rPr lang="en-US"/>
                          <m:t>∣∣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</m:e>
                    </m:d>
                    <m:r>
                      <a:rPr lang="en-US"/>
                      <m:t>=</m:t>
                    </m:r>
                    <m:func>
                      <m:funcPr>
                        <m:ctrlPr>
                          <a:rPr lang="en-US" i="1"/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/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en-US" i="1"/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/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/>
                                    </m:ctrlPr>
                                  </m:sSubPr>
                                  <m:e>
                                    <m:r>
                                      <a:rPr lang="en-US" i="1"/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/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i="1"/>
                                    </m:ctrlPr>
                                  </m:sSubPr>
                                  <m:e>
                                    <m:r>
                                      <a:rPr lang="en-US" i="1"/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/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  <m:r>
                      <a:rPr lang="en-US"/>
                      <m:t>+</m:t>
                    </m:r>
                    <m:f>
                      <m:fPr>
                        <m:ctrlPr>
                          <a:rPr lang="en-US" i="1"/>
                        </m:ctrlPr>
                      </m:fPr>
                      <m:num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𝜆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𝜆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</m:den>
                    </m:f>
                    <m:r>
                      <a:rPr lang="en-US"/>
                      <m:t>−1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EE2A9D-379B-0C07-F30C-70E414B968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E81F4B-EFDE-E95D-4CE8-101F95F28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531100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29ED1-5D96-9E7F-7A4B-237E69C20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81BB0C-28A5-1567-290E-98B5E12AA9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5. Important simplification for optimization</a:t>
                </a:r>
              </a:p>
              <a:p>
                <a:pPr lvl="1"/>
                <a:r>
                  <a:rPr lang="en-US" dirty="0"/>
                  <a:t>Let: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/>
                      <m:t>𝑞</m:t>
                    </m:r>
                    <m:r>
                      <a:rPr lang="en-US"/>
                      <m:t>=</m:t>
                    </m:r>
                    <m:sSubSup>
                      <m:sSubSupPr>
                        <m:ctrlPr>
                          <a:rPr lang="en-US" i="1"/>
                        </m:ctrlPr>
                      </m:sSubSup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  <m:sup>
                        <m:r>
                          <a:rPr lang="en-US" i="1"/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1"/>
                          <m:t>𝐖</m:t>
                        </m:r>
                      </m:e>
                      <m:sub>
                        <m:r>
                          <a:rPr lang="en-US" i="1"/>
                          <m:t>𝑅</m:t>
                        </m:r>
                        <m:r>
                          <a:rPr lang="en-US"/>
                          <m:t>,1</m:t>
                        </m:r>
                      </m:sub>
                    </m:sSub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r>
                      <a:rPr lang="en-US" i="1"/>
                      <m:t>𝑠</m:t>
                    </m:r>
                    <m:r>
                      <a:rPr lang="en-US"/>
                      <m:t>=</m:t>
                    </m:r>
                    <m:sSubSup>
                      <m:sSubSupPr>
                        <m:ctrlPr>
                          <a:rPr lang="en-US" i="1"/>
                        </m:ctrlPr>
                      </m:sSubSup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  <m:sup>
                        <m:r>
                          <a:rPr lang="en-US" i="1"/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1"/>
                          <m:t>𝐖</m:t>
                        </m:r>
                      </m:e>
                      <m:sub>
                        <m:r>
                          <a:rPr lang="en-US" i="1"/>
                          <m:t>𝑅</m:t>
                        </m:r>
                        <m:r>
                          <a:rPr lang="en-US"/>
                          <m:t>,0</m:t>
                        </m:r>
                      </m:sub>
                    </m:sSub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</m:sSub>
                    <m:r>
                      <a:rPr lang="en-US"/>
                      <m:t>+</m:t>
                    </m:r>
                    <m:sSubSup>
                      <m:sSubSupPr>
                        <m:ctrlPr>
                          <a:rPr lang="en-US" i="1"/>
                        </m:ctrlPr>
                      </m:sSubSupPr>
                      <m:e>
                        <m:r>
                          <a:rPr lang="en-US" i="1"/>
                          <m:t>𝜎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  <m:sup>
                        <m:r>
                          <a:rPr lang="en-US"/>
                          <m:t>2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Then: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/>
                        </m:ctrlPr>
                      </m:sSubPr>
                      <m:e>
                        <m:r>
                          <a:rPr lang="en-US" i="1"/>
                          <m:t>𝜆</m:t>
                        </m:r>
                      </m:e>
                      <m:sub>
                        <m:r>
                          <a:rPr lang="en-US"/>
                          <m:t>0</m:t>
                        </m:r>
                      </m:sub>
                    </m:sSub>
                    <m:r>
                      <a:rPr lang="en-US"/>
                      <m:t>=</m:t>
                    </m:r>
                    <m:r>
                      <a:rPr lang="en-US" i="1"/>
                      <m:t>𝑠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/>
                        </m:ctrlPr>
                      </m:sSubPr>
                      <m:e>
                        <m:r>
                          <a:rPr lang="en-US" i="1"/>
                          <m:t>𝜆</m:t>
                        </m:r>
                      </m:e>
                      <m:sub>
                        <m:r>
                          <a:rPr lang="en-US"/>
                          <m:t>1</m:t>
                        </m:r>
                      </m:sub>
                    </m:sSub>
                    <m:r>
                      <a:rPr lang="en-US"/>
                      <m:t>=</m:t>
                    </m:r>
                    <m:r>
                      <a:rPr lang="en-US" i="1"/>
                      <m:t>𝑠</m:t>
                    </m:r>
                    <m:r>
                      <a:rPr lang="en-US"/>
                      <m:t>+</m:t>
                    </m:r>
                    <m:r>
                      <a:rPr lang="en-US" i="1"/>
                      <m:t>𝑞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Define: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/>
                      <m:t>𝑡</m:t>
                    </m:r>
                    <m:r>
                      <a:rPr lang="en-US"/>
                      <m:t>=</m:t>
                    </m:r>
                    <m:f>
                      <m:fPr>
                        <m:ctrlPr>
                          <a:rPr lang="en-US" i="1"/>
                        </m:ctrlPr>
                      </m:fPr>
                      <m:num>
                        <m:r>
                          <a:rPr lang="en-US" i="1"/>
                          <m:t>𝑞</m:t>
                        </m:r>
                      </m:num>
                      <m:den>
                        <m:r>
                          <a:rPr lang="en-US" i="1"/>
                          <m:t>𝑠</m:t>
                        </m:r>
                      </m:den>
                    </m:f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Then: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/>
                      <m:t>𝐷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  <m:r>
                          <a:rPr lang="en-US"/>
                          <m:t>∣∣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</m:e>
                    </m:d>
                    <m:r>
                      <a:rPr lang="en-US"/>
                      <m:t>=</m:t>
                    </m:r>
                    <m:r>
                      <m:rPr>
                        <m:sty m:val="p"/>
                      </m:rPr>
                      <a:rPr lang="en-US"/>
                      <m:t>ln</m:t>
                    </m:r>
                    <m:r>
                      <a:rPr lang="en-US"/>
                      <m:t>⁡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r>
                          <a:rPr lang="en-US"/>
                          <m:t>1+</m:t>
                        </m:r>
                        <m:r>
                          <a:rPr lang="en-US" i="1"/>
                          <m:t>𝑡</m:t>
                        </m:r>
                      </m:e>
                    </m:d>
                    <m:r>
                      <a:rPr lang="en-US"/>
                      <m:t>+</m:t>
                    </m:r>
                    <m:f>
                      <m:fPr>
                        <m:ctrlPr>
                          <a:rPr lang="en-US" i="1"/>
                        </m:ctrlPr>
                      </m:fPr>
                      <m:num>
                        <m:r>
                          <a:rPr lang="en-US"/>
                          <m:t>1</m:t>
                        </m:r>
                      </m:num>
                      <m:den>
                        <m:r>
                          <a:rPr lang="en-US"/>
                          <m:t>1+</m:t>
                        </m:r>
                        <m:r>
                          <a:rPr lang="en-US" i="1"/>
                          <m:t>𝑡</m:t>
                        </m:r>
                      </m:den>
                    </m:f>
                    <m:r>
                      <a:rPr lang="en-US"/>
                      <m:t>−1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 i="1"/>
                      <m:t>𝐷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  <m:r>
                          <a:rPr lang="en-US"/>
                          <m:t>∣∣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</m:e>
                    </m:d>
                    <m:r>
                      <a:rPr lang="en-US"/>
                      <m:t>=−</m:t>
                    </m:r>
                    <m:r>
                      <m:rPr>
                        <m:sty m:val="p"/>
                      </m:rPr>
                      <a:rPr lang="en-US"/>
                      <m:t>ln</m:t>
                    </m:r>
                    <m:r>
                      <a:rPr lang="en-US"/>
                      <m:t>⁡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r>
                          <a:rPr lang="en-US"/>
                          <m:t>1+</m:t>
                        </m:r>
                        <m:r>
                          <a:rPr lang="en-US" i="1"/>
                          <m:t>𝑡</m:t>
                        </m:r>
                      </m:e>
                    </m:d>
                    <m:r>
                      <a:rPr lang="en-US"/>
                      <m:t>+</m:t>
                    </m:r>
                    <m:r>
                      <a:rPr lang="en-US" i="1"/>
                      <m:t>𝑡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So instead of directly putting KL into CVXPY, you can first find the maximum allowed </a:t>
                </a:r>
                <a14:m>
                  <m:oMath xmlns:m="http://schemas.openxmlformats.org/officeDocument/2006/math">
                    <m:r>
                      <a:rPr lang="en-US" i="1"/>
                      <m:t>𝑡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/>
                        </m:ctrlPr>
                      </m:sSubPr>
                      <m:e>
                        <m:r>
                          <a:rPr lang="en-US" i="1"/>
                          <m:t>𝑡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/>
                          <m:t>max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such that both KL constraints satisfy: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/>
                      <m:t>𝐷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  <m:r>
                          <a:rPr lang="en-US"/>
                          <m:t>∣∣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</m:e>
                    </m:d>
                    <m:r>
                      <a:rPr lang="en-US"/>
                      <m:t>≤0.005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en-US" i="1"/>
                      <m:t>𝐷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  <m:r>
                          <a:rPr lang="en-US"/>
                          <m:t>∣∣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</m:e>
                    </m:d>
                    <m:r>
                      <a:rPr lang="en-US"/>
                      <m:t>≤0.005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Then the covertness constraint becomes: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/>
                        </m:ctrlPr>
                      </m:sSubSup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  <m:sup>
                        <m:r>
                          <a:rPr lang="en-US" i="1"/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1" i="1"/>
                        </m:ctrlPr>
                      </m:sSubPr>
                      <m:e>
                        <m:r>
                          <a:rPr lang="en-US" b="1"/>
                          <m:t>𝐖</m:t>
                        </m:r>
                      </m:e>
                      <m:sub>
                        <m:r>
                          <a:rPr lang="en-US" i="1"/>
                          <m:t>𝑅</m:t>
                        </m:r>
                        <m:r>
                          <a:rPr lang="en-US"/>
                          <m:t>,1</m:t>
                        </m:r>
                      </m:sub>
                    </m:sSub>
                    <m:sSub>
                      <m:sSubPr>
                        <m:ctrlPr>
                          <a:rPr lang="en-US" b="1" i="1"/>
                        </m:ctrlPr>
                      </m:sSub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</m:sSub>
                    <m:r>
                      <a:rPr lang="en-US"/>
                      <m:t>≤</m:t>
                    </m:r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i="1"/>
                          <m:t>𝑡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/>
                          <m:t>max</m:t>
                        </m:r>
                      </m:sub>
                    </m:sSub>
                    <m:d>
                      <m:dPr>
                        <m:ctrlPr>
                          <a:rPr lang="en-US" i="1"/>
                        </m:ctrlPr>
                      </m:dPr>
                      <m:e>
                        <m:sSubSup>
                          <m:sSubSupPr>
                            <m:ctrlPr>
                              <a:rPr lang="en-US" i="1"/>
                            </m:ctrlPr>
                          </m:sSubSupPr>
                          <m:e>
                            <m:r>
                              <a:rPr lang="en-US" b="1"/>
                              <m:t>𝐡</m:t>
                            </m:r>
                          </m:e>
                          <m:sub>
                            <m:r>
                              <a:rPr lang="en-US" i="1"/>
                              <m:t>𝑊</m:t>
                            </m:r>
                          </m:sub>
                          <m:sup>
                            <m:r>
                              <a:rPr lang="en-US" i="1"/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b="1"/>
                              <m:t>𝐖</m:t>
                            </m:r>
                          </m:e>
                          <m:sub>
                            <m:r>
                              <a:rPr lang="en-US" i="1"/>
                              <m:t>𝑅</m:t>
                            </m:r>
                            <m:r>
                              <a:rPr lang="en-US"/>
                              <m:t>,0</m:t>
                            </m:r>
                          </m:sub>
                        </m:sSub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b="1"/>
                              <m:t>𝐡</m:t>
                            </m:r>
                          </m:e>
                          <m:sub>
                            <m:r>
                              <a:rPr lang="en-US" i="1"/>
                              <m:t>𝑊</m:t>
                            </m:r>
                          </m:sub>
                        </m:sSub>
                        <m:r>
                          <a:rPr lang="en-US"/>
                          <m:t>+</m:t>
                        </m:r>
                        <m:sSubSup>
                          <m:sSubSupPr>
                            <m:ctrlPr>
                              <a:rPr lang="en-US" i="1"/>
                            </m:ctrlPr>
                          </m:sSubSupPr>
                          <m:e>
                            <m:r>
                              <a:rPr lang="en-US" i="1"/>
                              <m:t>𝜎</m:t>
                            </m:r>
                          </m:e>
                          <m:sub>
                            <m:r>
                              <a:rPr lang="en-US" i="1"/>
                              <m:t>𝑊</m:t>
                            </m:r>
                          </m:sub>
                          <m:sup>
                            <m:r>
                              <a:rPr lang="en-US"/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This is much easier to implement.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81BB0C-28A5-1567-290E-98B5E12AA9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354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A0799-2514-55B9-D5A5-3C70FA5C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1" y="6356350"/>
            <a:ext cx="751514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86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62634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73E4A-CFC1-B279-9990-9974FB83F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272FCC-C20D-3247-5873-4052858712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1. What the manuscript gives</a:t>
                </a:r>
              </a:p>
              <a:p>
                <a:pPr lvl="1"/>
                <a:r>
                  <a:rPr lang="en-US" dirty="0"/>
                  <a:t>The manuscript gives the covertness constraints like: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/>
                      <m:t>𝐷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  <m:r>
                          <a:rPr lang="en-US"/>
                          <m:t>∣∣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</m:e>
                    </m:d>
                    <m:r>
                      <a:rPr lang="en-US"/>
                      <m:t>≤2</m:t>
                    </m:r>
                    <m:sSup>
                      <m:sSupPr>
                        <m:ctrlPr>
                          <a:rPr lang="en-US" i="1"/>
                        </m:ctrlPr>
                      </m:sSupPr>
                      <m:e>
                        <m:r>
                          <a:rPr lang="en-US" i="1"/>
                          <m:t>𝜖</m:t>
                        </m:r>
                      </m:e>
                      <m:sup>
                        <m:r>
                          <a:rPr lang="en-US"/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and/or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/>
                      <m:t>𝐷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  <m:r>
                          <a:rPr lang="en-US"/>
                          <m:t>∣∣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</m:e>
                    </m:d>
                    <m:r>
                      <a:rPr lang="en-US"/>
                      <m:t>≤2</m:t>
                    </m:r>
                    <m:sSup>
                      <m:sSupPr>
                        <m:ctrlPr>
                          <a:rPr lang="en-US" i="1"/>
                        </m:ctrlPr>
                      </m:sSupPr>
                      <m:e>
                        <m:r>
                          <a:rPr lang="en-US" i="1"/>
                          <m:t>𝜖</m:t>
                        </m:r>
                      </m:e>
                      <m:sup>
                        <m:r>
                          <a:rPr lang="en-US"/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For Willie, we have: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/>
                        </m:ctrlPr>
                      </m:sSubPr>
                      <m:e>
                        <m:r>
                          <a:rPr lang="en-US" i="1"/>
                          <m:t>𝜆</m:t>
                        </m:r>
                      </m:e>
                      <m:sub>
                        <m:r>
                          <a:rPr lang="en-US"/>
                          <m:t>0</m:t>
                        </m:r>
                      </m:sub>
                    </m:sSub>
                    <m:r>
                      <a:rPr lang="en-US"/>
                      <m:t>=</m:t>
                    </m:r>
                    <m:sSubSup>
                      <m:sSubSupPr>
                        <m:ctrlPr>
                          <a:rPr lang="en-US" i="1"/>
                        </m:ctrlPr>
                      </m:sSubSup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  <m:sup>
                        <m:r>
                          <a:rPr lang="en-US" i="1"/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1"/>
                          <m:t>𝐖</m:t>
                        </m:r>
                      </m:e>
                      <m:sub>
                        <m:r>
                          <a:rPr lang="en-US" i="1"/>
                          <m:t>𝑅</m:t>
                        </m:r>
                        <m:r>
                          <a:rPr lang="en-US"/>
                          <m:t>,0</m:t>
                        </m:r>
                      </m:sub>
                    </m:sSub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</m:sSub>
                    <m:r>
                      <a:rPr lang="en-US"/>
                      <m:t>+</m:t>
                    </m:r>
                    <m:sSubSup>
                      <m:sSubSupPr>
                        <m:ctrlPr>
                          <a:rPr lang="en-US" i="1"/>
                        </m:ctrlPr>
                      </m:sSubSupPr>
                      <m:e>
                        <m:r>
                          <a:rPr lang="en-US" i="1"/>
                          <m:t>𝜎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  <m:sup>
                        <m:r>
                          <a:rPr lang="en-US"/>
                          <m:t>2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/>
                        </m:ctrlPr>
                      </m:sSubPr>
                      <m:e>
                        <m:r>
                          <a:rPr lang="en-US" i="1"/>
                          <m:t>𝜆</m:t>
                        </m:r>
                      </m:e>
                      <m:sub>
                        <m:r>
                          <a:rPr lang="en-US"/>
                          <m:t>1</m:t>
                        </m:r>
                      </m:sub>
                    </m:sSub>
                    <m:r>
                      <a:rPr lang="en-US"/>
                      <m:t>=</m:t>
                    </m:r>
                    <m:sSubSup>
                      <m:sSubSupPr>
                        <m:ctrlPr>
                          <a:rPr lang="en-US" i="1"/>
                        </m:ctrlPr>
                      </m:sSubSup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  <m:sup>
                        <m:r>
                          <a:rPr lang="en-US" i="1"/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1"/>
                          <m:t>𝐖</m:t>
                        </m:r>
                      </m:e>
                      <m:sub>
                        <m:r>
                          <a:rPr lang="en-US" i="1"/>
                          <m:t>𝑅</m:t>
                        </m:r>
                        <m:r>
                          <a:rPr lang="en-US"/>
                          <m:t>,0</m:t>
                        </m:r>
                      </m:sub>
                    </m:sSub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</m:sSub>
                    <m:r>
                      <a:rPr lang="en-US"/>
                      <m:t>+</m:t>
                    </m:r>
                    <m:sSubSup>
                      <m:sSubSupPr>
                        <m:ctrlPr>
                          <a:rPr lang="en-US" i="1"/>
                        </m:ctrlPr>
                      </m:sSubSup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  <m:sup>
                        <m:r>
                          <a:rPr lang="en-US" i="1"/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1"/>
                          <m:t>𝐖</m:t>
                        </m:r>
                      </m:e>
                      <m:sub>
                        <m:r>
                          <a:rPr lang="en-US" i="1"/>
                          <m:t>𝑅</m:t>
                        </m:r>
                        <m:r>
                          <a:rPr lang="en-US"/>
                          <m:t>,1</m:t>
                        </m:r>
                      </m:sub>
                    </m:sSub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</m:sSub>
                    <m:r>
                      <a:rPr lang="en-US"/>
                      <m:t>+</m:t>
                    </m:r>
                    <m:sSubSup>
                      <m:sSubSupPr>
                        <m:ctrlPr>
                          <a:rPr lang="en-US" i="1"/>
                        </m:ctrlPr>
                      </m:sSubSupPr>
                      <m:e>
                        <m:r>
                          <a:rPr lang="en-US" i="1"/>
                          <m:t>𝜎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  <m:sup>
                        <m:r>
                          <a:rPr lang="en-US"/>
                          <m:t>2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Then: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/>
                      <m:t>𝐷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  <m:r>
                          <a:rPr lang="en-US"/>
                          <m:t>∣∣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</m:e>
                    </m:d>
                    <m:r>
                      <a:rPr lang="en-US"/>
                      <m:t>=</m:t>
                    </m:r>
                    <m:func>
                      <m:funcPr>
                        <m:ctrlPr>
                          <a:rPr lang="en-US" i="1"/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/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en-US" i="1"/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/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/>
                                    </m:ctrlPr>
                                  </m:sSubPr>
                                  <m:e>
                                    <m:r>
                                      <a:rPr lang="en-US" i="1"/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/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i="1"/>
                                    </m:ctrlPr>
                                  </m:sSubPr>
                                  <m:e>
                                    <m:r>
                                      <a:rPr lang="en-US" i="1"/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/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  <m:r>
                      <a:rPr lang="en-US"/>
                      <m:t>+</m:t>
                    </m:r>
                    <m:f>
                      <m:fPr>
                        <m:ctrlPr>
                          <a:rPr lang="en-US" i="1"/>
                        </m:ctrlPr>
                      </m:fPr>
                      <m:num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𝜆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𝜆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</m:den>
                    </m:f>
                    <m:r>
                      <a:rPr lang="en-US"/>
                      <m:t>−1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/>
                      <m:t>𝐷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  <m:r>
                          <a:rPr lang="en-US"/>
                          <m:t>∣∣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</m:e>
                    </m:d>
                    <m:r>
                      <a:rPr lang="en-US"/>
                      <m:t>=</m:t>
                    </m:r>
                    <m:func>
                      <m:funcPr>
                        <m:ctrlPr>
                          <a:rPr lang="en-US" i="1"/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/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en-US" i="1"/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/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/>
                                    </m:ctrlPr>
                                  </m:sSubPr>
                                  <m:e>
                                    <m:r>
                                      <a:rPr lang="en-US" i="1"/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/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i="1"/>
                                    </m:ctrlPr>
                                  </m:sSubPr>
                                  <m:e>
                                    <m:r>
                                      <a:rPr lang="en-US" i="1"/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/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  <m:r>
                      <a:rPr lang="en-US"/>
                      <m:t>+</m:t>
                    </m:r>
                    <m:f>
                      <m:fPr>
                        <m:ctrlPr>
                          <a:rPr lang="en-US" i="1"/>
                        </m:ctrlPr>
                      </m:fPr>
                      <m:num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𝜆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𝜆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</m:den>
                    </m:f>
                    <m:r>
                      <a:rPr lang="en-US"/>
                      <m:t>−1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These formulas are from the manuscript’s KL divergence part.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272FCC-C20D-3247-5873-4052858712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1DF3A-266B-1A40-7283-404AEA30A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030701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09D7B-52C5-1E8E-D462-329242AFD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22E27A-A5D4-EEA3-6B33-477512D8B3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2. Why I introduced </a:t>
                </a:r>
                <a14:m>
                  <m:oMath xmlns:m="http://schemas.openxmlformats.org/officeDocument/2006/math">
                    <m:r>
                      <a:rPr lang="en-US" i="1"/>
                      <m:t>𝑡</m:t>
                    </m:r>
                  </m:oMath>
                </a14:m>
                <a:endParaRPr lang="en-US" b="1" dirty="0"/>
              </a:p>
              <a:p>
                <a:pPr lvl="1"/>
                <a:r>
                  <a:rPr lang="en-US" dirty="0"/>
                  <a:t>Define: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/>
                      <m:t>𝑠</m:t>
                    </m:r>
                    <m:r>
                      <a:rPr lang="en-US"/>
                      <m:t>=</m:t>
                    </m:r>
                    <m:sSubSup>
                      <m:sSubSupPr>
                        <m:ctrlPr>
                          <a:rPr lang="en-US" i="1"/>
                        </m:ctrlPr>
                      </m:sSubSup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  <m:sup>
                        <m:r>
                          <a:rPr lang="en-US" i="1"/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1"/>
                          <m:t>𝐖</m:t>
                        </m:r>
                      </m:e>
                      <m:sub>
                        <m:r>
                          <a:rPr lang="en-US" i="1"/>
                          <m:t>𝑅</m:t>
                        </m:r>
                        <m:r>
                          <a:rPr lang="en-US"/>
                          <m:t>,0</m:t>
                        </m:r>
                      </m:sub>
                    </m:sSub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</m:sSub>
                    <m:r>
                      <a:rPr lang="en-US"/>
                      <m:t>+</m:t>
                    </m:r>
                    <m:sSubSup>
                      <m:sSubSupPr>
                        <m:ctrlPr>
                          <a:rPr lang="en-US" i="1"/>
                        </m:ctrlPr>
                      </m:sSubSupPr>
                      <m:e>
                        <m:r>
                          <a:rPr lang="en-US" i="1"/>
                          <m:t>𝜎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  <m:sup>
                        <m:r>
                          <a:rPr lang="en-US"/>
                          <m:t>2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r>
                      <a:rPr lang="en-US" i="1"/>
                      <m:t>𝑞</m:t>
                    </m:r>
                    <m:r>
                      <a:rPr lang="en-US"/>
                      <m:t>=</m:t>
                    </m:r>
                    <m:sSubSup>
                      <m:sSubSupPr>
                        <m:ctrlPr>
                          <a:rPr lang="en-US" i="1"/>
                        </m:ctrlPr>
                      </m:sSubSup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  <m:sup>
                        <m:r>
                          <a:rPr lang="en-US" i="1"/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1"/>
                          <m:t>𝐖</m:t>
                        </m:r>
                      </m:e>
                      <m:sub>
                        <m:r>
                          <a:rPr lang="en-US" i="1"/>
                          <m:t>𝑅</m:t>
                        </m:r>
                        <m:r>
                          <a:rPr lang="en-US"/>
                          <m:t>,1</m:t>
                        </m:r>
                      </m:sub>
                    </m:sSub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So: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/>
                        </m:ctrlPr>
                      </m:sSubPr>
                      <m:e>
                        <m:r>
                          <a:rPr lang="en-US" i="1"/>
                          <m:t>𝜆</m:t>
                        </m:r>
                      </m:e>
                      <m:sub>
                        <m:r>
                          <a:rPr lang="en-US"/>
                          <m:t>0</m:t>
                        </m:r>
                      </m:sub>
                    </m:sSub>
                    <m:r>
                      <a:rPr lang="en-US"/>
                      <m:t>=</m:t>
                    </m:r>
                    <m:r>
                      <a:rPr lang="en-US" i="1"/>
                      <m:t>𝑠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/>
                        </m:ctrlPr>
                      </m:sSubPr>
                      <m:e>
                        <m:r>
                          <a:rPr lang="en-US" i="1"/>
                          <m:t>𝜆</m:t>
                        </m:r>
                      </m:e>
                      <m:sub>
                        <m:r>
                          <a:rPr lang="en-US"/>
                          <m:t>1</m:t>
                        </m:r>
                      </m:sub>
                    </m:sSub>
                    <m:r>
                      <a:rPr lang="en-US"/>
                      <m:t>=</m:t>
                    </m:r>
                    <m:r>
                      <a:rPr lang="en-US" i="1"/>
                      <m:t>𝑠</m:t>
                    </m:r>
                    <m:r>
                      <a:rPr lang="en-US"/>
                      <m:t>+</m:t>
                    </m:r>
                    <m:r>
                      <a:rPr lang="en-US" i="1"/>
                      <m:t>𝑞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Now define: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/>
                      <m:t>𝑡</m:t>
                    </m:r>
                    <m:r>
                      <a:rPr lang="en-US"/>
                      <m:t>=</m:t>
                    </m:r>
                    <m:f>
                      <m:fPr>
                        <m:ctrlPr>
                          <a:rPr lang="en-US" i="1"/>
                        </m:ctrlPr>
                      </m:fPr>
                      <m:num>
                        <m:r>
                          <a:rPr lang="en-US" i="1"/>
                          <m:t>𝑞</m:t>
                        </m:r>
                      </m:num>
                      <m:den>
                        <m:r>
                          <a:rPr lang="en-US" i="1"/>
                          <m:t>𝑠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Then: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/>
                        </m:ctrlPr>
                      </m:fPr>
                      <m:num>
                        <m:sSub>
                          <m:sSubPr>
                            <m:ctrlPr>
                              <a:rPr lang="en-US"/>
                            </m:ctrlPr>
                          </m:sSubPr>
                          <m:e>
                            <m:r>
                              <a:rPr lang="en-US" i="1"/>
                              <m:t>𝜆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𝜆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</m:den>
                    </m:f>
                    <m:r>
                      <a:rPr lang="en-US"/>
                      <m:t>=</m:t>
                    </m:r>
                    <m:f>
                      <m:fPr>
                        <m:ctrlPr>
                          <a:rPr lang="en-US" i="1"/>
                        </m:ctrlPr>
                      </m:fPr>
                      <m:num>
                        <m:r>
                          <a:rPr lang="en-US" i="1"/>
                          <m:t>𝑠</m:t>
                        </m:r>
                        <m:r>
                          <a:rPr lang="en-US"/>
                          <m:t>+</m:t>
                        </m:r>
                        <m:r>
                          <a:rPr lang="en-US" i="1"/>
                          <m:t>𝑞</m:t>
                        </m:r>
                      </m:num>
                      <m:den>
                        <m:r>
                          <a:rPr lang="en-US" i="1"/>
                          <m:t>𝑠</m:t>
                        </m:r>
                      </m:den>
                    </m:f>
                    <m:r>
                      <a:rPr lang="en-US"/>
                      <m:t>=1+</m:t>
                    </m:r>
                    <m:r>
                      <a:rPr lang="en-US" i="1"/>
                      <m:t>𝑡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So: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/>
                      <m:t>𝐷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  <m:r>
                          <a:rPr lang="en-US"/>
                          <m:t>∣∣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</m:e>
                    </m:d>
                    <m:r>
                      <a:rPr lang="en-US"/>
                      <m:t>=</m:t>
                    </m:r>
                    <m:r>
                      <m:rPr>
                        <m:sty m:val="p"/>
                      </m:rPr>
                      <a:rPr lang="en-US"/>
                      <m:t>ln</m:t>
                    </m:r>
                    <m:r>
                      <a:rPr lang="en-US"/>
                      <m:t>⁡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r>
                          <a:rPr lang="en-US"/>
                          <m:t>1+</m:t>
                        </m:r>
                        <m:r>
                          <a:rPr lang="en-US" i="1"/>
                          <m:t>𝑡</m:t>
                        </m:r>
                      </m:e>
                    </m:d>
                    <m:r>
                      <a:rPr lang="en-US"/>
                      <m:t>+</m:t>
                    </m:r>
                    <m:f>
                      <m:fPr>
                        <m:ctrlPr>
                          <a:rPr lang="en-US" i="1"/>
                        </m:ctrlPr>
                      </m:fPr>
                      <m:num>
                        <m:r>
                          <a:rPr lang="en-US"/>
                          <m:t>1</m:t>
                        </m:r>
                      </m:num>
                      <m:den>
                        <m:r>
                          <a:rPr lang="en-US"/>
                          <m:t>1+</m:t>
                        </m:r>
                        <m:r>
                          <a:rPr lang="en-US" i="1"/>
                          <m:t>𝑡</m:t>
                        </m:r>
                      </m:den>
                    </m:f>
                    <m:r>
                      <a:rPr lang="en-US"/>
                      <m:t>−1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and: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/>
                      <m:t>𝐷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  <m:r>
                          <a:rPr lang="en-US"/>
                          <m:t>∣∣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</m:e>
                    </m:d>
                    <m:r>
                      <a:rPr lang="en-US"/>
                      <m:t>=−</m:t>
                    </m:r>
                    <m:r>
                      <m:rPr>
                        <m:sty m:val="p"/>
                      </m:rPr>
                      <a:rPr lang="en-US"/>
                      <m:t>ln</m:t>
                    </m:r>
                    <m:r>
                      <a:rPr lang="en-US"/>
                      <m:t>⁡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r>
                          <a:rPr lang="en-US"/>
                          <m:t>1+</m:t>
                        </m:r>
                        <m:r>
                          <a:rPr lang="en-US" i="1"/>
                          <m:t>𝑡</m:t>
                        </m:r>
                      </m:e>
                    </m:d>
                    <m:r>
                      <a:rPr lang="en-US"/>
                      <m:t>+</m:t>
                    </m:r>
                    <m:r>
                      <a:rPr lang="en-US" i="1"/>
                      <m:t>𝑡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22E27A-A5D4-EEA3-6B33-477512D8B3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83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A376D-AEA9-F00B-FCD4-F6B51711D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818778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AB0D4-322D-7E40-3C15-FB7423FA9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E86C03-3B63-5D4C-CD5D-CB4C448A39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3. Why do we need </a:t>
                </a:r>
                <a:r>
                  <a:rPr lang="en-US" b="1" dirty="0" err="1"/>
                  <a:t>myf_find_t_max</a:t>
                </a:r>
                <a:r>
                  <a:rPr lang="en-US" b="1" dirty="0"/>
                  <a:t>()?</a:t>
                </a:r>
              </a:p>
              <a:p>
                <a:pPr lvl="1"/>
                <a:r>
                  <a:rPr lang="en-US" dirty="0"/>
                  <a:t>Because CVXPY does not like putting this nonlinear KL expression directly inside SDP constraints: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/>
                      <m:t>ln</m:t>
                    </m:r>
                    <m:r>
                      <a:rPr lang="en-US"/>
                      <m:t>⁡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r>
                          <a:rPr lang="en-US"/>
                          <m:t>1+</m:t>
                        </m:r>
                        <m:r>
                          <a:rPr lang="en-US" i="1"/>
                          <m:t>𝑡</m:t>
                        </m:r>
                      </m:e>
                    </m:d>
                    <m:r>
                      <a:rPr lang="en-US"/>
                      <m:t>+</m:t>
                    </m:r>
                    <m:f>
                      <m:fPr>
                        <m:ctrlPr>
                          <a:rPr lang="en-US" i="1"/>
                        </m:ctrlPr>
                      </m:fPr>
                      <m:num>
                        <m:r>
                          <a:rPr lang="en-US"/>
                          <m:t>1</m:t>
                        </m:r>
                      </m:num>
                      <m:den>
                        <m:r>
                          <a:rPr lang="en-US"/>
                          <m:t>1+</m:t>
                        </m:r>
                        <m:r>
                          <a:rPr lang="en-US" i="1"/>
                          <m:t>𝑡</m:t>
                        </m:r>
                      </m:den>
                    </m:f>
                    <m:r>
                      <a:rPr lang="en-US"/>
                      <m:t>−1≤2</m:t>
                    </m:r>
                    <m:sSup>
                      <m:sSupPr>
                        <m:ctrlPr>
                          <a:rPr lang="en-US" i="1"/>
                        </m:ctrlPr>
                      </m:sSupPr>
                      <m:e>
                        <m:r>
                          <a:rPr lang="en-US" i="1"/>
                          <m:t>𝜖</m:t>
                        </m:r>
                      </m:e>
                      <m:sup>
                        <m:r>
                          <a:rPr lang="en-US"/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So instead, we first find the largest allowed: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/>
                        </m:ctrlPr>
                      </m:sSubPr>
                      <m:e>
                        <m:r>
                          <a:rPr lang="en-US" i="1"/>
                          <m:t>𝑡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/>
                          <m:t>max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such that: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/>
                      <m:t>𝐷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  <m:r>
                          <a:rPr lang="en-US"/>
                          <m:t>∣∣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</m:e>
                    </m:d>
                    <m:r>
                      <a:rPr lang="en-US"/>
                      <m:t>≤2</m:t>
                    </m:r>
                    <m:sSup>
                      <m:sSupPr>
                        <m:ctrlPr>
                          <a:rPr lang="en-US" i="1"/>
                        </m:ctrlPr>
                      </m:sSupPr>
                      <m:e>
                        <m:r>
                          <a:rPr lang="en-US" i="1"/>
                          <m:t>𝜖</m:t>
                        </m:r>
                      </m:e>
                      <m:sup>
                        <m:r>
                          <a:rPr lang="en-US"/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and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/>
                      <m:t>𝐷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  <m:r>
                          <a:rPr lang="en-US"/>
                          <m:t>∣∣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</m:e>
                    </m:d>
                    <m:r>
                      <a:rPr lang="en-US"/>
                      <m:t>≤2</m:t>
                    </m:r>
                    <m:sSup>
                      <m:sSupPr>
                        <m:ctrlPr>
                          <a:rPr lang="en-US" i="1"/>
                        </m:ctrlPr>
                      </m:sSupPr>
                      <m:e>
                        <m:r>
                          <a:rPr lang="en-US" i="1"/>
                          <m:t>𝜖</m:t>
                        </m:r>
                      </m:e>
                      <m:sup>
                        <m:r>
                          <a:rPr lang="en-US"/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Then the covertness constraint becomes: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/>
                        </m:ctrlPr>
                      </m:fPr>
                      <m:num>
                        <m:r>
                          <a:rPr lang="en-US" i="1"/>
                          <m:t>𝑞</m:t>
                        </m:r>
                      </m:num>
                      <m:den>
                        <m:r>
                          <a:rPr lang="en-US" i="1"/>
                          <m:t>𝑠</m:t>
                        </m:r>
                      </m:den>
                    </m:f>
                    <m:r>
                      <a:rPr lang="en-US"/>
                      <m:t>≤</m:t>
                    </m:r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i="1"/>
                          <m:t>𝑡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/>
                          <m:t>max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which means: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/>
                      <m:t>𝑞</m:t>
                    </m:r>
                    <m:r>
                      <a:rPr lang="en-US"/>
                      <m:t>≤</m:t>
                    </m:r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i="1"/>
                          <m:t>𝑡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/>
                          <m:t>max</m:t>
                        </m:r>
                      </m:sub>
                    </m:sSub>
                    <m:r>
                      <a:rPr lang="en-US" i="1"/>
                      <m:t>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Substituting </a:t>
                </a:r>
                <a14:m>
                  <m:oMath xmlns:m="http://schemas.openxmlformats.org/officeDocument/2006/math">
                    <m:r>
                      <a:rPr lang="en-US" i="1"/>
                      <m:t>𝑞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/>
                      <m:t>𝑠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en-US" b="1"/>
                        </m:ctrlPr>
                      </m:sSubSup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  <m:sup>
                        <m:r>
                          <a:rPr lang="en-US" i="1"/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1" i="1"/>
                        </m:ctrlPr>
                      </m:sSubPr>
                      <m:e>
                        <m:r>
                          <a:rPr lang="en-US" b="1"/>
                          <m:t>𝐖</m:t>
                        </m:r>
                      </m:e>
                      <m:sub>
                        <m:r>
                          <a:rPr lang="en-US" i="1"/>
                          <m:t>𝑅</m:t>
                        </m:r>
                        <m:r>
                          <a:rPr lang="en-US"/>
                          <m:t>,1</m:t>
                        </m:r>
                      </m:sub>
                    </m:sSub>
                    <m:sSub>
                      <m:sSubPr>
                        <m:ctrlPr>
                          <a:rPr lang="en-US" b="1" i="1"/>
                        </m:ctrlPr>
                      </m:sSubPr>
                      <m:e>
                        <m:r>
                          <a:rPr lang="en-US" b="1"/>
                          <m:t>𝐡</m:t>
                        </m:r>
                      </m:e>
                      <m:sub>
                        <m:r>
                          <a:rPr lang="en-US" i="1"/>
                          <m:t>𝑊</m:t>
                        </m:r>
                      </m:sub>
                    </m:sSub>
                    <m:r>
                      <a:rPr lang="en-US"/>
                      <m:t>≤</m:t>
                    </m:r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i="1"/>
                          <m:t>𝑡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/>
                          <m:t>max</m:t>
                        </m:r>
                      </m:sub>
                    </m:sSub>
                    <m:d>
                      <m:dPr>
                        <m:ctrlPr>
                          <a:rPr lang="en-US" i="1"/>
                        </m:ctrlPr>
                      </m:dPr>
                      <m:e>
                        <m:sSubSup>
                          <m:sSubSupPr>
                            <m:ctrlPr>
                              <a:rPr lang="en-US" i="1"/>
                            </m:ctrlPr>
                          </m:sSubSupPr>
                          <m:e>
                            <m:r>
                              <a:rPr lang="en-US" b="1"/>
                              <m:t>𝐡</m:t>
                            </m:r>
                          </m:e>
                          <m:sub>
                            <m:r>
                              <a:rPr lang="en-US" i="1"/>
                              <m:t>𝑊</m:t>
                            </m:r>
                          </m:sub>
                          <m:sup>
                            <m:r>
                              <a:rPr lang="en-US" i="1"/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b="1"/>
                              <m:t>𝐖</m:t>
                            </m:r>
                          </m:e>
                          <m:sub>
                            <m:r>
                              <a:rPr lang="en-US" i="1"/>
                              <m:t>𝑅</m:t>
                            </m:r>
                            <m:r>
                              <a:rPr lang="en-US"/>
                              <m:t>,0</m:t>
                            </m:r>
                          </m:sub>
                        </m:sSub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b="1"/>
                              <m:t>𝐡</m:t>
                            </m:r>
                          </m:e>
                          <m:sub>
                            <m:r>
                              <a:rPr lang="en-US" i="1"/>
                              <m:t>𝑊</m:t>
                            </m:r>
                          </m:sub>
                        </m:sSub>
                        <m:r>
                          <a:rPr lang="en-US"/>
                          <m:t>+</m:t>
                        </m:r>
                        <m:sSubSup>
                          <m:sSubSupPr>
                            <m:ctrlPr>
                              <a:rPr lang="en-US" i="1"/>
                            </m:ctrlPr>
                          </m:sSubSupPr>
                          <m:e>
                            <m:r>
                              <a:rPr lang="en-US" i="1"/>
                              <m:t>𝜎</m:t>
                            </m:r>
                          </m:e>
                          <m:sub>
                            <m:r>
                              <a:rPr lang="en-US" i="1"/>
                              <m:t>𝑊</m:t>
                            </m:r>
                          </m:sub>
                          <m:sup>
                            <m:r>
                              <a:rPr lang="en-US"/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E86C03-3B63-5D4C-CD5D-CB4C448A39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10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B0FADF-957F-1826-FCA6-0A3B34AEA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420149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89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464195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2945F-FB89-A7EA-73F4-6FF693F85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35717B-5FA3-2F82-5A75-76117F13B4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9691"/>
                <a:ext cx="10515600" cy="5757788"/>
              </a:xfrm>
            </p:spPr>
            <p:txBody>
              <a:bodyPr/>
              <a:lstStyle/>
              <a:p>
                <a:r>
                  <a:rPr lang="en-US" b="1" dirty="0"/>
                  <a:t>4. Is this exactly from the manuscript?</a:t>
                </a:r>
              </a:p>
              <a:p>
                <a:pPr lvl="1"/>
                <a:r>
                  <a:rPr lang="en-US" dirty="0"/>
                  <a:t>Not exactly in this variable form.</a:t>
                </a:r>
              </a:p>
              <a:p>
                <a:pPr lvl="1"/>
                <a:r>
                  <a:rPr lang="en-US" dirty="0"/>
                  <a:t>The manuscript gives the KL constraints: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/>
                      <m:t>𝐷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  <m:r>
                          <a:rPr lang="en-US"/>
                          <m:t>∣∣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</m:e>
                    </m:d>
                    <m:r>
                      <a:rPr lang="en-US"/>
                      <m:t>≤2</m:t>
                    </m:r>
                    <m:sSup>
                      <m:sSupPr>
                        <m:ctrlPr>
                          <a:rPr lang="en-US" i="1"/>
                        </m:ctrlPr>
                      </m:sSupPr>
                      <m:e>
                        <m:r>
                          <a:rPr lang="en-US" i="1"/>
                          <m:t>𝜖</m:t>
                        </m:r>
                      </m:e>
                      <m:sup>
                        <m:r>
                          <a:rPr lang="en-US"/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 i="1"/>
                      <m:t>𝐷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1</m:t>
                            </m:r>
                          </m:sub>
                        </m:sSub>
                        <m:r>
                          <a:rPr lang="en-US"/>
                          <m:t>∣∣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𝑝</m:t>
                            </m:r>
                          </m:e>
                          <m:sub>
                            <m:r>
                              <a:rPr lang="en-US"/>
                              <m:t>0</m:t>
                            </m:r>
                          </m:sub>
                        </m:sSub>
                      </m:e>
                    </m:d>
                    <m:r>
                      <a:rPr lang="en-US"/>
                      <m:t>≤2</m:t>
                    </m:r>
                    <m:sSup>
                      <m:sSupPr>
                        <m:ctrlPr>
                          <a:rPr lang="en-US" i="1"/>
                        </m:ctrlPr>
                      </m:sSupPr>
                      <m:e>
                        <m:r>
                          <a:rPr lang="en-US" i="1"/>
                          <m:t>𝜖</m:t>
                        </m:r>
                      </m:e>
                      <m:sup>
                        <m:r>
                          <a:rPr lang="en-US"/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 introduced </a:t>
                </a:r>
                <a14:m>
                  <m:oMath xmlns:m="http://schemas.openxmlformats.org/officeDocument/2006/math">
                    <m:r>
                      <a:rPr lang="en-US" i="1"/>
                      <m:t>𝑡</m:t>
                    </m:r>
                  </m:oMath>
                </a14:m>
                <a:r>
                  <a:rPr lang="en-US" dirty="0"/>
                  <a:t> as a </a:t>
                </a:r>
                <a:r>
                  <a:rPr lang="en-US" b="1" dirty="0"/>
                  <a:t>coding simplification</a:t>
                </a:r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So the honest answer is:</a:t>
                </a:r>
              </a:p>
              <a:p>
                <a:pPr lvl="2"/>
                <a:r>
                  <a:rPr lang="en-US" dirty="0"/>
                  <a:t>The manuscript does not explicitly say “define </a:t>
                </a:r>
                <a14:m>
                  <m:oMath xmlns:m="http://schemas.openxmlformats.org/officeDocument/2006/math">
                    <m:r>
                      <a:rPr lang="en-US" i="1"/>
                      <m:t>𝑡</m:t>
                    </m:r>
                  </m:oMath>
                </a14:m>
                <a:r>
                  <a:rPr lang="en-US" dirty="0"/>
                  <a:t>and 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/>
                        </m:ctrlPr>
                      </m:sSubPr>
                      <m:e>
                        <m:r>
                          <a:rPr lang="en-US" i="1"/>
                          <m:t>𝑡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/>
                          <m:t>max</m:t>
                        </m:r>
                      </m:sub>
                    </m:sSub>
                  </m:oMath>
                </a14:m>
                <a:r>
                  <a:rPr lang="en-US" dirty="0"/>
                  <a:t>.”</a:t>
                </a:r>
                <a:br>
                  <a:rPr lang="en-US" dirty="0"/>
                </a:br>
                <a:r>
                  <a:rPr lang="en-US" dirty="0"/>
                  <a:t>This is our implementation method to convert the KL divergence constraint into a simpler inequality that CVXPY can solve.</a:t>
                </a:r>
              </a:p>
              <a:p>
                <a:r>
                  <a:rPr lang="en-US" b="1" dirty="0"/>
                  <a:t>5. Why this is valid</a:t>
                </a:r>
              </a:p>
              <a:p>
                <a:pPr lvl="1"/>
                <a:r>
                  <a:rPr lang="en-US" dirty="0"/>
                  <a:t>Because both KL divergences depend only on the ratio: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/>
                      <m:t>𝑡</m:t>
                    </m:r>
                    <m:r>
                      <a:rPr lang="en-US"/>
                      <m:t>=</m:t>
                    </m:r>
                    <m:f>
                      <m:fPr>
                        <m:ctrlPr>
                          <a:rPr lang="en-US" i="1"/>
                        </m:ctrlPr>
                      </m:fPr>
                      <m:num>
                        <m:sSubSup>
                          <m:sSubSupPr>
                            <m:ctrlPr>
                              <a:rPr lang="en-US" i="1"/>
                            </m:ctrlPr>
                          </m:sSubSupPr>
                          <m:e>
                            <m:r>
                              <a:rPr lang="en-US" b="1"/>
                              <m:t>𝐡</m:t>
                            </m:r>
                          </m:e>
                          <m:sub>
                            <m:r>
                              <a:rPr lang="en-US" i="1"/>
                              <m:t>𝑊</m:t>
                            </m:r>
                          </m:sub>
                          <m:sup>
                            <m:r>
                              <a:rPr lang="en-US" i="1"/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b="1"/>
                              <m:t>𝐖</m:t>
                            </m:r>
                          </m:e>
                          <m:sub>
                            <m:r>
                              <a:rPr lang="en-US" i="1"/>
                              <m:t>𝑅</m:t>
                            </m:r>
                            <m:r>
                              <a:rPr lang="en-US"/>
                              <m:t>,1</m:t>
                            </m:r>
                          </m:sub>
                        </m:sSub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b="1"/>
                              <m:t>𝐡</m:t>
                            </m:r>
                          </m:e>
                          <m:sub>
                            <m:r>
                              <a:rPr lang="en-US" i="1"/>
                              <m:t>𝑊</m:t>
                            </m:r>
                          </m:sub>
                        </m:sSub>
                      </m:num>
                      <m:den>
                        <m:sSubSup>
                          <m:sSubSupPr>
                            <m:ctrlPr>
                              <a:rPr lang="en-US" i="1"/>
                            </m:ctrlPr>
                          </m:sSubSupPr>
                          <m:e>
                            <m:r>
                              <a:rPr lang="en-US" b="1"/>
                              <m:t>𝐡</m:t>
                            </m:r>
                          </m:e>
                          <m:sub>
                            <m:r>
                              <a:rPr lang="en-US" i="1"/>
                              <m:t>𝑊</m:t>
                            </m:r>
                          </m:sub>
                          <m:sup>
                            <m:r>
                              <a:rPr lang="en-US" i="1"/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b="1"/>
                              <m:t>𝐖</m:t>
                            </m:r>
                          </m:e>
                          <m:sub>
                            <m:r>
                              <a:rPr lang="en-US" i="1"/>
                              <m:t>𝑅</m:t>
                            </m:r>
                            <m:r>
                              <a:rPr lang="en-US"/>
                              <m:t>,0</m:t>
                            </m:r>
                          </m:sub>
                        </m:sSub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b="1"/>
                              <m:t>𝐡</m:t>
                            </m:r>
                          </m:e>
                          <m:sub>
                            <m:r>
                              <a:rPr lang="en-US" i="1"/>
                              <m:t>𝑊</m:t>
                            </m:r>
                          </m:sub>
                        </m:sSub>
                        <m:r>
                          <a:rPr lang="en-US"/>
                          <m:t>+</m:t>
                        </m:r>
                        <m:sSubSup>
                          <m:sSubSupPr>
                            <m:ctrlPr>
                              <a:rPr lang="en-US" i="1"/>
                            </m:ctrlPr>
                          </m:sSubSupPr>
                          <m:e>
                            <m:r>
                              <a:rPr lang="en-US" i="1"/>
                              <m:t>𝜎</m:t>
                            </m:r>
                          </m:e>
                          <m:sub>
                            <m:r>
                              <a:rPr lang="en-US" i="1"/>
                              <m:t>𝑊</m:t>
                            </m:r>
                          </m:sub>
                          <m:sup>
                            <m:r>
                              <a:rPr lang="en-US"/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So if we control </a:t>
                </a:r>
                <a14:m>
                  <m:oMath xmlns:m="http://schemas.openxmlformats.org/officeDocument/2006/math">
                    <m:r>
                      <a:rPr lang="en-US" i="1"/>
                      <m:t>𝑡</m:t>
                    </m:r>
                  </m:oMath>
                </a14:m>
                <a:r>
                  <a:rPr lang="en-US" dirty="0"/>
                  <a:t>, we control the KL divergence.</a:t>
                </a:r>
              </a:p>
              <a:p>
                <a:pPr lvl="1"/>
                <a:r>
                  <a:rPr lang="en-US" dirty="0"/>
                  <a:t>For small </a:t>
                </a:r>
                <a14:m>
                  <m:oMath xmlns:m="http://schemas.openxmlformats.org/officeDocument/2006/math">
                    <m:r>
                      <a:rPr lang="en-US" i="1"/>
                      <m:t>𝑡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sz="1400" i="1"/>
                      <m:t>𝐷</m:t>
                    </m:r>
                    <m:d>
                      <m:dPr>
                        <m:ctrlPr>
                          <a:rPr lang="en-US" sz="1400" i="1"/>
                        </m:ctrlPr>
                      </m:dPr>
                      <m:e>
                        <m:sSub>
                          <m:sSubPr>
                            <m:ctrlPr>
                              <a:rPr lang="en-US" sz="1400" i="1"/>
                            </m:ctrlPr>
                          </m:sSubPr>
                          <m:e>
                            <m:r>
                              <a:rPr lang="en-US" sz="1400" i="1"/>
                              <m:t>𝑝</m:t>
                            </m:r>
                          </m:e>
                          <m:sub>
                            <m:r>
                              <a:rPr lang="en-US" sz="1400"/>
                              <m:t>0</m:t>
                            </m:r>
                          </m:sub>
                        </m:sSub>
                        <m:r>
                          <a:rPr lang="en-US" sz="1400"/>
                          <m:t>∣∣</m:t>
                        </m:r>
                        <m:sSub>
                          <m:sSubPr>
                            <m:ctrlPr>
                              <a:rPr lang="en-US" sz="1400" i="1"/>
                            </m:ctrlPr>
                          </m:sSubPr>
                          <m:e>
                            <m:r>
                              <a:rPr lang="en-US" sz="1400" i="1"/>
                              <m:t>𝑝</m:t>
                            </m:r>
                          </m:e>
                          <m:sub>
                            <m:r>
                              <a:rPr lang="en-US" sz="1400"/>
                              <m:t>1</m:t>
                            </m:r>
                          </m:sub>
                        </m:sSub>
                      </m:e>
                    </m:d>
                    <m:r>
                      <a:rPr lang="en-US" sz="1400"/>
                      <m:t>≈</m:t>
                    </m:r>
                    <m:f>
                      <m:fPr>
                        <m:ctrlPr>
                          <a:rPr lang="en-US" sz="1400" i="1"/>
                        </m:ctrlPr>
                      </m:fPr>
                      <m:num>
                        <m:sSup>
                          <m:sSupPr>
                            <m:ctrlPr>
                              <a:rPr lang="en-US" sz="1400" i="1"/>
                            </m:ctrlPr>
                          </m:sSupPr>
                          <m:e>
                            <m:r>
                              <a:rPr lang="en-US" sz="1400" i="1"/>
                              <m:t>𝑡</m:t>
                            </m:r>
                          </m:e>
                          <m:sup>
                            <m:r>
                              <a:rPr lang="en-US" sz="1400"/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sz="1400"/>
                          <m:t>2</m:t>
                        </m:r>
                      </m:den>
                    </m:f>
                  </m:oMath>
                </a14:m>
                <a:endParaRPr lang="en-US" sz="1400" dirty="0"/>
              </a:p>
              <a:p>
                <a:pPr lvl="2"/>
                <a14:m>
                  <m:oMath xmlns:m="http://schemas.openxmlformats.org/officeDocument/2006/math">
                    <m:r>
                      <a:rPr lang="en-US" sz="1400" i="1"/>
                      <m:t>𝐷</m:t>
                    </m:r>
                    <m:d>
                      <m:dPr>
                        <m:ctrlPr>
                          <a:rPr lang="en-US" sz="1400" i="1"/>
                        </m:ctrlPr>
                      </m:dPr>
                      <m:e>
                        <m:sSub>
                          <m:sSubPr>
                            <m:ctrlPr>
                              <a:rPr lang="en-US" sz="1400" i="1"/>
                            </m:ctrlPr>
                          </m:sSubPr>
                          <m:e>
                            <m:r>
                              <a:rPr lang="en-US" sz="1400" i="1"/>
                              <m:t>𝑝</m:t>
                            </m:r>
                          </m:e>
                          <m:sub>
                            <m:r>
                              <a:rPr lang="en-US" sz="1400"/>
                              <m:t>1</m:t>
                            </m:r>
                          </m:sub>
                        </m:sSub>
                        <m:r>
                          <a:rPr lang="en-US" sz="1400"/>
                          <m:t>∣∣</m:t>
                        </m:r>
                        <m:sSub>
                          <m:sSubPr>
                            <m:ctrlPr>
                              <a:rPr lang="en-US" sz="1400" i="1"/>
                            </m:ctrlPr>
                          </m:sSubPr>
                          <m:e>
                            <m:r>
                              <a:rPr lang="en-US" sz="1400" i="1"/>
                              <m:t>𝑝</m:t>
                            </m:r>
                          </m:e>
                          <m:sub>
                            <m:r>
                              <a:rPr lang="en-US" sz="1400"/>
                              <m:t>0</m:t>
                            </m:r>
                          </m:sub>
                        </m:sSub>
                      </m:e>
                    </m:d>
                    <m:r>
                      <a:rPr lang="en-US" sz="1400"/>
                      <m:t>≈</m:t>
                    </m:r>
                    <m:f>
                      <m:fPr>
                        <m:ctrlPr>
                          <a:rPr lang="en-US" sz="1400" i="1"/>
                        </m:ctrlPr>
                      </m:fPr>
                      <m:num>
                        <m:sSup>
                          <m:sSupPr>
                            <m:ctrlPr>
                              <a:rPr lang="en-US" sz="1400" i="1"/>
                            </m:ctrlPr>
                          </m:sSupPr>
                          <m:e>
                            <m:r>
                              <a:rPr lang="en-US" sz="1400" i="1"/>
                              <m:t>𝑡</m:t>
                            </m:r>
                          </m:e>
                          <m:sup>
                            <m:r>
                              <a:rPr lang="en-US" sz="1400"/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sz="1400"/>
                          <m:t>2</m:t>
                        </m:r>
                      </m:den>
                    </m:f>
                  </m:oMath>
                </a14:m>
                <a:endParaRPr lang="en-US" sz="1400" dirty="0"/>
              </a:p>
              <a:p>
                <a:pPr lvl="1"/>
                <a:r>
                  <a:rPr lang="en-US" dirty="0"/>
                  <a:t>That is why this transformation works well.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35717B-5FA3-2F82-5A75-76117F13B4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9691"/>
                <a:ext cx="10515600" cy="5757788"/>
              </a:xfrm>
              <a:blipFill>
                <a:blip r:embed="rId2"/>
                <a:stretch>
                  <a:fillRect l="-522" t="-1059"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56B1F4-8B86-FC7D-A7FE-D62E12CDB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39078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90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5988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7599</TotalTime>
  <Words>7050</Words>
  <Application>Microsoft Office PowerPoint</Application>
  <PresentationFormat>Widescreen</PresentationFormat>
  <Paragraphs>1264</Paragraphs>
  <Slides>90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90</vt:i4>
      </vt:variant>
    </vt:vector>
  </HeadingPairs>
  <TitlesOfParts>
    <vt:vector size="95" baseType="lpstr">
      <vt:lpstr>맑은 고딕</vt:lpstr>
      <vt:lpstr>Arial</vt:lpstr>
      <vt:lpstr>Cambria Math</vt:lpstr>
      <vt:lpstr>Tahoma</vt:lpstr>
      <vt:lpstr>Office 테마</vt:lpstr>
      <vt:lpstr>Covert Beamforming Design for Integrated Radar Sensing and Communication Systems</vt:lpstr>
      <vt:lpstr>Table of Contents</vt:lpstr>
      <vt:lpstr>Abstract</vt:lpstr>
      <vt:lpstr>Abstract</vt:lpstr>
      <vt:lpstr>Abstract</vt:lpstr>
      <vt:lpstr>Introduction</vt:lpstr>
      <vt:lpstr>Introduction</vt:lpstr>
      <vt:lpstr>Introduction</vt:lpstr>
      <vt:lpstr>Introduction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Problem Formulation</vt:lpstr>
      <vt:lpstr>Problem Formulation</vt:lpstr>
      <vt:lpstr>Problem Formulation</vt:lpstr>
      <vt:lpstr>Problem Formulation</vt:lpstr>
      <vt:lpstr>Beamforming Design Based on Perfect WCSI</vt:lpstr>
      <vt:lpstr>Beamforming Design Based on Perfect WCSI</vt:lpstr>
      <vt:lpstr>Beamforming Design Based on Perfect WCSI</vt:lpstr>
      <vt:lpstr>Beamforming Design Based on Perfect WCSI</vt:lpstr>
      <vt:lpstr>Beamforming Design Based on Perfect WCSI</vt:lpstr>
      <vt:lpstr>Beamforming Design Based on Perfect WCSI</vt:lpstr>
      <vt:lpstr>Beamforming Design Based on Perfect WCSI</vt:lpstr>
      <vt:lpstr>Beamforming Design Based on Perfect WCSI</vt:lpstr>
      <vt:lpstr>Beamforming Design Based on Perfect WCSI</vt:lpstr>
      <vt:lpstr>Beamforming Design Based on Perfect WCSI</vt:lpstr>
      <vt:lpstr>Beamforming Design Based on Perfect WCSI</vt:lpstr>
      <vt:lpstr>Beamforming Design Based on Perfect WCSI</vt:lpstr>
      <vt:lpstr>Beamforming Design Based on Perfect WCSI</vt:lpstr>
      <vt:lpstr>Beamforming Design Based on Perfect WCSI</vt:lpstr>
      <vt:lpstr>Beamforming Design Based on Perfect WCSI</vt:lpstr>
      <vt:lpstr>Beamforming Design Based on Perfect WCSI</vt:lpstr>
      <vt:lpstr>Beamforming Design Based on Perfect WCSI</vt:lpstr>
      <vt:lpstr>Beamforming Design Based on Perfect WCSI</vt:lpstr>
      <vt:lpstr>Beamforming Design Based on Perfect WCSI</vt:lpstr>
      <vt:lpstr>Beamforming Design Based on Imperfect WCSI</vt:lpstr>
      <vt:lpstr>Beamforming Design Based on Imperfect WCSI</vt:lpstr>
      <vt:lpstr>Beamforming Design Based on Imperfect WCSI</vt:lpstr>
      <vt:lpstr>Beamforming Design Based on Imperfect WCSI</vt:lpstr>
      <vt:lpstr>Beamforming Design Based on Imperfect WCSI</vt:lpstr>
      <vt:lpstr>Beamforming Design Based on Imperfect WCSI</vt:lpstr>
      <vt:lpstr>Beamforming Design Based on Imperfect WCSI</vt:lpstr>
      <vt:lpstr>Beamforming Design Based on Imperfect WCSI</vt:lpstr>
      <vt:lpstr>Beamforming Design Based on Imperfect WCSI</vt:lpstr>
      <vt:lpstr>Beamforming Design Based on Imperfect WCSI</vt:lpstr>
      <vt:lpstr>Beamforming Design Based on Imperfect WCSI</vt:lpstr>
      <vt:lpstr>Beamforming Design Based on Imperfect WCSI</vt:lpstr>
      <vt:lpstr>Beamforming Design Based on Imperfect WCSI</vt:lpstr>
      <vt:lpstr>Beamforming Design Based on Imperfect WCSI</vt:lpstr>
      <vt:lpstr>Beamforming Design Based on Imperfect WCSI</vt:lpstr>
      <vt:lpstr>Beamforming Design Based on Imperfect WCSI</vt:lpstr>
      <vt:lpstr>Beamforming Design Based on Imperfect WCSI</vt:lpstr>
      <vt:lpstr>Beamforming Design Based on Imperfect WCSI</vt:lpstr>
      <vt:lpstr>Beamforming Design Based on Imperfect WCSI</vt:lpstr>
      <vt:lpstr>Beamforming Design Based on Imperfect WCSI</vt:lpstr>
      <vt:lpstr>Beamforming Design Based on Imperfect WCSI</vt:lpstr>
      <vt:lpstr>Reproduction</vt:lpstr>
      <vt:lpstr>Reproduction</vt:lpstr>
      <vt:lpstr>Reproduction</vt:lpstr>
      <vt:lpstr>Reproduction</vt:lpstr>
      <vt:lpstr>Reproduction</vt:lpstr>
      <vt:lpstr>Reproduction</vt:lpstr>
      <vt:lpstr>Reproduction</vt:lpstr>
      <vt:lpstr>Reproduction</vt:lpstr>
      <vt:lpstr>Reproduction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Jihwan Moon</dc:creator>
  <cp:lastModifiedBy>Refat Khan</cp:lastModifiedBy>
  <cp:revision>12</cp:revision>
  <dcterms:created xsi:type="dcterms:W3CDTF">2018-05-20T06:28:16Z</dcterms:created>
  <dcterms:modified xsi:type="dcterms:W3CDTF">2026-07-28T11:36:16Z</dcterms:modified>
</cp:coreProperties>
</file>