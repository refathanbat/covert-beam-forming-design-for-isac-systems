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1615" r:id="rId3"/>
    <p:sldId id="1536" r:id="rId4"/>
    <p:sldId id="1537" r:id="rId5"/>
    <p:sldId id="1538" r:id="rId6"/>
    <p:sldId id="1539" r:id="rId7"/>
    <p:sldId id="1540" r:id="rId8"/>
    <p:sldId id="1541" r:id="rId9"/>
    <p:sldId id="1542" r:id="rId10"/>
    <p:sldId id="1543" r:id="rId11"/>
    <p:sldId id="1544" r:id="rId12"/>
    <p:sldId id="1545" r:id="rId13"/>
    <p:sldId id="1546" r:id="rId14"/>
    <p:sldId id="1547" r:id="rId15"/>
    <p:sldId id="1548" r:id="rId16"/>
    <p:sldId id="1549" r:id="rId17"/>
    <p:sldId id="1550" r:id="rId18"/>
    <p:sldId id="1551" r:id="rId19"/>
    <p:sldId id="1552" r:id="rId20"/>
    <p:sldId id="1553" r:id="rId21"/>
    <p:sldId id="1554" r:id="rId22"/>
    <p:sldId id="1555" r:id="rId23"/>
    <p:sldId id="1556" r:id="rId24"/>
    <p:sldId id="1557" r:id="rId25"/>
    <p:sldId id="1558" r:id="rId26"/>
    <p:sldId id="1559" r:id="rId27"/>
    <p:sldId id="1560" r:id="rId28"/>
    <p:sldId id="1561" r:id="rId29"/>
    <p:sldId id="1562" r:id="rId30"/>
    <p:sldId id="1563" r:id="rId31"/>
    <p:sldId id="1564" r:id="rId32"/>
    <p:sldId id="1565" r:id="rId33"/>
    <p:sldId id="1566" r:id="rId34"/>
    <p:sldId id="1567" r:id="rId35"/>
    <p:sldId id="1568" r:id="rId36"/>
    <p:sldId id="1569" r:id="rId37"/>
    <p:sldId id="1570" r:id="rId38"/>
    <p:sldId id="1571" r:id="rId39"/>
    <p:sldId id="1572" r:id="rId40"/>
    <p:sldId id="1573" r:id="rId41"/>
    <p:sldId id="1574" r:id="rId42"/>
    <p:sldId id="1575" r:id="rId43"/>
    <p:sldId id="1576" r:id="rId44"/>
    <p:sldId id="1577" r:id="rId45"/>
    <p:sldId id="1578" r:id="rId46"/>
    <p:sldId id="1579" r:id="rId47"/>
    <p:sldId id="1580" r:id="rId48"/>
    <p:sldId id="1581" r:id="rId49"/>
    <p:sldId id="1582" r:id="rId50"/>
    <p:sldId id="1583" r:id="rId51"/>
    <p:sldId id="1584" r:id="rId52"/>
    <p:sldId id="1585" r:id="rId53"/>
    <p:sldId id="1586" r:id="rId54"/>
    <p:sldId id="1587" r:id="rId55"/>
    <p:sldId id="1588" r:id="rId56"/>
    <p:sldId id="1589" r:id="rId57"/>
    <p:sldId id="1590" r:id="rId58"/>
    <p:sldId id="1591" r:id="rId59"/>
    <p:sldId id="1592" r:id="rId60"/>
    <p:sldId id="1593" r:id="rId61"/>
    <p:sldId id="1594" r:id="rId62"/>
    <p:sldId id="1595" r:id="rId63"/>
    <p:sldId id="1596" r:id="rId64"/>
    <p:sldId id="1597" r:id="rId65"/>
    <p:sldId id="1598" r:id="rId66"/>
    <p:sldId id="1599" r:id="rId67"/>
    <p:sldId id="1600" r:id="rId68"/>
    <p:sldId id="1601" r:id="rId69"/>
    <p:sldId id="1602" r:id="rId70"/>
    <p:sldId id="1603" r:id="rId71"/>
    <p:sldId id="1605" r:id="rId72"/>
    <p:sldId id="1606" r:id="rId73"/>
    <p:sldId id="1607" r:id="rId74"/>
    <p:sldId id="1604" r:id="rId75"/>
    <p:sldId id="1608" r:id="rId76"/>
    <p:sldId id="1609" r:id="rId77"/>
    <p:sldId id="1610" r:id="rId78"/>
    <p:sldId id="1611" r:id="rId79"/>
    <p:sldId id="1612" r:id="rId80"/>
    <p:sldId id="1613" r:id="rId81"/>
    <p:sldId id="1614" r:id="rId82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06930-2FBF-4BDF-BB7A-ED0F3C0B8516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b="0" dirty="0">
                <a:solidFill>
                  <a:srgbClr val="0070C0"/>
                </a:solidFill>
              </a:rPr>
              <a:t>Covert Beamforming Design for Integrated Radar Sensing and Communication Systems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5"/>
            <a:ext cx="10501993" cy="2079773"/>
          </a:xfrm>
        </p:spPr>
        <p:txBody>
          <a:bodyPr vert="horz" lIns="91440" tIns="45720" rIns="91440" bIns="45720" anchor="t">
            <a:noAutofit/>
          </a:bodyPr>
          <a:lstStyle/>
          <a:p>
            <a:r>
              <a:rPr dirty="0">
                <a:solidFill>
                  <a:srgbClr val="7030A0"/>
                </a:solidFill>
              </a:rPr>
              <a:t>Paper presentation based on IEEE Transactions on Wireless Communications, Vol. 22, No. 1, January 2023</a:t>
            </a:r>
          </a:p>
          <a:p>
            <a:r>
              <a:rPr dirty="0">
                <a:solidFill>
                  <a:srgbClr val="7030A0"/>
                </a:solidFill>
              </a:rPr>
              <a:t>Authors: Shuai Ma, </a:t>
            </a:r>
            <a:r>
              <a:rPr dirty="0" err="1">
                <a:solidFill>
                  <a:srgbClr val="7030A0"/>
                </a:solidFill>
              </a:rPr>
              <a:t>Haihong</a:t>
            </a:r>
            <a:r>
              <a:rPr dirty="0">
                <a:solidFill>
                  <a:srgbClr val="7030A0"/>
                </a:solidFill>
              </a:rPr>
              <a:t> Sheng, </a:t>
            </a:r>
            <a:r>
              <a:rPr dirty="0" err="1">
                <a:solidFill>
                  <a:srgbClr val="7030A0"/>
                </a:solidFill>
              </a:rPr>
              <a:t>Ruixin</a:t>
            </a:r>
            <a:r>
              <a:rPr dirty="0">
                <a:solidFill>
                  <a:srgbClr val="7030A0"/>
                </a:solidFill>
              </a:rPr>
              <a:t> Yang, Hang Li, </a:t>
            </a:r>
            <a:r>
              <a:rPr dirty="0" err="1">
                <a:solidFill>
                  <a:srgbClr val="7030A0"/>
                </a:solidFill>
              </a:rPr>
              <a:t>Youlong</a:t>
            </a:r>
            <a:r>
              <a:rPr dirty="0">
                <a:solidFill>
                  <a:srgbClr val="7030A0"/>
                </a:solidFill>
              </a:rPr>
              <a:t> Wu, Chao Shen, </a:t>
            </a:r>
            <a:r>
              <a:rPr dirty="0" err="1">
                <a:solidFill>
                  <a:srgbClr val="7030A0"/>
                </a:solidFill>
              </a:rPr>
              <a:t>Naofal</a:t>
            </a:r>
            <a:r>
              <a:rPr dirty="0">
                <a:solidFill>
                  <a:srgbClr val="7030A0"/>
                </a:solidFill>
              </a:rPr>
              <a:t> Al-Dhahir, and </a:t>
            </a:r>
            <a:r>
              <a:rPr dirty="0" err="1">
                <a:solidFill>
                  <a:srgbClr val="7030A0"/>
                </a:solidFill>
              </a:rPr>
              <a:t>Shiyin</a:t>
            </a:r>
            <a:r>
              <a:rPr dirty="0">
                <a:solidFill>
                  <a:srgbClr val="7030A0"/>
                </a:solidFill>
              </a:rPr>
              <a:t> Li</a:t>
            </a:r>
          </a:p>
          <a:p>
            <a:r>
              <a:rPr dirty="0">
                <a:solidFill>
                  <a:srgbClr val="0000FF"/>
                </a:solidFill>
              </a:rPr>
              <a:t>Date of publication: 17 August 2022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39D109-9F59-4B0B-8E20-D6D3A384B1F1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3289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D2C8-9F69-44BC-1785-0BDB5427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F203-81BE-4571-773F-3EA01254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Abstract</a:t>
            </a:r>
          </a:p>
          <a:p>
            <a:pPr>
              <a:lnSpc>
                <a:spcPct val="150000"/>
              </a:lnSpc>
            </a:pPr>
            <a:r>
              <a:rPr lang="en-US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dirty="0"/>
              <a:t>System Model and Problem Formulation</a:t>
            </a:r>
          </a:p>
          <a:p>
            <a:pPr>
              <a:lnSpc>
                <a:spcPct val="150000"/>
              </a:lnSpc>
            </a:pPr>
            <a:r>
              <a:rPr lang="en-US" dirty="0"/>
              <a:t>Beamforming Design Based on Perfect WCSI</a:t>
            </a:r>
          </a:p>
          <a:p>
            <a:pPr>
              <a:lnSpc>
                <a:spcPct val="150000"/>
              </a:lnSpc>
            </a:pPr>
            <a:r>
              <a:rPr lang="en-US" dirty="0"/>
              <a:t>Beamforming Design Based on Imperfect WCSI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BFF52-C9DB-264C-68C2-23242307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96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8128-7DDF-1DFA-54B3-B6A059DB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2BECB-37B8-5DEC-BE43-CAFF3BC2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 and System Idea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Covert Beamforming for IRSC Systems</a:t>
            </a:r>
          </a:p>
          <a:p>
            <a:pPr lvl="2"/>
            <a:r>
              <a:rPr lang="en-US" dirty="0"/>
              <a:t>The radar transmits probing waveforms for target sensing. </a:t>
            </a:r>
          </a:p>
          <a:p>
            <a:pPr lvl="2"/>
            <a:r>
              <a:rPr lang="en-US" dirty="0"/>
              <a:t>At the same time, it covertly sends information to legitimate users. </a:t>
            </a:r>
          </a:p>
          <a:p>
            <a:pPr lvl="2"/>
            <a:r>
              <a:rPr lang="en-US" dirty="0"/>
              <a:t>The communication signal is hidden under the radar probing waveform. </a:t>
            </a:r>
          </a:p>
          <a:p>
            <a:pPr lvl="2"/>
            <a:r>
              <a:rPr lang="en-US" dirty="0"/>
              <a:t>The eavesdropper tries to detect whether covert communication exists. </a:t>
            </a:r>
          </a:p>
          <a:p>
            <a:pPr lvl="2"/>
            <a:r>
              <a:rPr lang="en-US" dirty="0"/>
              <a:t>Objective:</a:t>
            </a:r>
          </a:p>
          <a:p>
            <a:pPr lvl="3"/>
            <a:r>
              <a:rPr lang="en-US" dirty="0"/>
              <a:t>Jointly design: </a:t>
            </a:r>
          </a:p>
          <a:p>
            <a:pPr lvl="4"/>
            <a:r>
              <a:rPr lang="en-US" dirty="0"/>
              <a:t>Radar detection beamformer </a:t>
            </a:r>
          </a:p>
          <a:p>
            <a:pPr lvl="4"/>
            <a:r>
              <a:rPr lang="en-US" dirty="0"/>
              <a:t>Communication beamformer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BE308-0E37-7150-888A-D8ED6A54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4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D047-C61F-0899-A662-5A6B67D5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F63AD-BA24-31ED-1AD9-6EB5E8FC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 and System Idea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Covert Beamforming for IRSC Systems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Main Goal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Improve radar sensing and communication performance while satisfying covertness.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Optimization Targets:</a:t>
            </a:r>
          </a:p>
          <a:p>
            <a:pPr lvl="3"/>
            <a:r>
              <a:rPr lang="en-US" dirty="0"/>
              <a:t>Maximize radar detection mutual information, or </a:t>
            </a:r>
          </a:p>
          <a:p>
            <a:pPr lvl="3"/>
            <a:r>
              <a:rPr lang="en-US" dirty="0"/>
              <a:t>Maximize communication rate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Constraints:</a:t>
            </a:r>
          </a:p>
          <a:p>
            <a:pPr lvl="3"/>
            <a:r>
              <a:rPr lang="en-US" dirty="0"/>
              <a:t>Covert constraint at the eavesdropper </a:t>
            </a:r>
          </a:p>
          <a:p>
            <a:pPr lvl="3"/>
            <a:r>
              <a:rPr lang="en-US" dirty="0"/>
              <a:t>Communication rate requirement </a:t>
            </a:r>
          </a:p>
          <a:p>
            <a:pPr lvl="3"/>
            <a:r>
              <a:rPr lang="en-US" dirty="0"/>
              <a:t>Radar detection MI requirement </a:t>
            </a:r>
          </a:p>
          <a:p>
            <a:pPr lvl="3"/>
            <a:r>
              <a:rPr lang="en-US" dirty="0"/>
              <a:t>Total transmit power constraint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23E45-A4CF-A37E-B58C-41C00C0E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1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7D5A-8006-46CD-CD37-F4F705EC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DEF8B-94BB-E251-CDBF-76C6C4D8E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Proposed Methods and Contributions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Beamforming Design under Perfect and Imperfect CSI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Perfect Eavesdropper CSI:</a:t>
            </a:r>
          </a:p>
          <a:p>
            <a:pPr lvl="3"/>
            <a:r>
              <a:rPr lang="en-US" dirty="0"/>
              <a:t>The covert beamforming problems are transformed into convex subproblems. </a:t>
            </a:r>
          </a:p>
          <a:p>
            <a:pPr lvl="3"/>
            <a:r>
              <a:rPr lang="en-US" dirty="0"/>
              <a:t>Semidefinite relaxation is used. </a:t>
            </a:r>
          </a:p>
          <a:p>
            <a:pPr lvl="3"/>
            <a:r>
              <a:rPr lang="en-US" dirty="0"/>
              <a:t>Bisection search is applied to solve the optimization problems.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Low-Complexity Design:</a:t>
            </a:r>
          </a:p>
          <a:p>
            <a:pPr lvl="3"/>
            <a:r>
              <a:rPr lang="en-US" dirty="0"/>
              <a:t>A single-iterative beamforming scheme is proposed. </a:t>
            </a:r>
          </a:p>
          <a:p>
            <a:pPr lvl="3"/>
            <a:r>
              <a:rPr lang="en-US" dirty="0"/>
              <a:t>It is based on the zero-forcing criterion. </a:t>
            </a:r>
          </a:p>
          <a:p>
            <a:pPr lvl="3"/>
            <a:r>
              <a:rPr lang="en-US" dirty="0"/>
              <a:t>This reduces the complexity of iterative optimization.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Imperfect Eavesdropper CSI:</a:t>
            </a:r>
          </a:p>
          <a:p>
            <a:pPr lvl="3"/>
            <a:r>
              <a:rPr lang="en-US" dirty="0"/>
              <a:t>A robust covert beamforming framework is developed. </a:t>
            </a:r>
          </a:p>
          <a:p>
            <a:pPr lvl="3"/>
            <a:r>
              <a:rPr lang="en-US" dirty="0"/>
              <a:t>Relaxation and restriction methods are used to handle CSI uncertainty. 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Main Contribution:</a:t>
            </a:r>
          </a:p>
          <a:p>
            <a:pPr lvl="3"/>
            <a:r>
              <a:rPr lang="en-US" dirty="0"/>
              <a:t>The proposed schemes provide effective covert communication in IRSC systems for both perfect and imperfect eavesdropper CSI scenarios.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47381-1D7C-125C-C4A4-1A09D471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529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C5B5-8AEC-2E38-4EAD-297A1914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F4DA1-360B-5F74-EE69-1173FEE36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 and Research Gap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Why Covert Communication is Needed in IRSC</a:t>
            </a:r>
          </a:p>
          <a:p>
            <a:pPr lvl="2"/>
            <a:r>
              <a:rPr lang="en-US" dirty="0"/>
              <a:t>Integrated radar sensing and communication (IRSC) systems combine radar detection and wireless communication in one platform. </a:t>
            </a:r>
          </a:p>
          <a:p>
            <a:pPr lvl="2"/>
            <a:r>
              <a:rPr lang="en-US" dirty="0"/>
              <a:t>Compared with separated systems, IRSC can reduce: </a:t>
            </a:r>
          </a:p>
          <a:p>
            <a:pPr lvl="3"/>
            <a:r>
              <a:rPr lang="en-US" dirty="0">
                <a:solidFill>
                  <a:srgbClr val="002060"/>
                </a:solidFill>
              </a:rPr>
              <a:t>Platform payload </a:t>
            </a:r>
          </a:p>
          <a:p>
            <a:pPr lvl="3"/>
            <a:r>
              <a:rPr lang="en-US" dirty="0">
                <a:solidFill>
                  <a:srgbClr val="002060"/>
                </a:solidFill>
              </a:rPr>
              <a:t>Power consumption </a:t>
            </a:r>
          </a:p>
          <a:p>
            <a:pPr lvl="3"/>
            <a:r>
              <a:rPr lang="en-US" dirty="0">
                <a:solidFill>
                  <a:srgbClr val="002060"/>
                </a:solidFill>
              </a:rPr>
              <a:t>Spectrum usage </a:t>
            </a:r>
          </a:p>
          <a:p>
            <a:pPr lvl="2"/>
            <a:r>
              <a:rPr lang="en-US" dirty="0"/>
              <a:t>However, due to the open and broadcasting nature of radar waveforms, </a:t>
            </a:r>
            <a:r>
              <a:rPr lang="en-US" dirty="0">
                <a:solidFill>
                  <a:srgbClr val="002060"/>
                </a:solidFill>
              </a:rPr>
              <a:t>the embedded communication information may be intercepted by malicious users. 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Existing Security Limitation:</a:t>
            </a:r>
          </a:p>
          <a:p>
            <a:pPr lvl="3"/>
            <a:r>
              <a:rPr lang="en-US" dirty="0"/>
              <a:t>Physical layer security mainly prevents the adversary from decoding the message. </a:t>
            </a:r>
          </a:p>
          <a:p>
            <a:pPr lvl="3"/>
            <a:r>
              <a:rPr lang="en-US" dirty="0"/>
              <a:t>But it cannot hide the existence of communication itself. 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Research Gap:</a:t>
            </a:r>
          </a:p>
          <a:p>
            <a:pPr lvl="3"/>
            <a:r>
              <a:rPr lang="en-US" dirty="0"/>
              <a:t>Covert communication for IRSC systems has not been well investigated. </a:t>
            </a:r>
          </a:p>
          <a:p>
            <a:pPr lvl="3"/>
            <a:r>
              <a:rPr lang="en-US" dirty="0"/>
              <a:t>A rigorous covert beamforming framework is still needed.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34814-7EFD-92A5-3C1F-B613D556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45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872E-1DF0-6E28-7D0E-FDDEC114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DD6F0-63BF-129E-CFF0-98BF18982C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IRSC System and Detection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Willie’s Detection Problem in Covert IRSC</a:t>
                </a:r>
              </a:p>
              <a:p>
                <a:pPr lvl="2"/>
                <a:r>
                  <a:rPr lang="en-US" dirty="0"/>
                  <a:t>The radar sends a detection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for sensing. </a:t>
                </a:r>
              </a:p>
              <a:p>
                <a:pPr lvl="2"/>
                <a:r>
                  <a:rPr lang="en-US" dirty="0"/>
                  <a:t>At the same time, it may also send a covert communication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to Bob. </a:t>
                </a:r>
              </a:p>
              <a:p>
                <a:pPr lvl="2"/>
                <a:r>
                  <a:rPr lang="en-US" dirty="0"/>
                  <a:t>Willie tries to detect whether covert communication exists.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Binary hypotheses at Willie: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i="0"/>
                      <m:t>Radar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only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sends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i="0"/>
                      <m:t>Radar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sends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both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and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Main channels: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: Radar-to-target channel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: Radar-to-Bob channel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: Radar-to-Willie channel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Likelihood functions: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i="0"/>
                      <m:t>likelihood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of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Willie</m:t>
                    </m:r>
                    <m:r>
                      <m:rPr>
                        <m:nor/>
                      </m:rPr>
                      <a:rPr lang="en-US" i="0"/>
                      <m:t>’</m:t>
                    </m:r>
                    <m:r>
                      <m:rPr>
                        <m:nor/>
                      </m:rPr>
                      <a:rPr lang="en-US" i="0"/>
                      <m:t>s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received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signal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under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i="0"/>
                      <m:t>likelihood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of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Willie</m:t>
                    </m:r>
                    <m:r>
                      <m:rPr>
                        <m:nor/>
                      </m:rPr>
                      <a:rPr lang="en-US" i="0"/>
                      <m:t>’</m:t>
                    </m:r>
                    <m:r>
                      <m:rPr>
                        <m:nor/>
                      </m:rPr>
                      <a:rPr lang="en-US" i="0"/>
                      <m:t>s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received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signal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under</m:t>
                    </m:r>
                    <m:r>
                      <m:rPr>
                        <m:nor/>
                      </m:rPr>
                      <a:rPr lang="en-US" i="0"/>
                      <m:t>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Covertness idea: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Willie cannot reliably distinguish communication from normal radar probing.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1DD6F0-63BF-129E-CFF0-98BF18982C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9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BA0A6-A078-018A-2AE6-EFB0523C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5856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310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D049-41AE-B68D-6531-15D27707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40C214-E1D3-33AB-7F0A-C886925E96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Proposed Beamforming Framework and Contributions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Covert Beamforming Design for IRSC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Design Objective:</a:t>
                </a:r>
              </a:p>
              <a:p>
                <a:pPr lvl="3"/>
                <a:r>
                  <a:rPr lang="en-US" dirty="0">
                    <a:solidFill>
                      <a:srgbClr val="002060"/>
                    </a:solidFill>
                  </a:rPr>
                  <a:t>Jointly optimize: </a:t>
                </a:r>
              </a:p>
              <a:p>
                <a:pPr lvl="4"/>
                <a:r>
                  <a:rPr lang="en-US" dirty="0"/>
                  <a:t>Radar detection beamformer </a:t>
                </a:r>
              </a:p>
              <a:p>
                <a:pPr lvl="4"/>
                <a:r>
                  <a:rPr lang="en-US" dirty="0"/>
                  <a:t>Communication beamformer 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Two optimization goals:</a:t>
                </a:r>
              </a:p>
              <a:p>
                <a:pPr lvl="3"/>
                <a:r>
                  <a:rPr lang="en-US" dirty="0"/>
                  <a:t>Maximize radar detection mutual information, or </a:t>
                </a:r>
              </a:p>
              <a:p>
                <a:pPr lvl="3"/>
                <a:r>
                  <a:rPr lang="en-US" dirty="0"/>
                  <a:t>Maximize covert communication rate 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Main constraints:</a:t>
                </a:r>
              </a:p>
              <a:p>
                <a:pPr lvl="3"/>
                <a:r>
                  <a:rPr lang="en-US" dirty="0"/>
                  <a:t>Covert constraint based on KL divergence: 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Communication rate constraint </a:t>
                </a:r>
              </a:p>
              <a:p>
                <a:pPr lvl="4"/>
                <a:r>
                  <a:rPr lang="en-US" dirty="0"/>
                  <a:t>Radar detection MI constraint </a:t>
                </a:r>
              </a:p>
              <a:p>
                <a:pPr lvl="4"/>
                <a:r>
                  <a:rPr lang="en-US" dirty="0"/>
                  <a:t>Total transmit power constraint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40C214-E1D3-33AB-7F0A-C886925E9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11B93-7875-DC18-3238-A3DD7F10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361426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231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6D99-D578-7E65-5B25-C292D69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D886F-84B3-98AA-8F3B-E1E98B35D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Proposed Beamforming Framework and Contributions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Covert Beamforming Design for IRSC</a:t>
                </a:r>
              </a:p>
              <a:p>
                <a:pPr lvl="2"/>
                <a:r>
                  <a:rPr lang="en-US" dirty="0"/>
                  <a:t>Main contributions:</a:t>
                </a:r>
              </a:p>
              <a:p>
                <a:pPr lvl="3"/>
                <a:r>
                  <a:rPr lang="en-US" dirty="0"/>
                  <a:t>For perfect Willie CSI: </a:t>
                </a:r>
              </a:p>
              <a:p>
                <a:pPr lvl="4"/>
                <a:r>
                  <a:rPr lang="en-US" dirty="0"/>
                  <a:t>Transform non-convex beamforming problems into convex subproblems using SDR. </a:t>
                </a:r>
              </a:p>
              <a:p>
                <a:pPr lvl="4"/>
                <a:r>
                  <a:rPr lang="en-US" dirty="0"/>
                  <a:t>Solve them using bisection search. </a:t>
                </a:r>
              </a:p>
              <a:p>
                <a:pPr lvl="3"/>
                <a:r>
                  <a:rPr lang="en-US" dirty="0"/>
                  <a:t>For low-complexity design: </a:t>
                </a:r>
              </a:p>
              <a:p>
                <a:pPr lvl="4"/>
                <a:r>
                  <a:rPr lang="en-US" dirty="0"/>
                  <a:t>Propose a zero-forcing based single-iterative beamforming method. </a:t>
                </a:r>
              </a:p>
              <a:p>
                <a:pPr lvl="4"/>
                <a:r>
                  <a:rPr lang="en-US" dirty="0"/>
                  <a:t>Project communication signals into Willie’s channel null space. </a:t>
                </a:r>
              </a:p>
              <a:p>
                <a:pPr lvl="3"/>
                <a:r>
                  <a:rPr lang="en-US" dirty="0"/>
                  <a:t>For imperfect Willie CSI: </a:t>
                </a:r>
              </a:p>
              <a:p>
                <a:pPr lvl="4"/>
                <a:r>
                  <a:rPr lang="en-US" dirty="0"/>
                  <a:t>Develop robust covert beamforming using relaxation and restriction methods. </a:t>
                </a:r>
              </a:p>
              <a:p>
                <a:pPr lvl="3"/>
                <a:r>
                  <a:rPr lang="en-US" dirty="0"/>
                  <a:t>Key message:</a:t>
                </a:r>
              </a:p>
              <a:p>
                <a:pPr lvl="4"/>
                <a:r>
                  <a:rPr lang="en-US" dirty="0"/>
                  <a:t>The radar waveform acts as a cover, while the communication beamformer hides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from Willie.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D886F-84B3-98AA-8F3B-E1E98B35D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DF7EB-E088-FEC4-C6F8-2F3D0631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22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BA43-E618-1A1D-ED51-22D15539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780099-1671-A4EB-0637-17E1A5682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063" y="1783688"/>
            <a:ext cx="5972058" cy="30162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C3067-E0DE-A033-318E-885BBB16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96EE6-E137-A369-AA4F-323E3715D06F}"/>
              </a:ext>
            </a:extLst>
          </p:cNvPr>
          <p:cNvSpPr txBox="1"/>
          <p:nvPr/>
        </p:nvSpPr>
        <p:spPr>
          <a:xfrm>
            <a:off x="2076275" y="4743974"/>
            <a:ext cx="889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Figure 01. </a:t>
            </a:r>
            <a:r>
              <a:rPr lang="en-US" dirty="0"/>
              <a:t>The schematic diagram of an integrated radar-communication system</a:t>
            </a:r>
          </a:p>
        </p:txBody>
      </p:sp>
    </p:spTree>
    <p:extLst>
      <p:ext uri="{BB962C8B-B14F-4D97-AF65-F5344CB8AC3E}">
        <p14:creationId xmlns:p14="http://schemas.microsoft.com/office/powerpoint/2010/main" val="1044209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6769-2425-5409-8D9A-CD95D726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5C34F-EF9C-356B-ED2F-285ED4548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IRSC System Overview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Integrated Radar-Communication System Model</a:t>
                </a:r>
              </a:p>
              <a:p>
                <a:pPr lvl="1"/>
                <a:r>
                  <a:rPr lang="en-US" dirty="0"/>
                  <a:t>The system consists of: </a:t>
                </a:r>
              </a:p>
              <a:p>
                <a:pPr lvl="2"/>
                <a:r>
                  <a:rPr lang="en-US" dirty="0"/>
                  <a:t>A multi-antenna radar </a:t>
                </a:r>
              </a:p>
              <a:p>
                <a:pPr lvl="2"/>
                <a:r>
                  <a:rPr lang="en-US" dirty="0"/>
                  <a:t>A radar target </a:t>
                </a:r>
              </a:p>
              <a:p>
                <a:pPr lvl="2"/>
                <a:r>
                  <a:rPr lang="en-US" dirty="0"/>
                  <a:t>A legitimate receiver, Bob </a:t>
                </a:r>
              </a:p>
              <a:p>
                <a:pPr lvl="2"/>
                <a:r>
                  <a:rPr lang="en-US" dirty="0"/>
                  <a:t>An eavesdropper / warden, Willie </a:t>
                </a:r>
              </a:p>
              <a:p>
                <a:pPr lvl="1"/>
                <a:r>
                  <a:rPr lang="en-US" dirty="0"/>
                  <a:t>The radar has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antennas. </a:t>
                </a:r>
              </a:p>
              <a:p>
                <a:pPr lvl="1"/>
                <a:r>
                  <a:rPr lang="en-US" dirty="0"/>
                  <a:t>The radar performs two tasks simultaneously: </a:t>
                </a:r>
              </a:p>
              <a:p>
                <a:pPr lvl="2"/>
                <a:r>
                  <a:rPr lang="en-US" dirty="0"/>
                  <a:t>Target detection/sensing </a:t>
                </a:r>
              </a:p>
              <a:p>
                <a:pPr lvl="2"/>
                <a:r>
                  <a:rPr lang="en-US" dirty="0"/>
                  <a:t>Communication with Bob </a:t>
                </a:r>
              </a:p>
              <a:p>
                <a:pPr lvl="1"/>
                <a:r>
                  <a:rPr lang="en-US" dirty="0"/>
                  <a:t>Bob and Willie are both equipped with single antennas.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Radar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signal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is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used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for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sensing</m:t>
                    </m:r>
                    <m:r>
                      <m:rPr>
                        <m:nor/>
                      </m:rPr>
                      <a:rPr lang="en-US" b="0" i="0"/>
                      <m:t>, </m:t>
                    </m:r>
                    <m:r>
                      <m:rPr>
                        <m:nor/>
                      </m:rPr>
                      <a:rPr lang="en-US" b="0" i="0"/>
                      <m:t>while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communication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is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hidden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inside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radar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transmission</m:t>
                    </m:r>
                    <m:r>
                      <m:rPr>
                        <m:nor/>
                      </m:rPr>
                      <a:rPr lang="en-US" b="0" i="0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E5C34F-EF9C-356B-ED2F-285ED4548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E0451-25AD-70F6-5BFF-89375C7E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089A-A7F9-B449-BAC0-6F1F0A98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E72F7-7C65-2AAD-6E07-91DD984F1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8383"/>
                <a:ext cx="10515600" cy="5472563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Channel Model and Signal Definitions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Channels and Transmitted Signals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Channel vectors: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4"/>
                <a:r>
                  <a:rPr lang="en-US" dirty="0"/>
                  <a:t>Radar-to-target channel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4"/>
                <a:r>
                  <a:rPr lang="en-US" dirty="0"/>
                  <a:t>Radar-to-Bob channel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4"/>
                <a:r>
                  <a:rPr lang="en-US" dirty="0"/>
                  <a:t>Radar-to-Willie channel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Signal definitions: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: Radar detection signal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: Communication signal 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Power normalization: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Channel assumption:</a:t>
                </a:r>
              </a:p>
              <a:p>
                <a:pPr lvl="3"/>
                <a:r>
                  <a:rPr lang="en-US" dirty="0"/>
                  <a:t>The wireless channels follow Rayleigh flat fading. </a:t>
                </a:r>
              </a:p>
              <a:p>
                <a:pPr lvl="3"/>
                <a:r>
                  <a:rPr lang="en-US" dirty="0"/>
                  <a:t>Bob and Willie receive direct signals from the radar. </a:t>
                </a:r>
              </a:p>
              <a:p>
                <a:pPr lvl="3"/>
                <a:r>
                  <a:rPr lang="en-US" dirty="0"/>
                  <a:t>Reflected target signals are ignored at Bob due to Bob’s single antenna structure.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E72F7-7C65-2AAD-6E07-91DD984F1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8383"/>
                <a:ext cx="10515600" cy="5472563"/>
              </a:xfrm>
              <a:blipFill>
                <a:blip r:embed="rId2"/>
                <a:stretch>
                  <a:fillRect l="-522" t="-1114" b="-1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ACB3A-3CB5-7E13-C96A-ED5596F3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696985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576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A216-CAE2-32B2-DB28-D93C975D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8EF12-6447-02D3-1CE8-B94F4E3F1F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4759498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Role of Bob and Willie</a:t>
                </a:r>
              </a:p>
              <a:p>
                <a:pPr lvl="1"/>
                <a:r>
                  <a:rPr lang="en-US" dirty="0"/>
                  <a:t>Bob is the legitimate communication receiver. </a:t>
                </a:r>
              </a:p>
              <a:p>
                <a:pPr lvl="1"/>
                <a:r>
                  <a:rPr lang="en-US" dirty="0"/>
                  <a:t>Bob is equipped with a single antenna. </a:t>
                </a:r>
              </a:p>
              <a:p>
                <a:pPr lvl="1"/>
                <a:r>
                  <a:rPr lang="en-US" dirty="0"/>
                  <a:t>The reflected target signal is ignored at Bob. </a:t>
                </a:r>
              </a:p>
              <a:p>
                <a:pPr lvl="1"/>
                <a:r>
                  <a:rPr lang="en-US" dirty="0"/>
                  <a:t>Willie is a single-antenna eavesdropper. </a:t>
                </a:r>
              </a:p>
              <a:p>
                <a:pPr lvl="1"/>
                <a:r>
                  <a:rPr lang="en-US" dirty="0"/>
                  <a:t>Willie observes the radar transmission and tries to detect whether information is being sent to Bob. </a:t>
                </a:r>
              </a:p>
              <a:p>
                <a:pPr lvl="1"/>
                <a:r>
                  <a:rPr lang="en-US" dirty="0"/>
                  <a:t>Key Design Challenge: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Radar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must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communicate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with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Bob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while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keeping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communication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hidden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from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70C0"/>
                        </a:solidFill>
                      </a:rPr>
                      <m:t>Willie</m:t>
                    </m:r>
                    <m:r>
                      <m:rPr>
                        <m:nor/>
                      </m:rPr>
                      <a:rPr lang="en-US" b="0" i="0"/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8EF12-6447-02D3-1CE8-B94F4E3F1F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4759498"/>
              </a:xfrm>
              <a:blipFill>
                <a:blip r:embed="rId2"/>
                <a:stretch>
                  <a:fillRect l="-522" t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D1577-3DC6-4833-41D2-792C88C2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20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C1C8-DE9C-8B5C-B0AC-1196C5AC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35EF0-D0ED-7C2E-F225-9B64967C0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Radar-Target Detection Signal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Detection Only Signal Model</a:t>
                </a:r>
              </a:p>
              <a:p>
                <a:pPr lvl="2"/>
                <a:r>
                  <a:rPr lang="en-US" dirty="0"/>
                  <a:t>When the radar transmit only the detection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the radar target channel is modeled as the steering vector: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                                                                           (1) </a:t>
                </a:r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Azimuth angle of the target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Transmit steering vector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Receive steering vector</a:t>
                </a:r>
              </a:p>
              <a:p>
                <a:pPr lvl="4"/>
                <a:r>
                  <a:rPr lang="en-US" dirty="0"/>
                  <a:t>Assumption: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B35EF0-D0ED-7C2E-F225-9B64967C0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2A49C-0CB6-FA37-E70D-90BEA1E6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58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6BF5-EACC-AE72-5C30-2CEFBD27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94F9A-8239-5E47-E101-C93DF3FFC0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Radar-Target Detection Signal Model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Detection Only Signal Model</a:t>
                </a:r>
              </a:p>
              <a:p>
                <a:pPr lvl="2"/>
                <a:r>
                  <a:rPr lang="en-US" dirty="0"/>
                  <a:t>The reflected signal received at the radar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       (2)</a:t>
                </a:r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path-loss coefficient 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Beamformer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in detection only mode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</m:d>
                  </m:oMath>
                </a14:m>
                <a:r>
                  <a:rPr lang="en-US" dirty="0"/>
                  <a:t>: radar receiver noise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Detection Signal Observed by Bob</a:t>
                </a:r>
              </a:p>
              <a:p>
                <a:pPr lvl="3"/>
                <a:r>
                  <a:rPr lang="en-US" dirty="0"/>
                  <a:t>Since the transmitted radar waveform can be omni directional </a:t>
                </a:r>
              </a:p>
              <a:p>
                <a:pPr lvl="3"/>
                <a:r>
                  <a:rPr lang="en-US" dirty="0"/>
                  <a:t>Bob may also receive the detection signal</a:t>
                </a:r>
              </a:p>
              <a:p>
                <a:pPr lvl="3"/>
                <a:r>
                  <a:rPr lang="en-US" dirty="0"/>
                  <a:t>Bob’s receive signal is 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           (3)</a:t>
                </a:r>
              </a:p>
              <a:p>
                <a:pPr lvl="4"/>
                <a:r>
                  <a:rPr lang="en-US" dirty="0"/>
                  <a:t>Where: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Radar-to-Bob channel vector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Radar beamformer for detection-only transmission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Detection signal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Receiver noise at Bob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494F9A-8239-5E47-E101-C93DF3FFC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0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EA314-9C8F-347B-3EF0-DA9FC1D9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393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0801-47C3-D43E-8F10-6B15295C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95A55-E634-C088-6845-86D803D85C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Detection and Communication Signal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Received Signal</a:t>
                </a:r>
              </a:p>
              <a:p>
                <a:pPr lvl="2"/>
                <a:r>
                  <a:rPr lang="en-US" dirty="0"/>
                  <a:t>When radar performs sensing and communication simultaneously: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(4)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beamformer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beamformer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Bob received signal </a:t>
                </a:r>
              </a:p>
              <a:p>
                <a:pPr lvl="2"/>
                <a:r>
                  <a:rPr lang="en-US" dirty="0"/>
                  <a:t>Bob receives both radar and communication components: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(5)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receiver noise at Bob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95A55-E634-C088-6845-86D803D85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7D5FE-A81B-3286-B334-10EC1BE9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220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C56C-C587-9087-AAE7-96D5C1D1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CB4E0-D0AC-9C82-48B6-67F3473E9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Performance Metrics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Detection Performance Metric</a:t>
                </a:r>
              </a:p>
              <a:p>
                <a:pPr lvl="2"/>
                <a:r>
                  <a:rPr lang="en-US" dirty="0"/>
                  <a:t>In detection-only mode, the radar receives the echo signal from the target</a:t>
                </a:r>
              </a:p>
              <a:p>
                <a:pPr lvl="2"/>
                <a:r>
                  <a:rPr lang="en-US" dirty="0"/>
                  <a:t>From the received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 radar estimates the target channel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The target channel contains useful information about the target, such as:</a:t>
                </a:r>
              </a:p>
              <a:p>
                <a:pPr lvl="3"/>
                <a:r>
                  <a:rPr lang="en-US" dirty="0"/>
                  <a:t>Target direction</a:t>
                </a:r>
              </a:p>
              <a:p>
                <a:pPr lvl="3"/>
                <a:r>
                  <a:rPr lang="en-US" dirty="0"/>
                  <a:t>Target reflection characteristics</a:t>
                </a:r>
              </a:p>
              <a:p>
                <a:pPr lvl="3"/>
                <a:r>
                  <a:rPr lang="en-US" dirty="0"/>
                  <a:t>Radar-target propagation information</a:t>
                </a:r>
              </a:p>
              <a:p>
                <a:pPr lvl="2"/>
                <a:r>
                  <a:rPr lang="en-US" dirty="0">
                    <a:solidFill>
                      <a:srgbClr val="0070C0"/>
                    </a:solidFill>
                  </a:rPr>
                  <a:t>More information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better radar sensing performance</a:t>
                </a:r>
              </a:p>
              <a:p>
                <a:pPr lvl="2"/>
                <a:r>
                  <a:rPr lang="en-US" dirty="0"/>
                  <a:t>Therefore, the paper uses mutual information(MI) to measure radar detection performance.</a:t>
                </a:r>
              </a:p>
              <a:p>
                <a:pPr lvl="2"/>
                <a:r>
                  <a:rPr lang="en-US" dirty="0"/>
                  <a:t>The MI measures how much uncertainty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is reduced after observing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CB4E0-D0AC-9C82-48B6-67F3473E9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354DD-1A13-A2BD-EA8C-78FD7CC1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779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2FEA-11F5-EFCA-4358-7C01FCA1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853BC3-35B0-5068-48BD-9C182911B0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Performance Metrices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Detection Mutual Information</a:t>
                </a:r>
              </a:p>
              <a:p>
                <a:pPr lvl="2"/>
                <a:r>
                  <a:rPr lang="en-US" dirty="0"/>
                  <a:t>The radar detection MI is defined as: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It measures how much information the radar can learn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given the transmitted radar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                                                             (6)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MI with Detection and Communication</a:t>
                </a:r>
              </a:p>
              <a:p>
                <a:pPr lvl="2"/>
                <a:r>
                  <a:rPr lang="en-US" dirty="0"/>
                  <a:t>Radar Mutual Information under Joint Transmission</a:t>
                </a:r>
              </a:p>
              <a:p>
                <a:pPr lvl="2"/>
                <a:r>
                  <a:rPr lang="en-US" dirty="0"/>
                  <a:t>When the radar sends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, the radar MI is: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(7)</a:t>
                </a:r>
              </a:p>
              <a:p>
                <a:pPr lvl="2"/>
                <a:r>
                  <a:rPr lang="en-US" dirty="0"/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gain improves MI</a:t>
                </a:r>
              </a:p>
              <a:p>
                <a:pPr lvl="2"/>
                <a:r>
                  <a:rPr lang="en-US" dirty="0"/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 leakage toward target reduces MI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853BC3-35B0-5068-48BD-9C182911B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75CD8-F0F7-6398-3BDC-D6A14382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742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C492-B646-01E7-4B0B-819A89D3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9F92B-DE06-07C2-8325-5248C914BF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Performance Metrices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Radar MI with Detection and Communication</a:t>
                </a:r>
              </a:p>
              <a:p>
                <a:pPr lvl="2"/>
                <a:r>
                  <a:rPr lang="en-US" dirty="0"/>
                  <a:t>Bob Achievable Communication Rate</a:t>
                </a:r>
              </a:p>
              <a:p>
                <a:pPr lvl="2"/>
                <a:r>
                  <a:rPr lang="en-US" dirty="0"/>
                  <a:t>Based on Bob’s received signal in (5), the achievable rate is: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(8)</a:t>
                </a:r>
              </a:p>
              <a:p>
                <a:pPr lvl="3"/>
                <a:r>
                  <a:rPr lang="en-US" dirty="0"/>
                  <a:t>Bob wants strong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and weak interference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9F92B-DE06-07C2-8325-5248C914B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9D23D-018B-85FA-FB2B-52A1D1F4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69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2A44-6566-EF7A-4F08-E6F43AF1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CD0B0D-5989-BC4D-BDF5-47E26B981C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Detection Model at Willie</a:t>
                </a:r>
              </a:p>
              <a:p>
                <a:pPr lvl="1"/>
                <a:r>
                  <a:rPr lang="en-US" dirty="0"/>
                  <a:t>Willie observes the received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 and decides whether the radar is only sensing or also communicating with Bob.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eqArr>
                      </m:e>
                    </m:d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mr>
                    </m:m>
                  </m:oMath>
                </a14:m>
                <a:r>
                  <a:rPr lang="en-US" dirty="0"/>
                  <a:t>                                                                    (9)</a:t>
                </a:r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 an effective received beamforming gains at Willie as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≜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≜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Assume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are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independent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CD0B0D-5989-BC4D-BDF5-47E26B981C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AC871-B1B4-5599-51C5-A6617DD2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638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E44D-7E7C-7F3E-6A80-3101A787A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D8CBD-114B-9642-2317-0E73B6107C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501536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Detection Model at Willie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Likelihood Functions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>
                    <a:solidFill>
                      <a:srgbClr val="0070C0"/>
                    </a:solidFill>
                  </a:rPr>
                  <a:t>The 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is 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Using independence,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Therefore,</a:t>
                </a:r>
              </a:p>
              <a:p>
                <a:pPr lvl="5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For a scalar complex Gaussian random variable,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Its probability density function is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𝜋𝜆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(10a)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D8CBD-114B-9642-2317-0E73B6107C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5015362"/>
              </a:xfrm>
              <a:blipFill>
                <a:blip r:embed="rId2"/>
                <a:stretch>
                  <a:fillRect l="-522" t="-1217" b="-6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67A80-D91B-6043-D331-4FA612C5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10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0602-7704-6E72-6497-6D25E9FF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A2FC70-6E2D-E4AE-E4C9-97509A157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Detection Model at Willie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Likelihood Functions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0070C0"/>
                    </a:solidFill>
                  </a:rPr>
                  <a:t>The variance is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independence,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Therefore,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Hence,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(10b)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A2FC70-6E2D-E4AE-E4C9-97509A157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0861D-A2F6-1968-1A17-6D04DDB7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00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AB402-BB5D-C2D7-4272-A78C2AA1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910E3-8749-695B-ACD2-655AD7F26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KL Divergence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The KL divergence is defined as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fun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Taking logarithm,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We obtain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e>
                    </m:func>
                  </m:oMath>
                </a14:m>
                <a:r>
                  <a:rPr lang="en-US" dirty="0"/>
                  <a:t>                         (11a)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910E3-8749-695B-ACD2-655AD7F26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4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1DCBA-BB95-2D0A-22D9-D50BD6AC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392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CC60-FD36-C5CC-3E1F-81591337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7FF6FD-AE2A-A209-8F38-5142E209E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KL Divergence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Similarly,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Taking logarithm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7FF6FD-AE2A-A209-8F38-5142E209E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5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22D7A-1FB7-9DD9-1CEF-08649855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56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FD45-3842-1007-6723-67F44BBD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1216A-EAB9-CFA4-4BE6-013FA7953F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KL Divergence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Derivation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We obtain,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func>
                  </m:oMath>
                </a14:m>
                <a:endParaRPr lang="en-US" b="1" dirty="0"/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Covert Constraint Interpretation</a:t>
                </a:r>
              </a:p>
              <a:p>
                <a:pPr lvl="1"/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−1 </m:t>
                        </m:r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  (11a)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   (11b)</a:t>
                </a:r>
              </a:p>
              <a:p>
                <a:pPr lvl="2"/>
                <a:r>
                  <a:rPr lang="en-US" dirty="0"/>
                  <a:t>Where,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1216A-EAB9-CFA4-4BE6-013FA7953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9B198-4F17-429E-F81E-F069E9E1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370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A0EA-BEA7-4873-71A6-F69D6975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285D1-721A-5298-9DA5-EB80499ED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Constraint Interpretation</a:t>
                </a:r>
              </a:p>
              <a:p>
                <a:pPr lvl="1"/>
                <a:r>
                  <a:rPr lang="en-US" dirty="0"/>
                  <a:t>The communication beamformer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 affects Willie through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this term is small, then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therefore,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Thus, Willie’s received signal distribution under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become very similar.</a:t>
                </a:r>
              </a:p>
              <a:p>
                <a:pPr lvl="1"/>
                <a:r>
                  <a:rPr lang="en-US" dirty="0"/>
                  <a:t>Small KL divergence means better covertness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285D1-721A-5298-9DA5-EB80499ED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4E46D-E3CF-B55C-51DE-CEED835E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556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3043-3095-2440-9FB4-35A67831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61AAD-A516-E0EA-8579-25C56A64AF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153781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Willie’s Detection Decisions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Willie makes a binary decision </a:t>
                </a:r>
              </a:p>
              <a:p>
                <a:pPr lvl="2"/>
                <a:r>
                  <a:rPr lang="en-US" dirty="0"/>
                  <a:t>Radar only</a:t>
                </a:r>
              </a:p>
              <a:p>
                <a:pPr lvl="2"/>
                <a:r>
                  <a:rPr lang="en-US" dirty="0"/>
                  <a:t>Radar plus communication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 covert detection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Willie decides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meaning communication exists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Willie decides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meaning radar-only transmission</a:t>
                </a:r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false alarm, because Willie says communication exits when it does not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missed detection, because Willie says no communication when communication exits</a:t>
                </a:r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                                                      (12)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Applyin the Neyman-Pearson criterion</a:t>
                </a:r>
              </a:p>
              <a:p>
                <a:pPr lvl="2"/>
                <a:r>
                  <a:rPr lang="en-US" dirty="0"/>
                  <a:t>Willie has two possible distribution: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under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under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To make the best decision, Willie compares the likelihood ratio: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61AAD-A516-E0EA-8579-25C56A64A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153781"/>
              </a:xfrm>
              <a:blipFill>
                <a:blip r:embed="rId2"/>
                <a:stretch>
                  <a:fillRect l="-522" t="-1183" b="-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16131-CAD7-B780-5646-808F2341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182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5235-5EDE-DFED-9030-1DFB0CED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296BE-F900-010C-DF11-4FD2C9B726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Willie’s Detection Decisions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Applyin the Neyman-Pearson criterion</a:t>
                </a:r>
              </a:p>
              <a:p>
                <a:pPr lvl="2"/>
                <a:r>
                  <a:rPr lang="en-US" dirty="0"/>
                  <a:t>If this ratio is large,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 is more likely generated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this ratio is small,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 is more likely generated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Since the paper assumes equal prior probabilities: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likelihood ratio threshold becomes 1. Therefore: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</m:t>
                    </m:r>
                  </m:oMath>
                </a14:m>
                <a:r>
                  <a:rPr lang="en-US" dirty="0"/>
                  <a:t>                                                                                     (13)</a:t>
                </a:r>
              </a:p>
              <a:p>
                <a:pPr lvl="3"/>
                <a:r>
                  <a:rPr lang="en-US" dirty="0"/>
                  <a:t>If 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&gt;1 ⇒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If 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&lt;1 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296BE-F900-010C-DF11-4FD2C9B72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C297-98DA-8367-10E0-987356BC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38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C32D-4BEA-1E16-50EE-233686C50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2D5023-8366-D3C7-8453-F947DA9662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Willie’s Detection Decisions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Willie’s Optimal Threshold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From Eq.(10):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Now compute the likelihood ratio: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decision rule is: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2D5023-8366-D3C7-8453-F947DA9662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725B8-A058-ACDF-185D-BA2E4280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323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2022-E4D7-EA84-BD36-AB8CEE54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71D23-6ABB-13AA-66A1-8CE920D675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Willie’s Detection Decisions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Willie’s Optimal Threshold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func>
                  </m:oMath>
                </a14:m>
                <a:r>
                  <a:rPr lang="en-US" dirty="0"/>
                  <a:t>                                                      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[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multiply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by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lang="en-US" dirty="0"/>
                  <a:t>]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Now simplify:</a:t>
                </a:r>
              </a:p>
              <a:p>
                <a:pPr lvl="3"/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So, the optimal detection threshold is :</a:t>
                </a:r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US" dirty="0"/>
                  <a:t>                                                        (15)</a:t>
                </a:r>
              </a:p>
              <a:p>
                <a:pPr lvl="3"/>
                <a:r>
                  <a:rPr lang="en-US" dirty="0"/>
                  <a:t>Thus, equation (14) becomes:</a:t>
                </a:r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≷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71D23-6ABB-13AA-66A1-8CE920D675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9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987D4-495A-19D5-01AA-3BF42DC0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608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41C3-92DD-050E-5058-63717671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3AC06-C467-F9C9-F548-78FEF54BC1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Willie’s Detection Decisions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CDF of Willie’s Received Power</a:t>
                </a:r>
              </a:p>
              <a:p>
                <a:pPr lvl="2"/>
                <a:r>
                  <a:rPr lang="en-US" dirty="0"/>
                  <a:t>From (10),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For a complex Gaussian random variable: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 magnitude square variable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Follows an exponential variable with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 the CDF is 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=1 −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)=1 −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⁡ (−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 dirty="0"/>
                  <a:t>                                                              (16a)</a:t>
                </a:r>
              </a:p>
              <a:p>
                <a:pPr lvl="2"/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=1 −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 (−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3AC06-C467-F9C9-F548-78FEF54BC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669F7-E57E-1302-D84A-409C217C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741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77F0A-F3C6-6088-09C0-6D83A0CA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DED22-9EBB-E212-D8D5-A10FC02BA0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Willie’s Detection Decisions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CDF of Willie’s Received Power</a:t>
                </a:r>
              </a:p>
              <a:p>
                <a:pPr lvl="2"/>
                <a:r>
                  <a:rPr lang="en-US" dirty="0"/>
                  <a:t>In this paper, the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(16a)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=1 −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(16b)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False Alarm Probability</a:t>
                </a:r>
              </a:p>
              <a:p>
                <a:pPr lvl="2"/>
                <a:r>
                  <a:rPr lang="en-US" dirty="0"/>
                  <a:t>False alarm means willie decides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the exponential tail probability: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We get: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func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𝑎𝑙𝑛𝑏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CDED22-9EBB-E212-D8D5-A10FC02BA0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5208309"/>
              </a:xfrm>
              <a:blipFill>
                <a:blip r:embed="rId2"/>
                <a:stretch>
                  <a:fillRect l="-522" t="-1171" b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61A10-C52E-9AE6-9EA8-0BEE8A79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518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2548-EDA5-8237-40F3-F06F2C3B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D05F77-D308-95EE-4B3F-576F0E3A6F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Willie’s Detection Decisions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Miss Detection Probability</a:t>
                </a:r>
              </a:p>
              <a:p>
                <a:pPr lvl="2"/>
                <a:r>
                  <a:rPr lang="en-US" dirty="0"/>
                  <a:t>Missed detection means willie decides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the CDF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=1 −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=1 −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func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beamforming design should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small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Willie cannot reliably distinguish the two hypotheses.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D05F77-D308-95EE-4B3F-576F0E3A6F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017CB-3FD5-AF5E-0F3A-50395175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629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1828-C350-D746-8997-EC214AE2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6D989-4927-6137-DE76-0AAAB43131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Definition of Covert Constraint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Covert requirement</a:t>
                </a:r>
              </a:p>
              <a:p>
                <a:pPr lvl="2"/>
                <a:r>
                  <a:rPr lang="en-US" dirty="0"/>
                  <a:t>Covert communication must make Willie’s best detector unreliable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≥1 −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Minimum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detection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Willie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can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achive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Small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means stricter covertness.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Detection Error and Total Variation</a:t>
                </a:r>
              </a:p>
              <a:p>
                <a:pPr lvl="2"/>
                <a:r>
                  <a:rPr lang="en-US" dirty="0"/>
                  <a:t>Willie’s optimal detection error is linked to total variation distance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                                                                              (17)</a:t>
                </a:r>
              </a:p>
              <a:p>
                <a:pPr lvl="2"/>
                <a:r>
                  <a:rPr lang="en-US" dirty="0"/>
                  <a:t>The covert requirement is: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≥1 −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Substitute (17):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≥1 −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Therefore,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6D989-4927-6137-DE76-0AAAB43131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0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AA194-5D7F-8931-370F-B7484D7E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970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FFFE-F551-E865-F7D8-7C156CC7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009FEF-938F-74FA-485C-A9658AE47E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Definition of Covert Constraint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 Pinsker’s Inequality is Needed</a:t>
                </a:r>
              </a:p>
              <a:p>
                <a:pPr lvl="2"/>
                <a:r>
                  <a:rPr lang="en-US" dirty="0"/>
                  <a:t>Total variation distance is difficult to optimize directly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absolute-value integral is not convenient for beamforming optimization</a:t>
                </a:r>
              </a:p>
              <a:p>
                <a:pPr lvl="2"/>
                <a:r>
                  <a:rPr lang="en-US" dirty="0"/>
                  <a:t>So, the paper uses Pinsker’s inequality: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r>
                  <a:rPr lang="en-US" dirty="0"/>
                  <a:t>                                                             (18a)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r>
                  <a:rPr lang="en-US" dirty="0"/>
                  <a:t>                                                               (18b)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009FEF-938F-74FA-485C-A9658AE47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25255-909D-A3E9-2D5E-1D2F8F16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374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0E27-3F5E-1AE9-A207-2D48FA13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DC867B-A938-8EA7-69ED-3D86349E83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Definition of Covert Constraint</a:t>
                </a:r>
                <a:endParaRPr lang="en-US" dirty="0"/>
              </a:p>
              <a:p>
                <a:pPr lvl="1"/>
                <a:r>
                  <a:rPr lang="en-US" dirty="0"/>
                  <a:t>From Pinsker to KL-Based Covert Constraint</a:t>
                </a:r>
              </a:p>
              <a:p>
                <a:pPr lvl="2"/>
                <a:r>
                  <a:rPr lang="en-US" dirty="0"/>
                  <a:t>Small KL divergence guarantees small total variation distance</a:t>
                </a:r>
              </a:p>
              <a:p>
                <a:pPr lvl="3"/>
                <a:r>
                  <a:rPr lang="en-US" dirty="0"/>
                  <a:t>To guarantee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It is sufficient to impose:</a:t>
                </a:r>
              </a:p>
              <a:p>
                <a:pPr lvl="4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rad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                                                                                                (19a)</a:t>
                </a:r>
              </a:p>
              <a:p>
                <a:pPr lvl="3"/>
                <a:r>
                  <a:rPr lang="en-US" dirty="0"/>
                  <a:t>Similarly,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                                                                                                 (19b)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DC867B-A938-8EA7-69ED-3D86349E83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95680-4044-D39E-EAC8-C63EC52A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761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F14A-3EC4-8ED3-96B9-EBB667A6F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00FEBF-446D-514C-0EBA-D16F3FDB7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Interpretation</a:t>
                </a:r>
              </a:p>
              <a:p>
                <a:pPr lvl="1"/>
                <a:r>
                  <a:rPr lang="en-US" dirty="0"/>
                  <a:t>The covert constraint is finally expressed using KL divergence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From Eq.(11), these KL divergence depend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Depend on:</a:t>
                </a:r>
              </a:p>
              <a:p>
                <a:pPr lvl="3"/>
                <a:r>
                  <a:rPr lang="en-US" dirty="0"/>
                  <a:t>Beamforming vectors</a:t>
                </a:r>
              </a:p>
              <a:p>
                <a:pPr lvl="3"/>
                <a:r>
                  <a:rPr lang="en-US" dirty="0"/>
                  <a:t>Willie’s channel</a:t>
                </a:r>
              </a:p>
              <a:p>
                <a:pPr lvl="3"/>
                <a:r>
                  <a:rPr lang="en-US" dirty="0"/>
                  <a:t>Receiver noise</a:t>
                </a:r>
              </a:p>
              <a:p>
                <a:pPr lvl="2"/>
                <a:r>
                  <a:rPr lang="en-US" dirty="0"/>
                  <a:t>So, the covert beamforming design becomes mathematically tractable.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00FEBF-446D-514C-0EBA-D16F3FDB7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9FD8-5E78-40A2-159F-433281AF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346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DABD-7612-1255-BEB7-5830059F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2C95C-6EB7-3239-1AC8-A78212AD79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Problem Formulation Overview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Joint transmission creates two objectives:</a:t>
                </a:r>
              </a:p>
              <a:p>
                <a:pPr lvl="2"/>
                <a:r>
                  <a:rPr lang="en-US" dirty="0"/>
                  <a:t>Radar sensing performance</a:t>
                </a:r>
              </a:p>
              <a:p>
                <a:pPr lvl="2"/>
                <a:r>
                  <a:rPr lang="en-US" dirty="0"/>
                  <a:t>Bob’s communication rate</a:t>
                </a:r>
              </a:p>
              <a:p>
                <a:pPr lvl="1"/>
                <a:r>
                  <a:rPr lang="en-US" dirty="0"/>
                  <a:t>When radar performs detection and communication simultaneously, the goal is to improve: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Therefore, the paper formulates two optimization problems:</a:t>
                </a:r>
              </a:p>
              <a:p>
                <a:pPr lvl="2"/>
                <a:r>
                  <a:rPr lang="en-US" dirty="0"/>
                  <a:t>Radar MI maximization</a:t>
                </a:r>
              </a:p>
              <a:p>
                <a:pPr lvl="2"/>
                <a:r>
                  <a:rPr lang="en-US" dirty="0"/>
                  <a:t>Communication rate maximization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2C95C-6EB7-3239-1AC8-A78212AD79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4B9AF-726A-54DC-55B2-7EFFE86D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354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925B7-2385-88CF-0447-C0B9A8FA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35EA9-2A07-F4FB-524E-6277EC2DB0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MI Maximization Problem</a:t>
                </a:r>
              </a:p>
              <a:p>
                <a:pPr lvl="1"/>
                <a:r>
                  <a:rPr lang="en-US" dirty="0"/>
                  <a:t>Maximize radar sensing information while guaranteeing Bob’s rate and covertness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en-US" i="0" dirty="0"/>
                          <m:t> </m:t>
                        </m:r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      (20a)</a:t>
                </a:r>
              </a:p>
              <a:p>
                <a:pPr lvl="2"/>
                <a:r>
                  <a:rPr lang="en-US" dirty="0"/>
                  <a:t>Subject to: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                                                                                           (20b)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 (20c)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minimum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communication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rate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requirement</m:t>
                    </m:r>
                  </m:oMath>
                </a14:m>
                <a:endParaRPr lang="en-US" b="1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maximum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transmit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power</m:t>
                    </m:r>
                  </m:oMath>
                </a14:m>
                <a:endParaRPr lang="en-US" b="1" dirty="0"/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Based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covert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constraint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3"/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235EA9-2A07-F4FB-524E-6277EC2DB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1CBA2-84A0-9E89-A83A-34CA896BD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548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D49D-6EE7-84D4-214C-0439B361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22115-8248-3571-6C9E-E0B3C7D40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Rate Maximization Problem</a:t>
                </a:r>
              </a:p>
              <a:p>
                <a:pPr lvl="1"/>
                <a:r>
                  <a:rPr lang="en-US" dirty="0"/>
                  <a:t>Maximize Bob’s covert rate while guaranteeing radar sensing performance and covert communication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(21a)</a:t>
                </a:r>
              </a:p>
              <a:p>
                <a:pPr lvl="1"/>
                <a:r>
                  <a:rPr lang="en-US" dirty="0"/>
                  <a:t>Subject to: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 (21b)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   (21c)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(19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minimum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requirement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maximum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transmit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power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covert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constraint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822115-8248-3571-6C9E-E0B3C7D40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370BA-1388-87FB-967B-25FC7456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3210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12C9-C91D-0AE5-FB8E-FFEC5ADA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4186EF-C2C5-E99E-B79D-B12567C90E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Interpretation and Tradeoff</a:t>
                </a:r>
              </a:p>
              <a:p>
                <a:pPr lvl="1"/>
                <a:r>
                  <a:rPr lang="en-US" dirty="0"/>
                  <a:t>The beamformer must split power between sensing and communication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Supports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detection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signal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Supports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communication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signal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Increasing radar MI usually requires more power / gain for sensing</a:t>
                </a:r>
              </a:p>
              <a:p>
                <a:pPr lvl="1"/>
                <a:r>
                  <a:rPr lang="en-US" dirty="0"/>
                  <a:t>Increasing Bob’s rate usually requires more power/gain for communication</a:t>
                </a:r>
              </a:p>
              <a:p>
                <a:pPr lvl="1"/>
                <a:r>
                  <a:rPr lang="en-US" dirty="0"/>
                  <a:t>But both must satisfy: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a tradeoff between radar MI and covert communication rate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4186EF-C2C5-E99E-B79D-B12567C90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A974F-DCD0-4898-E963-282B21B3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3171-76CD-C51D-9290-389015AA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BE3E9-A10D-5D26-B436-C69C3F0EE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Perfect WCSI</a:t>
                </a:r>
              </a:p>
              <a:p>
                <a:pPr lvl="1"/>
                <a:r>
                  <a:rPr lang="en-US" dirty="0"/>
                  <a:t>The radar knows Willie’s channel exactly: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the radar can design the communication beamformer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 in a way that Wille receives no communication signal.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Covert constraint becomes zero</a:t>
                </a:r>
              </a:p>
              <a:p>
                <a:pPr lvl="2"/>
                <a:r>
                  <a:rPr lang="en-US" dirty="0"/>
                  <a:t>Covert constraint was: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But with perfect Willie CSI, they want perfect covertness, so they set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KL divergence becomes zero only when: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Meaning Willie’s received distribution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must be the same.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BE3E9-A10D-5D26-B436-C69C3F0EE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41AF0-1974-735F-1936-A9FD531B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411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7A1A-293C-1145-27E9-1A446A2E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2A57C-618D-1E81-319C-2BFD4DE970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Perfect WCSI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Covert constraint becomes zero</a:t>
                </a:r>
              </a:p>
              <a:p>
                <a:pPr lvl="2"/>
                <a:r>
                  <a:rPr lang="en-US" dirty="0"/>
                  <a:t>We know,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For perfect covertness: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the communication beamformer is orthogonal to Willie’s channel.</a:t>
                </a:r>
              </a:p>
              <a:p>
                <a:pPr lvl="2"/>
                <a:r>
                  <a:rPr lang="en-US" dirty="0"/>
                  <a:t>The communication signal is placed in Willie’s null space.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2A57C-618D-1E81-319C-2BFD4DE970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78544-19E7-0120-F1D9-485056B3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650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3C76-D5DA-FEDE-46C8-0355A898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65EDF-DF5E-0D79-172B-5E0B520F6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Perfect WCSI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 maximization problem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1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𝑊</m:t>
                                                </m:r>
                                              </m:sup>
                                            </m:sSubSup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𝐰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𝑅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1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sup>
                                            </m:sSubSup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𝐰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𝑅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1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𝐡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dirty="0"/>
                  <a:t>                                                           (23a) </a:t>
                </a:r>
              </a:p>
              <a:p>
                <a:pPr lvl="2"/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(23b)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    (23c)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      (23d)</a:t>
                </a:r>
              </a:p>
              <a:p>
                <a:pPr lvl="1"/>
                <a:r>
                  <a:rPr lang="en-US" dirty="0"/>
                  <a:t>Problem in simple words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radar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sensing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beamformer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covert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communication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beamformer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Such that:</a:t>
                </a:r>
              </a:p>
              <a:p>
                <a:pPr lvl="3"/>
                <a:r>
                  <a:rPr lang="en-US" dirty="0"/>
                  <a:t>Radar sensing MI is maximized</a:t>
                </a:r>
              </a:p>
              <a:p>
                <a:pPr lvl="3"/>
                <a:r>
                  <a:rPr lang="en-US" dirty="0"/>
                  <a:t>Bob receives enough communication quality</a:t>
                </a:r>
              </a:p>
              <a:p>
                <a:pPr lvl="3"/>
                <a:r>
                  <a:rPr lang="en-US" dirty="0"/>
                  <a:t>Willie receives zero communication signal</a:t>
                </a:r>
              </a:p>
              <a:p>
                <a:pPr lvl="3"/>
                <a:r>
                  <a:rPr lang="en-US" dirty="0"/>
                  <a:t>Total transmit power is limited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965EDF-DF5E-0D79-172B-5E0B520F6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518E3-8F59-782C-28FA-9EE22E2E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8849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2B92-570D-28D9-9B38-04AA2E4F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E8F33A-D0FF-F0E5-4509-E2C40B02C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0"/>
                <a:ext cx="10515600" cy="4889527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Beamformer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Convert the non-convex MI maximization problem into a tractable form</a:t>
                </a:r>
              </a:p>
              <a:p>
                <a:pPr lvl="2"/>
                <a:r>
                  <a:rPr lang="en-US" dirty="0"/>
                  <a:t>Introduce auxiliary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(24a)</a:t>
                </a:r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(24b)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Constraints in Problem (24)</a:t>
                </a:r>
              </a:p>
              <a:p>
                <a:pPr lvl="2"/>
                <a:r>
                  <a:rPr lang="en-US" dirty="0"/>
                  <a:t>The beamformers must satisfy covertness, Bob’s rate, and power limit</a:t>
                </a:r>
              </a:p>
              <a:p>
                <a:pPr lvl="2"/>
                <a:r>
                  <a:rPr lang="en-US" dirty="0"/>
                  <a:t>Perfect covertness: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(24c)</a:t>
                </a:r>
              </a:p>
              <a:p>
                <a:pPr lvl="2"/>
                <a:r>
                  <a:rPr lang="en-US" dirty="0"/>
                  <a:t>Bob’s SINR requirement: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                                                                              (24d)</a:t>
                </a:r>
              </a:p>
              <a:p>
                <a:pPr lvl="2"/>
                <a:r>
                  <a:rPr lang="en-US" dirty="0"/>
                  <a:t>Total power constraint: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(24e)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E8F33A-D0FF-F0E5-4509-E2C40B02C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0"/>
                <a:ext cx="10515600" cy="4889527"/>
              </a:xfrm>
              <a:blipFill>
                <a:blip r:embed="rId2"/>
                <a:stretch>
                  <a:fillRect l="-522" t="-1247" b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1193-3443-6BB0-8BAA-98799D96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274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886C-A68D-BB1D-8BDA-1DCB671D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7653D-C547-9690-5693-1A779CBDE7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Beamformer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SDR is Needed </a:t>
                </a:r>
              </a:p>
              <a:p>
                <a:pPr lvl="2"/>
                <a:r>
                  <a:rPr lang="en-US" dirty="0"/>
                  <a:t>Problem (24) is non-convex because of quadratic beamforming terms.</a:t>
                </a:r>
              </a:p>
              <a:p>
                <a:pPr lvl="2"/>
                <a:r>
                  <a:rPr lang="en-US" dirty="0"/>
                  <a:t>Typical term: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</a:rPr>
                      <m:t>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Using trace form: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Define lifted matrix: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𝐰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𝐡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7653D-C547-9690-5693-1A779CBDE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B7010-0C4F-EE2F-40A3-8996B9BD4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29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9A15-435E-D71E-88A8-02328D26E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3D37F-49FB-A437-1714-B1684455A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Beamformer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Relaxed SDP Problem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After SDR, quadratic terms become linear trace terms</a:t>
                </a:r>
                <a:r>
                  <a:rPr lang="en-US" dirty="0">
                    <a:solidFill>
                      <a:srgbClr val="7030A0"/>
                    </a:solidFill>
                  </a:rPr>
                  <a:t>,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func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3"/>
                <a:r>
                  <a:rPr lang="en-US" dirty="0"/>
                  <a:t>Subject to</a:t>
                </a:r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                        </a:t>
                </a:r>
                <a:r>
                  <a:rPr lang="en-US" dirty="0"/>
                  <a:t>(26a)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                                                        (26b)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Remaining SDP constraints</a:t>
                </a:r>
              </a:p>
              <a:p>
                <a:pPr lvl="2"/>
                <a:r>
                  <a:rPr lang="en-US" dirty="0"/>
                  <a:t>Covertness, power, and PSD constraints become convex.</a:t>
                </a:r>
              </a:p>
              <a:p>
                <a:pPr lvl="2"/>
                <a:r>
                  <a:rPr lang="en-US" dirty="0"/>
                  <a:t>Perfect covertness: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                                                                                                (26c)</a:t>
                </a:r>
              </a:p>
              <a:p>
                <a:pPr lvl="2"/>
                <a:r>
                  <a:rPr lang="en-US" dirty="0"/>
                  <a:t>Total power: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    (26d)</a:t>
                </a:r>
              </a:p>
              <a:p>
                <a:pPr lvl="2"/>
                <a:r>
                  <a:rPr lang="en-US" dirty="0"/>
                  <a:t>Positive semidefinite constraints: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≽0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  (26e)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3D37F-49FB-A437-1714-B1684455A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A3740-8298-151D-BB66-B296749E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108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9AF1-7150-8AD6-EFF7-2DC16E27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E065C-CC19-3F43-D78D-E3B1E989B1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Beamformer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Bisection Search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For a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problem (26) becomes a convex SDP.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appears inside the constraint, the problem is quasi-convex</a:t>
                </a:r>
              </a:p>
              <a:p>
                <a:pPr lvl="2"/>
                <a:r>
                  <a:rPr lang="en-US" dirty="0"/>
                  <a:t>Procedure:</a:t>
                </a:r>
              </a:p>
              <a:p>
                <a:pPr lvl="3"/>
                <a:r>
                  <a:rPr lang="en-US" dirty="0"/>
                  <a:t>Set Interval:</a:t>
                </a:r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Choose midpoint: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Check feasibility of problem (26).</a:t>
                </a:r>
              </a:p>
              <a:p>
                <a:pPr lvl="3"/>
                <a:r>
                  <a:rPr lang="en-US" dirty="0"/>
                  <a:t>If feasible: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If infeasible: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Repeat until: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E065C-CC19-3F43-D78D-E3B1E989B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353D1-C175-4380-6F5C-BF90A16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605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9B90-88E8-CD47-CCE4-81ED980C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88E2C-BE36-7B2D-9813-D231FA5D4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Covert Beamformer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Recovering Beamformers Vectors</a:t>
                </a:r>
              </a:p>
              <a:p>
                <a:pPr lvl="2"/>
                <a:r>
                  <a:rPr lang="en-US" dirty="0"/>
                  <a:t>If 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/>
                  <a:t>Then recover beamformers by decomposition: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/>
                  <a:t>If rank is larger than one, use Gaussian randomization to obtain high-quality rank-one beamformers.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Final interpretation</a:t>
                </a:r>
              </a:p>
              <a:p>
                <a:pPr lvl="2"/>
                <a:r>
                  <a:rPr lang="en-US" dirty="0"/>
                  <a:t>SDR + bisection make the covert beamforming problem solvable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</a:rPr>
                  <a:t>Th</a:t>
                </a:r>
                <a:r>
                  <a:rPr lang="en-US" dirty="0"/>
                  <a:t>e method does three things:</a:t>
                </a:r>
              </a:p>
              <a:p>
                <a:pPr lvl="3"/>
                <a:r>
                  <a:rPr lang="en-US" dirty="0">
                    <a:solidFill>
                      <a:schemeClr val="tx1"/>
                    </a:solidFill>
                  </a:rPr>
                  <a:t>M</a:t>
                </a:r>
                <a:r>
                  <a:rPr lang="en-US" dirty="0"/>
                  <a:t>aximizes radar MI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3"/>
                <a:r>
                  <a:rPr lang="en-US" dirty="0"/>
                  <a:t>Guarantee Bobs communication requirement</a:t>
                </a:r>
              </a:p>
              <a:p>
                <a:pPr lvl="3"/>
                <a:r>
                  <a:rPr lang="en-US" dirty="0">
                    <a:solidFill>
                      <a:schemeClr val="tx1"/>
                    </a:solidFill>
                  </a:rPr>
                  <a:t>Forces Willie’s communication signal power to zero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en-US" dirty="0"/>
                  <a:t>The covert beamformer hides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from Willie’s while maintaining sensing and communication performance.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88E2C-BE36-7B2D-9813-D231FA5D4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1DC4C-75F4-DE86-A63B-3A468665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7465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06E7-C6E1-05BB-E648-FFEE366D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A0044C-40BB-A947-F599-EFE6FE530D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Main idea</a:t>
                </a:r>
              </a:p>
              <a:p>
                <a:pPr lvl="2"/>
                <a:r>
                  <a:rPr lang="en-US" dirty="0"/>
                  <a:t>Remove harmful interference by forcing selected signal components to zero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is hidden from Willie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 does not interfere with radar sensing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does not interfere with Bob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A0044C-40BB-A947-F599-EFE6FE530D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ACE2E-15F0-573E-ABA5-2ADBDE94A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9551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6E6E-A2D0-7B9D-437F-8400927E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8C892-B40C-0745-A0B9-4248B6B9C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Zero-Forcing Optimization Problem</a:t>
                </a:r>
              </a:p>
              <a:p>
                <a:pPr lvl="2"/>
                <a:r>
                  <a:rPr lang="en-US" dirty="0"/>
                  <a:t>Maximize radar sensing gain under ZF, Bob rate, and power constraints.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 (27a)</a:t>
                </a:r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 (27b)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 (27c) 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  (27d)</a:t>
                </a:r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                                                                                          (27e)</a:t>
                </a:r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(27f)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8C892-B40C-0745-A0B9-4248B6B9C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34520-D39F-434A-B662-F2E11B3E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5981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C988-CE67-73A8-045B-C2751418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B8726-1F54-F98E-F207-1E2CA35E5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Optimize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First?</a:t>
                </a:r>
              </a:p>
              <a:p>
                <a:pPr lvl="2"/>
                <a:r>
                  <a:rPr lang="en-US" dirty="0"/>
                  <a:t>The objective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not directly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 should use the minimum possible power while satisfying Bob’s communication and ZF constraints.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         (28)</a:t>
                </a:r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B8726-1F54-F98E-F207-1E2CA35E5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6B955-75D0-4740-5EA0-D3BBCBCD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5351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5C35-EB43-7D39-1188-FA1AD453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AEB533-2083-7391-1265-20ACC26457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SDR Reformulation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Convert quadratic beamforming terms into matrix trace terms</a:t>
                </a:r>
              </a:p>
              <a:p>
                <a:pPr lvl="2"/>
                <a:r>
                  <a:rPr lang="en-US" dirty="0"/>
                  <a:t>Define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Ignoring the rank-one constraint, problem (28) becomes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(29a)</a:t>
                </a:r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(29b)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(29c)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                                                               (29d)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≽0</m:t>
                    </m:r>
                  </m:oMath>
                </a14:m>
                <a:r>
                  <a:rPr lang="en-US" dirty="0"/>
                  <a:t>                                                                                    (29e)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AEB533-2083-7391-1265-20ACC26457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6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46D2D-E5E7-A6A9-5B8B-082D6EB1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9744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16C7-AA9A-894F-1664-8A9BFE2B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ECAE6-9462-BD5A-6C03-AD17F018D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Recovering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SDR gives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p>
                    </m:sSubSup>
                  </m:oMath>
                </a14:m>
                <a:r>
                  <a:rPr lang="en-US" dirty="0"/>
                  <a:t>, but the actual beamformer must be a vector</a:t>
                </a:r>
              </a:p>
              <a:p>
                <a:pPr lvl="2"/>
                <a:r>
                  <a:rPr lang="en-US" dirty="0"/>
                  <a:t>If 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 recover 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Using SVD</a:t>
                </a:r>
              </a:p>
              <a:p>
                <a:pPr lvl="3"/>
                <a:r>
                  <a:rPr lang="en-US" dirty="0"/>
                  <a:t>If 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Then use Gaussian randomization to obtain a high-quality rank-one beamformer.</a:t>
                </a:r>
              </a:p>
              <a:p>
                <a:pPr lvl="3"/>
                <a:r>
                  <a:rPr lang="en-US" dirty="0"/>
                  <a:t>Let the required communication power be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𝑜𝑝𝑡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ECAE6-9462-BD5A-6C03-AD17F018D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FAC22-F54B-59A2-5BCF-429BF0C1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1042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74BF-9D70-ABEC-5104-8813A17E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F290B-D46B-29C2-46CD-A962EA8E3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Optimizing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After designing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, the remaining power is used for radar sensing</a:t>
                </a:r>
              </a:p>
              <a:p>
                <a:pPr lvl="2"/>
                <a:r>
                  <a:rPr lang="en-US" dirty="0"/>
                  <a:t>Problem (27) becomes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  (30a)</a:t>
                </a:r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(30b)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n-US" dirty="0"/>
                  <a:t>                                                                                        (30c)</a:t>
                </a:r>
              </a:p>
              <a:p>
                <a:pPr lvl="3"/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maximizes radar sensing gain while avoiding interference at Bob.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3F290B-D46B-29C2-46CD-A962EA8E3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4DC99-4E38-7B9E-19B2-2D74F7E9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5860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8AC2-C280-D0ED-7F50-8F61DB46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CE433-8F72-4E0D-4749-8844A3325C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4914694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SOCP Reformulation </a:t>
                </a:r>
              </a:p>
              <a:p>
                <a:pPr lvl="2"/>
                <a:r>
                  <a:rPr lang="en-US" dirty="0"/>
                  <a:t>Fix the phase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to make the objective linear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is complex, impose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Im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            (31b)</a:t>
                </a:r>
              </a:p>
              <a:p>
                <a:pPr lvl="2"/>
                <a:r>
                  <a:rPr lang="en-US" dirty="0"/>
                  <a:t>Then maximizing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Is equivalent to maximizing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Thus,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(31a)</a:t>
                </a:r>
              </a:p>
              <a:p>
                <a:pPr lvl="3"/>
                <a:r>
                  <a:rPr lang="en-US" dirty="0"/>
                  <a:t>Subject to</a:t>
                </a:r>
              </a:p>
              <a:p>
                <a:pPr lvl="4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Im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      (31b)</a:t>
                </a:r>
              </a:p>
              <a:p>
                <a:pPr lvl="4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 (31c)</a:t>
                </a:r>
              </a:p>
              <a:p>
                <a:pPr lvl="4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n-US" dirty="0"/>
                  <a:t>                                                                                              (31d)</a:t>
                </a:r>
              </a:p>
              <a:p>
                <a:pPr lvl="2"/>
                <a:r>
                  <a:rPr lang="en-US" dirty="0"/>
                  <a:t>This is a second-order cone program (SOCP) and can be solved by CVX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CE433-8F72-4E0D-4749-8844A3325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4914694"/>
              </a:xfrm>
              <a:blipFill>
                <a:blip r:embed="rId2"/>
                <a:stretch>
                  <a:fillRect l="-522" t="-1241" b="-2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30D13-66B5-764E-04F8-479DCBF1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8278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16F7-AAFE-4A2C-96F3-95459C8B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755107-1383-F542-0B80-9A0E04873F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Zero-Forcing Beamformers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Final interpretation</a:t>
                </a:r>
              </a:p>
              <a:p>
                <a:pPr lvl="2"/>
                <a:r>
                  <a:rPr lang="en-US" dirty="0"/>
                  <a:t>Zero-Forcing separates radar sensing, Bob communication, and Willie hiding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Is designed to:</a:t>
                </a:r>
              </a:p>
              <a:p>
                <a:pPr lvl="5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Serve Bob</a:t>
                </a:r>
              </a:p>
              <a:p>
                <a:pPr lvl="5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Avoid Willie</a:t>
                </a:r>
              </a:p>
              <a:p>
                <a:pPr lvl="5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Avoid sensing interference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endParaRPr lang="en-US" dirty="0"/>
              </a:p>
              <a:p>
                <a:pPr lvl="4"/>
                <a:r>
                  <a:rPr lang="en-US" dirty="0"/>
                  <a:t>Is designed to:</a:t>
                </a:r>
              </a:p>
              <a:p>
                <a:pPr lvl="5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Maximize radar sensing </a:t>
                </a:r>
              </a:p>
              <a:p>
                <a:pPr lvl="5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Avoid Bob interference</a:t>
                </a:r>
              </a:p>
              <a:p>
                <a:pPr lvl="2"/>
                <a:r>
                  <a:rPr lang="en-US" dirty="0"/>
                  <a:t>ZF beamforming uses channel orthogonality to achieve covert communication with low computational complexity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755107-1383-F542-0B80-9A0E04873F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1286D-EB7C-BB7D-7D3B-00CC8F5B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5540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73BE-4901-0806-1B31-A025DFB7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66242B-30B0-5A15-24BC-762CC95252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Rate Maximization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Rate Maximization under Perfect WCSI</a:t>
                </a:r>
              </a:p>
              <a:p>
                <a:pPr lvl="2"/>
                <a:r>
                  <a:rPr lang="en-US" dirty="0"/>
                  <a:t>Maximize Bob’s covert communication rate while ensuring perfect covertness, radar MI, and power limit.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           (32a) </a:t>
                </a:r>
              </a:p>
              <a:p>
                <a:pPr lvl="2"/>
                <a:r>
                  <a:rPr lang="en-US" dirty="0"/>
                  <a:t>Subject to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                (32b)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                                                                                             (32c)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US" dirty="0"/>
                  <a:t>                                                                              (32d)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66242B-30B0-5A15-24BC-762CC95252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D7F0A-6B32-DC65-51EE-DD3ACD46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9940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D016-7EBB-0079-429F-A3295284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2291E-CAFD-BB44-AA36-E1D6DD1866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Rate Maximization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Equivalent Rate Maximization Form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is increasing, maximizing Bob’s rate is equivalent to maximizing Bob’s SINR.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 the objective becomes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func>
                  </m:oMath>
                </a14:m>
                <a:r>
                  <a:rPr lang="en-US" dirty="0"/>
                  <a:t>                                                                                 (33a)</a:t>
                </a:r>
              </a:p>
              <a:p>
                <a:pPr lvl="2"/>
                <a:r>
                  <a:rPr lang="en-US" dirty="0"/>
                  <a:t>Perfect Covertness Constraint</a:t>
                </a:r>
              </a:p>
              <a:p>
                <a:pPr lvl="3"/>
                <a:r>
                  <a:rPr lang="en-US" dirty="0"/>
                  <a:t>Perfect WCSI allows the communication signal to be nulled at Willie</a:t>
                </a:r>
              </a:p>
              <a:p>
                <a:pPr lvl="3"/>
                <a:r>
                  <a:rPr lang="en-US" dirty="0"/>
                  <a:t>From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We need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Which requires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Since 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2291E-CAFD-BB44-AA36-E1D6DD1866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CB66A-8048-CE4E-F1D0-2CB85E0A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755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F474-E940-65B3-C065-D4211FED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03F07-F350-CE6D-0BF5-13A781A64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Rate Maximization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Equivalent Rate Maximization Form</a:t>
                </a:r>
              </a:p>
              <a:p>
                <a:pPr lvl="2"/>
                <a:r>
                  <a:rPr lang="en-US" dirty="0"/>
                  <a:t>We obtain 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                                                                                            (33b)</a:t>
                </a:r>
              </a:p>
              <a:p>
                <a:pPr lvl="2"/>
                <a:r>
                  <a:rPr lang="en-US" dirty="0"/>
                  <a:t>This means: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Radar MI Requirement</a:t>
                </a:r>
              </a:p>
              <a:p>
                <a:pPr lvl="2"/>
                <a:r>
                  <a:rPr lang="en-US" dirty="0"/>
                  <a:t>While maximizing Bob’s rate, radar sensing performance must still be guaranteed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 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 i="0" smtClean="0">
                                            <a:latin typeface="Cambria Math" panose="02040503050406030204" pitchFamily="18" charset="0"/>
                                          </a:rPr>
                                          <m:t>𝐰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𝐰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,1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1" i="0" smtClean="0">
                                                <a:latin typeface="Cambria Math" panose="02040503050406030204" pitchFamily="18" charset="0"/>
                                              </a:rPr>
                                              <m:t>𝐡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func>
                  </m:oMath>
                </a14:m>
                <a:r>
                  <a:rPr lang="en-US" dirty="0"/>
                  <a:t>                                                                (33c)</a:t>
                </a:r>
              </a:p>
              <a:p>
                <a:pPr lvl="3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403F07-F350-CE6D-0BF5-13A781A64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68E95-F2EE-241C-E5F1-86CEDDFD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420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305D6-B72F-6C64-63AB-23A61A90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4A4D0-8937-B608-63DC-436E2DC279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</a:p>
              <a:p>
                <a:pPr lvl="1"/>
                <a:r>
                  <a:rPr lang="en-US" dirty="0"/>
                  <a:t>Radar does not know Willie’s channel perfectly.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b="1" dirty="0"/>
                  <a:t>                                                                                                           </a:t>
                </a:r>
                <a:r>
                  <a:rPr lang="en-US" dirty="0"/>
                  <a:t>(34a)</a:t>
                </a:r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: estimated Willie CSI 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: CSI error </a:t>
                </a:r>
              </a:p>
              <a:p>
                <a:pPr lvl="1"/>
                <a:r>
                  <a:rPr lang="en-US" dirty="0"/>
                  <a:t>The error is bounded by an ellipsoidal uncertainty region: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                                                                                    (35a)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4A4D0-8937-B608-63DC-436E2DC27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81940-AFCE-4AA6-EA91-3DB8FAAA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0106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DC21-57EE-4963-D119-52CCDA85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4D8E64-6FDF-2361-BEDF-3229CAA34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Perfect Covertness is Difficult</a:t>
                </a:r>
              </a:p>
              <a:p>
                <a:pPr lvl="2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 is uncertain, perfect nulling at Willie is difficult.</a:t>
                </a:r>
              </a:p>
              <a:p>
                <a:pPr lvl="2"/>
                <a:r>
                  <a:rPr lang="en-US" dirty="0"/>
                  <a:t>For perfect WCSI: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But with imperfect WCSI:</a:t>
                </a:r>
              </a:p>
              <a:p>
                <a:pPr lvl="3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Must hold for all possible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, which is difficult.</a:t>
                </a:r>
              </a:p>
              <a:p>
                <a:pPr lvl="2"/>
                <a:r>
                  <a:rPr lang="en-US" dirty="0"/>
                  <a:t>Therefore, the paper uses KL-based covert constraints: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                                                                  (19a)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4D8E64-6FDF-2361-BEDF-3229CAA34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1D2C1-6A43-2068-6F06-76F773A0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3833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3D32-E2E2-0CCC-3234-989276B0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56B99-E45E-B8C3-17EC-FDBB67F6CE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1: MI Maximization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Maximize radar MI while satisfying robust covertness, Bob’s rate, and power constraint.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lim>
                    </m:limLow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                                                        (36a)</a:t>
                </a:r>
              </a:p>
              <a:p>
                <a:pPr lvl="3"/>
                <a:r>
                  <a:rPr lang="en-US" dirty="0"/>
                  <a:t>subject to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                                                       (36b)</a:t>
                </a:r>
                <a:endParaRPr lang="en-US" dirty="0"/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0" dirty="0"/>
                  <a:t>                                                                             (36c)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/>
                          <m:t>total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(36d)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b="1" dirty="0"/>
                  <a:t>                                                                            </a:t>
                </a:r>
                <a:r>
                  <a:rPr lang="en-US" dirty="0"/>
                  <a:t>(36e)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56B99-E45E-B8C3-17EC-FDBB67F6CE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DF8FD-864F-0CBC-C4CA-98358249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682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C4B1-2D6A-31EC-003E-202627FD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EB9C2D-71ED-CEDD-0F60-4EBC59AA0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Transforming the KL Constraint</a:t>
                </a:r>
              </a:p>
              <a:p>
                <a:pPr lvl="2"/>
                <a:r>
                  <a:rPr lang="en-US" dirty="0"/>
                  <a:t>Rewrite the KL constraint using the ratio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−1≤2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Let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−1≤2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feasible range becomes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b="0" dirty="0"/>
                  <a:t>                                                                                         (37)</a:t>
                </a:r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dirty="0"/>
                  <a:t> are the two roots of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−1=2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EB9C2D-71ED-CEDD-0F60-4EBC59AA0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D7790-7F25-F8AD-C0AD-AF33455D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4396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79CB6-74A2-CB35-0A8D-A9867454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172" y="789054"/>
            <a:ext cx="10515600" cy="681250"/>
          </a:xfrm>
        </p:spPr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D03B28-75B1-CE6F-329E-3474B4F1B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Ratio Form of the Covert Constraint</a:t>
                </a:r>
              </a:p>
              <a:p>
                <a:pPr lvl="2"/>
                <a:r>
                  <a:rPr lang="en-US" dirty="0"/>
                  <a:t>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Thus,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b="0" dirty="0"/>
                  <a:t>                                         (38)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D03B28-75B1-CE6F-329E-3474B4F1B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44BB-48DA-2931-4FFF-C93943FB3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1965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6FF3-4A96-1E27-4FAE-F934307A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6FE7B-A9A4-9986-29C1-C854F539A3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SDR Matrix Definitions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Convert quadratic beamforming terms into matrix trace terms</a:t>
                </a:r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Define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Then define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≜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≜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6FE7B-A9A4-9986-29C1-C854F539A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53C66-76F2-88D7-4147-B04A5C4D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443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40A9-7D99-AFA5-89F3-B3AF0A41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909DF-69AD-D62E-3160-598D5C83D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Robust Covert Constraints with CSI Error</a:t>
                </a:r>
              </a:p>
              <a:p>
                <a:pPr lvl="2"/>
                <a:r>
                  <a:rPr lang="en-US" dirty="0"/>
                  <a:t>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From the lower bound: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obtain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       (39a)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Upper-Bound Robust Covert Constraint</a:t>
                </a:r>
              </a:p>
              <a:p>
                <a:pPr lvl="2"/>
                <a:r>
                  <a:rPr lang="en-US" dirty="0"/>
                  <a:t>The upper bound gives the second quadratic constraint.</a:t>
                </a:r>
              </a:p>
              <a:p>
                <a:pPr lvl="2"/>
                <a:r>
                  <a:rPr lang="en-US" dirty="0"/>
                  <a:t>From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obtain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</m:acc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b="0" dirty="0"/>
                  <a:t>                                          (39b)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909DF-69AD-D62E-3160-598D5C83D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EDB2B-57E2-F8B8-8A01-9EC2979D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50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1B88-D6C4-0A08-68BC-AD8539D52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CF543-FB5B-7E16-BDB6-33243B665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Need for S-Procedure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 creates infinitely many constraints.</a:t>
                </a:r>
              </a:p>
              <a:p>
                <a:pPr lvl="2"/>
                <a:r>
                  <a:rPr lang="en-US" dirty="0"/>
                  <a:t>The uncertainty condition is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Constraints (39a) and (39b) </a:t>
                </a:r>
                <a:r>
                  <a:rPr lang="en-US" dirty="0">
                    <a:solidFill>
                      <a:srgbClr val="7030A0"/>
                    </a:solidFill>
                  </a:rPr>
                  <a:t>must hold for every possible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inside this ellipsoid.</a:t>
                </a:r>
              </a:p>
              <a:p>
                <a:pPr lvl="2"/>
                <a:r>
                  <a:rPr lang="en-US" dirty="0"/>
                  <a:t>So, problem (40) is still difficult.</a:t>
                </a:r>
              </a:p>
              <a:p>
                <a:pPr lvl="2"/>
                <a:r>
                  <a:rPr lang="en-US" dirty="0"/>
                  <a:t>The S-Procedure converts these infinite quadratic constraints into finite LMIs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4CF543-FB5B-7E16-BDB6-33243B665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12617-B552-8645-17CE-313D52EA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0107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2E59-788D-6303-AD66-D53BAEC1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473B4-D941-AEEF-75CB-6B5E32CEE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LMI from S-Procedure</a:t>
                </a:r>
              </a:p>
              <a:p>
                <a:pPr lvl="2"/>
                <a:r>
                  <a:rPr lang="en-US" dirty="0"/>
                  <a:t>Robust covert constraints become finite SDP constraints.</a:t>
                </a:r>
              </a:p>
              <a:p>
                <a:pPr lvl="2"/>
                <a:r>
                  <a:rPr lang="en-US" dirty="0"/>
                  <a:t>For (39a), 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</m:t>
                    </m:r>
                  </m:oMath>
                </a14:m>
                <a:r>
                  <a:rPr lang="en-US" b="0" dirty="0"/>
                  <a:t>                                            (43a)</a:t>
                </a:r>
              </a:p>
              <a:p>
                <a:pPr lvl="2"/>
                <a:r>
                  <a:rPr lang="en-US" dirty="0"/>
                  <a:t>For (39b), 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𝐖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𝐡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⪰0</m:t>
                    </m:r>
                  </m:oMath>
                </a14:m>
                <a:r>
                  <a:rPr lang="en-US" b="0" dirty="0"/>
                  <a:t>                                     (43b)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473B4-D941-AEEF-75CB-6B5E32CEE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961E6-5977-A5C3-7C72-64694801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9456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0BB7-AD8A-B769-B329-F1671ED8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BEDE68-0D3E-D967-C36D-68A30A6494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Final SDP Approximation</a:t>
                </a:r>
              </a:p>
              <a:p>
                <a:pPr lvl="2"/>
                <a:r>
                  <a:rPr lang="en-US" dirty="0"/>
                  <a:t>After SDR and S-Procedure, the robust MI maximization becomes tractable.</a:t>
                </a:r>
              </a:p>
              <a:p>
                <a:pPr lvl="2"/>
                <a:r>
                  <a:rPr lang="en-US" dirty="0"/>
                  <a:t>The conservative approximation is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lim>
                    </m:limLow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                             (44)</a:t>
                </a:r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b="0" dirty="0"/>
              </a:p>
              <a:p>
                <a:pPr lvl="4"/>
                <a:r>
                  <a:rPr lang="en-US" dirty="0"/>
                  <a:t>For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problem (44) is a convex SDP.</a:t>
                </a:r>
              </a:p>
              <a:p>
                <a:pPr lvl="4"/>
                <a:r>
                  <a:rPr lang="en-US" dirty="0"/>
                  <a:t>Therefore, it can be solved using:</a:t>
                </a:r>
              </a:p>
              <a:p>
                <a:pPr lvl="5"/>
                <a:r>
                  <a:rPr lang="en-US" dirty="0"/>
                  <a:t>Convex optimization solver </a:t>
                </a:r>
              </a:p>
              <a:p>
                <a:pPr lvl="5"/>
                <a:r>
                  <a:rPr lang="en-US" dirty="0"/>
                  <a:t>Bisection search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BEDE68-0D3E-D967-C36D-68A30A649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70214-D105-347F-87FD-D4451679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8453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37B7-3CAD-7ADD-40D8-9410DE7F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8D15A-A9C0-D0F3-9F60-E3154F232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Bisection Method for Robust MI Maximization</a:t>
                </a:r>
              </a:p>
              <a:p>
                <a:pPr lvl="2"/>
                <a:r>
                  <a:rPr lang="en-US" dirty="0"/>
                  <a:t>For a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problem (44) becomes a convex SDP feasibility problem.</a:t>
                </a:r>
              </a:p>
              <a:p>
                <a:pPr lvl="2"/>
                <a:r>
                  <a:rPr lang="en-US" dirty="0"/>
                  <a:t>The objective is: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appears inside constraint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,1</m:t>
                                </m:r>
                              </m:sub>
                            </m:sSub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b="0" dirty="0"/>
                  <a:t>                          (40b)</a:t>
                </a:r>
              </a:p>
              <a:p>
                <a:pPr lvl="2"/>
                <a:r>
                  <a:rPr lang="en-US" dirty="0"/>
                  <a:t>For a given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this constraint becomes linear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So, the authors use bisection to find the largest feasible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8D15A-A9C0-D0F3-9F60-E3154F232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65FE9-4502-B8F4-40A7-F49860DD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393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C021-1D2D-8131-B9B1-6FB57FDA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CAF82-9297-C5EE-E073-6DCFF4C92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9691"/>
                <a:ext cx="10515600" cy="4998584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Bisection Procedure</a:t>
                </a:r>
              </a:p>
              <a:p>
                <a:pPr lvl="1"/>
                <a:r>
                  <a:rPr lang="en-US" dirty="0"/>
                  <a:t>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if the SDP is feasible; decrease it if infeasible.</a:t>
                </a:r>
              </a:p>
              <a:p>
                <a:pPr lvl="1"/>
                <a:r>
                  <a:rPr lang="en-US" dirty="0"/>
                  <a:t>Initialize the search interval: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At each iteration: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sub>
                        </m:sSub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solve problem (44) with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𝑚𝑖𝑑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problem (44) is feasible: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𝑚𝑖𝑑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problem (44) is infeasible: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𝑚𝑖𝑑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Stop when: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Finally, output: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CAF82-9297-C5EE-E073-6DCFF4C92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9691"/>
                <a:ext cx="10515600" cy="4998584"/>
              </a:xfrm>
              <a:blipFill>
                <a:blip r:embed="rId2"/>
                <a:stretch>
                  <a:fillRect l="-522" t="-1220" b="-2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96664-24FF-4663-C9C5-3E3192BBC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441121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72</a:t>
            </a:fld>
            <a:r>
              <a:rPr lang="en-US" altLang="ko-KR" dirty="0"/>
              <a:t>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88906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A036-E75C-39A3-821D-F63E776C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41D83F-D519-F288-8CC7-5CDE1CC199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Why Bisection Works Here</a:t>
                </a:r>
              </a:p>
              <a:p>
                <a:pPr lvl="2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means stricter radar MI requirement.</a:t>
                </a:r>
              </a:p>
              <a:p>
                <a:pPr lvl="2"/>
                <a:r>
                  <a:rPr lang="en-US" dirty="0"/>
                  <a:t>If a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feasible, then smaller values are also feasible.</a:t>
                </a:r>
              </a:p>
              <a:p>
                <a:pPr lvl="2"/>
                <a:r>
                  <a:rPr lang="en-US" dirty="0"/>
                  <a:t>If a certain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infeasible, then larger values will also be infeasible.</a:t>
                </a:r>
              </a:p>
              <a:p>
                <a:pPr lvl="2"/>
                <a:r>
                  <a:rPr lang="en-US" dirty="0"/>
                  <a:t>Therefore, the feasible set has a monotonic structure: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/>
                      <m:t>S</m:t>
                    </m:r>
                    <m:r>
                      <m:rPr>
                        <m:nor/>
                      </m:rPr>
                      <a:rPr lang="en-US" b="0" i="0"/>
                      <m:t>mall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i="0"/>
                      <m:t>easy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to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satisfy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nor/>
                      </m:rPr>
                      <a:rPr lang="en-US" b="0" i="0"/>
                      <m:t>arge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i="0"/>
                      <m:t>hard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to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satisfy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monotonicity allows bisection search to efficiently find the maximum achievable robust radar MI.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41D83F-D519-F288-8CC7-5CDE1CC199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7BFC6-B18F-F58C-DFE4-14CE7AC2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2175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7135-1F2A-71FF-A111-4BFCC2FF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2AC2C-9DDA-4C7B-3804-B3BDAA02AC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Interpretation</a:t>
                </a:r>
              </a:p>
              <a:p>
                <a:pPr lvl="1"/>
                <a:r>
                  <a:rPr lang="en-US" dirty="0"/>
                  <a:t>Robust beamforming protects covertness even with uncertain Willie CSI.</a:t>
                </a:r>
              </a:p>
              <a:p>
                <a:pPr lvl="1"/>
                <a:r>
                  <a:rPr lang="en-US" dirty="0"/>
                  <a:t>The method works as follows:</a:t>
                </a:r>
              </a:p>
              <a:p>
                <a:pPr lvl="2"/>
                <a:r>
                  <a:rPr lang="en-US" dirty="0"/>
                  <a:t>Model Willie </a:t>
                </a:r>
                <a:r>
                  <a:rPr lang="en-US" dirty="0">
                    <a:solidFill>
                      <a:srgbClr val="7030A0"/>
                    </a:solidFill>
                  </a:rPr>
                  <a:t>CSI uncertainty using an ellipsoid</a:t>
                </a:r>
                <a:r>
                  <a:rPr lang="en-US" dirty="0"/>
                  <a:t>.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Convert KL covert constraint into ratio bounds</a:t>
                </a:r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Express </a:t>
                </a:r>
                <a:r>
                  <a:rPr lang="en-US" dirty="0">
                    <a:solidFill>
                      <a:srgbClr val="7030A0"/>
                    </a:solidFill>
                  </a:rPr>
                  <a:t>ratio bounds as quadratic constraints </a:t>
                </a:r>
                <a:r>
                  <a:rPr lang="en-US" dirty="0"/>
                  <a:t>in CSI error. </a:t>
                </a:r>
              </a:p>
              <a:p>
                <a:pPr lvl="2"/>
                <a:r>
                  <a:rPr lang="en-US" dirty="0">
                    <a:solidFill>
                      <a:srgbClr val="7030A0"/>
                    </a:solidFill>
                  </a:rPr>
                  <a:t>Apply S-Procedure </a:t>
                </a:r>
                <a:r>
                  <a:rPr lang="en-US" dirty="0"/>
                  <a:t>to obtain finite LMIs. </a:t>
                </a:r>
              </a:p>
              <a:p>
                <a:pPr lvl="2"/>
                <a:r>
                  <a:rPr lang="en-US" dirty="0"/>
                  <a:t>Solve the resulting SDP using bisection.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/>
                      <m:t>The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beamformer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is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designed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to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remain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covert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for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all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possible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Willie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channels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inside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the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uncertainty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region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2AC2C-9DDA-4C7B-3804-B3BDAA02A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D5C0-1B57-E126-BC62-719638B9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9434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22F4-5303-B009-10C7-8495E038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C674A5-3F16-2D6E-B36A-1303406056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Case 2: Robust MI Maximization</a:t>
                </a:r>
              </a:p>
              <a:p>
                <a:pPr lvl="2"/>
                <a:r>
                  <a:rPr lang="en-US" dirty="0"/>
                  <a:t>This case uses the second KL covert constraint.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Where: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robust MI maximization problem is</a:t>
                </a:r>
              </a:p>
              <a:p>
                <a:pPr lvl="3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lim>
                    </m:limLow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b="0" dirty="0"/>
                  <a:t>                                                                              (45a)</a:t>
                </a:r>
              </a:p>
              <a:p>
                <a:pPr lvl="3"/>
                <a:r>
                  <a:rPr lang="en-US" dirty="0"/>
                  <a:t>subject to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                                                                                    (45b)</a:t>
                </a:r>
              </a:p>
              <a:p>
                <a:pPr lvl="4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0" dirty="0"/>
                  <a:t>                                                                                       (45c)</a:t>
                </a:r>
                <a:endParaRPr lang="en-US" dirty="0"/>
              </a:p>
              <a:p>
                <a:pPr lvl="4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/>
                          <m:t>total</m:t>
                        </m:r>
                      </m:sub>
                    </m:sSub>
                  </m:oMath>
                </a14:m>
                <a:r>
                  <a:rPr lang="en-US" b="0" dirty="0"/>
                  <a:t>                                                                     (45d)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b="1" dirty="0"/>
                  <a:t>                                                                                      </a:t>
                </a:r>
                <a:r>
                  <a:rPr lang="en-US" dirty="0"/>
                  <a:t>(45e)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C674A5-3F16-2D6E-B36A-130340605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C2B8F-CA32-0A21-C96C-09EE70D8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2581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CD54-4BED-D492-AE1B-9C0B4158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4329BE-0776-F107-EC1D-DC64E3B27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Transforming the Covert Constraint</a:t>
                </a:r>
              </a:p>
              <a:p>
                <a:pPr lvl="2"/>
                <a:r>
                  <a:rPr lang="en-US" dirty="0"/>
                  <a:t>Rewrite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using the ratio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−1≤2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Let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Then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So,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−1≤2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feasible range becomes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b="0" dirty="0"/>
                  <a:t>                                                  (46)</a:t>
                </a:r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dirty="0"/>
                  <a:t> are the two roots of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−1=2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4329BE-0776-F107-EC1D-DC64E3B27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348" b="-5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816D9-B404-10C5-639F-305A8D8A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7854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6936-A096-1643-2D16-84BAF55B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4E9076-4CA2-220F-1431-0303029354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Ratio Form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dirty="0"/>
                  <a:t>Substitute Willie’s received powers.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+∣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Thus,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+∣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n-US" b="0" dirty="0"/>
                  <a:t>                                                    (46)</a:t>
                </a:r>
              </a:p>
              <a:p>
                <a:pPr lvl="2"/>
                <a:r>
                  <a:rPr lang="en-US" dirty="0"/>
                  <a:t>This constraint must hold under imperfect WCSI: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4E9076-4CA2-220F-1431-030302935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D20A1-FD6F-842F-3742-6A181B44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615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1A38-6D83-C342-B871-AB112A24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C52B3-15DB-96FE-5FBA-C5FD5D52B1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Solution Method</a:t>
                </a:r>
              </a:p>
              <a:p>
                <a:pPr lvl="2"/>
                <a:r>
                  <a:rPr lang="en-US" dirty="0"/>
                  <a:t>Case 2 follows the same robust optimization procedure as Case 1.</a:t>
                </a:r>
              </a:p>
              <a:p>
                <a:pPr lvl="2"/>
                <a:r>
                  <a:rPr lang="en-US" dirty="0"/>
                  <a:t>The main steps are:</a:t>
                </a:r>
              </a:p>
              <a:p>
                <a:pPr lvl="3"/>
                <a:r>
                  <a:rPr lang="en-US" dirty="0"/>
                  <a:t>Convert the KL constraint into ratio bounds: 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Substitute imperfect WCSI: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Reformulate the robust constraints as quadratic inequalities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3"/>
                <a:r>
                  <a:rPr lang="en-US" dirty="0"/>
                  <a:t>Apply SDR: </a:t>
                </a:r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Apply S-Procedure to convert infinite uncertainty constraints into LMIs. </a:t>
                </a:r>
              </a:p>
              <a:p>
                <a:pPr lvl="2"/>
                <a:r>
                  <a:rPr lang="en-US" dirty="0"/>
                  <a:t>Solve the final SDP using bisection.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C52B3-15DB-96FE-5FBA-C5FD5D52B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A2BCB-98E6-79FF-F03A-4F490904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404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0B78-B197-AD68-98DA-B126ACC2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5369E-66D6-DA3C-3855-2F05D4468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Imperfect WCSI Scenario</a:t>
                </a:r>
                <a:endParaRPr lang="en-US" b="1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Key Difference from Case 1</a:t>
                </a:r>
              </a:p>
              <a:p>
                <a:pPr lvl="2"/>
                <a:r>
                  <a:rPr lang="en-US" dirty="0"/>
                  <a:t>The method is similar, but the KL direction is different.</a:t>
                </a:r>
              </a:p>
              <a:p>
                <a:pPr lvl="2"/>
                <a:r>
                  <a:rPr lang="en-US" dirty="0"/>
                  <a:t>Case 1 uses: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which leads to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Case 2 uses: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which leads to</a:t>
                </a:r>
              </a:p>
              <a:p>
                <a:pPr lvl="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Although both use SDR, S-Procedure, and bisection, the feasible beamforming region changes.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5369E-66D6-DA3C-3855-2F05D4468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6C804-2290-F51C-961E-A795191A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8003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8871-BA31-9CB3-EA2E-33F56190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21453-1D42-EBD2-EB19-F610A7E33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Robust Rate Maximization with Imperfect WCSI</a:t>
                </a:r>
              </a:p>
              <a:p>
                <a:pPr lvl="1"/>
                <a:r>
                  <a:rPr lang="en-US" dirty="0"/>
                  <a:t>Perfect covertness is difficult when Willie’s CSI has estimation error.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 instead of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paper uses relaxed covert constraints: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goal is to maximize Bob’s rate while maintaining radar sensing, power limit, and covertness.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21453-1D42-EBD2-EB19-F610A7E33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AFBB8-D7C3-0C8E-C017-CFFC0480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97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43CE-9897-077A-9B43-BC16CC92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Beamforming Design Based on Imperfect WCSI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BB0429-20AE-4B37-D0F6-E717B6929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Main Optimization Idea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Use the same robust optimization method as MI maximization.</a:t>
                </a:r>
              </a:p>
              <a:p>
                <a:pPr lvl="2"/>
                <a:r>
                  <a:rPr lang="en-US" dirty="0"/>
                  <a:t>The beamformers are designed to satisfy: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func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subject to: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sepChr m:val=";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/>
                          <m:t>total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4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/>
                      <m:t>or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Solution method: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/>
                      <m:t>KL</m:t>
                    </m:r>
                    <m:r>
                      <m:rPr>
                        <m:nor/>
                      </m:rPr>
                      <a:rPr lang="en-US" b="0" i="0"/>
                      <m:t> </m:t>
                    </m:r>
                    <m:r>
                      <m:rPr>
                        <m:nor/>
                      </m:rPr>
                      <a:rPr lang="en-US" b="0" i="0"/>
                      <m:t>transformation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i="0"/>
                      <m:t>SDR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i="0"/>
                      <m:t>S</m:t>
                    </m:r>
                    <m:r>
                      <m:rPr>
                        <m:nor/>
                      </m:rPr>
                      <a:rPr lang="en-US" i="0"/>
                      <m:t>−</m:t>
                    </m:r>
                    <m:r>
                      <m:rPr>
                        <m:nor/>
                      </m:rPr>
                      <a:rPr lang="en-US" i="0"/>
                      <m:t>Procedure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i="0"/>
                      <m:t>SDP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BB0429-20AE-4B37-D0F6-E717B6929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2ACF3-B21E-5395-FBEE-D40843E3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92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4597</TotalTime>
  <Words>6207</Words>
  <Application>Microsoft Office PowerPoint</Application>
  <PresentationFormat>Widescreen</PresentationFormat>
  <Paragraphs>1115</Paragraphs>
  <Slides>81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맑은 고딕</vt:lpstr>
      <vt:lpstr>Arial</vt:lpstr>
      <vt:lpstr>Cambria Math</vt:lpstr>
      <vt:lpstr>Tahoma</vt:lpstr>
      <vt:lpstr>Office 테마</vt:lpstr>
      <vt:lpstr>Covert Beamforming Design for Integrated Radar Sensing and Communication Systems</vt:lpstr>
      <vt:lpstr>Table of Contents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Problem Formulation</vt:lpstr>
      <vt:lpstr>Problem Formulation</vt:lpstr>
      <vt:lpstr>Problem Formulation</vt:lpstr>
      <vt:lpstr>Problem Formulation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  <vt:lpstr>Beamforming Design Based on Imperfect WCSI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11</cp:revision>
  <dcterms:created xsi:type="dcterms:W3CDTF">2018-05-20T06:28:16Z</dcterms:created>
  <dcterms:modified xsi:type="dcterms:W3CDTF">2026-07-22T02:23:35Z</dcterms:modified>
</cp:coreProperties>
</file>